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6858000" cx="9144000"/>
  <p:notesSz cx="7315200" cy="9601200"/>
  <p:embeddedFontLst>
    <p:embeddedFont>
      <p:font typeface="Merriweather Sans"/>
      <p:regular r:id="rId61"/>
      <p:bold r:id="rId62"/>
      <p:italic r:id="rId63"/>
      <p:boldItalic r:id="rId64"/>
    </p:embeddedFont>
    <p:embeddedFont>
      <p:font typeface="Arimo"/>
      <p:regular r:id="rId65"/>
      <p:bold r:id="rId66"/>
      <p:italic r:id="rId67"/>
      <p:boldItalic r:id="rId68"/>
    </p:embeddedFont>
    <p:embeddedFont>
      <p:font typeface="Arial Narrow"/>
      <p:regular r:id="rId69"/>
      <p:bold r:id="rId70"/>
      <p:italic r:id="rId71"/>
      <p:boldItalic r:id="rId72"/>
    </p:embeddedFont>
    <p:embeddedFont>
      <p:font typeface="Tahoma"/>
      <p:regular r:id="rId73"/>
      <p:bold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4">
          <p15:clr>
            <a:srgbClr val="000000"/>
          </p15:clr>
        </p15:guide>
        <p15:guide id="2" pos="2304">
          <p15:clr>
            <a:srgbClr val="000000"/>
          </p15:clr>
        </p15:guide>
      </p15:notesGuideLst>
    </p:ext>
    <p:ext uri="GoogleSlidesCustomDataVersion2">
      <go:slidesCustomData xmlns:go="http://customooxmlschemas.google.com/" r:id="rId75" roundtripDataSignature="AMtx7mhESiCyad6l7XL/ryT+PRYcxQAP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6E1A14-2F24-48DC-BEAE-9538BC7F5F8A}">
  <a:tblStyle styleId="{136E1A14-2F24-48DC-BEAE-9538BC7F5F8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4" orient="horz"/>
        <p:guide pos="230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Tahoma-regular.fntdata"/><Relationship Id="rId72" Type="http://schemas.openxmlformats.org/officeDocument/2006/relationships/font" Target="fonts/ArialNarrow-boldItalic.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Tahoma-bold.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rialNarrow-italic.fntdata"/><Relationship Id="rId70" Type="http://schemas.openxmlformats.org/officeDocument/2006/relationships/font" Target="fonts/ArialNarrow-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erriweatherSans-bold.fntdata"/><Relationship Id="rId61" Type="http://schemas.openxmlformats.org/officeDocument/2006/relationships/font" Target="fonts/MerriweatherSans-regular.fntdata"/><Relationship Id="rId20" Type="http://schemas.openxmlformats.org/officeDocument/2006/relationships/slide" Target="slides/slide14.xml"/><Relationship Id="rId64" Type="http://schemas.openxmlformats.org/officeDocument/2006/relationships/font" Target="fonts/MerriweatherSans-boldItalic.fntdata"/><Relationship Id="rId63" Type="http://schemas.openxmlformats.org/officeDocument/2006/relationships/font" Target="fonts/MerriweatherSans-italic.fntdata"/><Relationship Id="rId22" Type="http://schemas.openxmlformats.org/officeDocument/2006/relationships/slide" Target="slides/slide16.xml"/><Relationship Id="rId66" Type="http://schemas.openxmlformats.org/officeDocument/2006/relationships/font" Target="fonts/Arimo-bold.fntdata"/><Relationship Id="rId21" Type="http://schemas.openxmlformats.org/officeDocument/2006/relationships/slide" Target="slides/slide15.xml"/><Relationship Id="rId65" Type="http://schemas.openxmlformats.org/officeDocument/2006/relationships/font" Target="fonts/Arimo-regular.fntdata"/><Relationship Id="rId24" Type="http://schemas.openxmlformats.org/officeDocument/2006/relationships/slide" Target="slides/slide18.xml"/><Relationship Id="rId68" Type="http://schemas.openxmlformats.org/officeDocument/2006/relationships/font" Target="fonts/Arimo-boldItalic.fntdata"/><Relationship Id="rId23" Type="http://schemas.openxmlformats.org/officeDocument/2006/relationships/slide" Target="slides/slide17.xml"/><Relationship Id="rId67" Type="http://schemas.openxmlformats.org/officeDocument/2006/relationships/font" Target="fonts/Arim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ialNarrow-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marR="0" rtl="0" algn="l">
              <a:lnSpc>
                <a:spcPct val="100000"/>
              </a:lnSpc>
              <a:spcBef>
                <a:spcPts val="0"/>
              </a:spcBef>
              <a:spcAft>
                <a:spcPts val="0"/>
              </a:spcAft>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a:p>
        </p:txBody>
      </p:sp>
      <p:sp>
        <p:nvSpPr>
          <p:cNvPr id="4" name="Google Shape;4;n"/>
          <p:cNvSpPr txBox="1"/>
          <p:nvPr>
            <p:ph idx="2" type="hdr"/>
          </p:nvPr>
        </p:nvSpPr>
        <p:spPr>
          <a:xfrm>
            <a:off x="0" y="0"/>
            <a:ext cx="3170237" cy="481012"/>
          </a:xfrm>
          <a:prstGeom prst="rect">
            <a:avLst/>
          </a:prstGeom>
          <a:noFill/>
          <a:ln>
            <a:noFill/>
          </a:ln>
        </p:spPr>
        <p:txBody>
          <a:bodyPr anchorCtr="0" anchor="ctr" bIns="48325" lIns="96650" spcFirstLastPara="1" rIns="96650" wrap="square" tIns="48325">
            <a:noAutofit/>
          </a:bodyPr>
          <a:lstStyle>
            <a:lvl1pPr lvl="0" marR="0" rtl="0" algn="l">
              <a:lnSpc>
                <a:spcPct val="100000"/>
              </a:lnSpc>
              <a:spcBef>
                <a:spcPts val="0"/>
              </a:spcBef>
              <a:spcAft>
                <a:spcPts val="0"/>
              </a:spcAft>
              <a:buSzPts val="1400"/>
              <a:buNone/>
              <a:defRPr b="0" i="0" sz="12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txBox="1"/>
          <p:nvPr>
            <p:ph idx="10" type="dt"/>
          </p:nvPr>
        </p:nvSpPr>
        <p:spPr>
          <a:xfrm>
            <a:off x="4144962" y="0"/>
            <a:ext cx="3170237" cy="481012"/>
          </a:xfrm>
          <a:prstGeom prst="rect">
            <a:avLst/>
          </a:prstGeom>
          <a:noFill/>
          <a:ln>
            <a:noFill/>
          </a:ln>
        </p:spPr>
        <p:txBody>
          <a:bodyPr anchorCtr="0" anchor="ctr" bIns="48325" lIns="96650" spcFirstLastPara="1" rIns="96650" wrap="square" tIns="48325">
            <a:noAutofit/>
          </a:bodyPr>
          <a:lstStyle>
            <a:lvl1pPr lvl="0" marR="0" rtl="0" algn="r">
              <a:lnSpc>
                <a:spcPct val="100000"/>
              </a:lnSpc>
              <a:spcBef>
                <a:spcPts val="0"/>
              </a:spcBef>
              <a:spcAft>
                <a:spcPts val="0"/>
              </a:spcAft>
              <a:buSzPts val="1400"/>
              <a:buNone/>
              <a:defRPr b="0" i="0" sz="12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6" name="Google Shape;6;n"/>
          <p:cNvSpPr/>
          <p:nvPr>
            <p:ph idx="3"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 name="Google Shape;7;n"/>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n"/>
          <p:cNvSpPr txBox="1"/>
          <p:nvPr>
            <p:ph idx="11" type="ftr"/>
          </p:nvPr>
        </p:nvSpPr>
        <p:spPr>
          <a:xfrm>
            <a:off x="0" y="9120187"/>
            <a:ext cx="3170237" cy="481012"/>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SzPts val="1400"/>
              <a:buNone/>
              <a:defRPr b="0" i="0" sz="12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9" name="Google Shape;9;n"/>
          <p:cNvSpPr txBox="1"/>
          <p:nvPr>
            <p:ph idx="4"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976312" y="4560887"/>
            <a:ext cx="5362575" cy="4321175"/>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2" name="Google Shape;52;p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1" name="Google Shape;61;p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2" name="Google Shape;62;p2: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8" name="Google Shape;68;p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9" name="Google Shape;69;p3: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86" name="Google Shape;86;p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7" name="Google Shape;87;p4: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18" name="Google Shape;118;p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19" name="Google Shape;119;p5: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25" name="Google Shape;125;p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26" name="Google Shape;126;p6: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32" name="Google Shape;132;p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33" name="Google Shape;133;p7: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43" name="Google Shape;143;p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44" name="Google Shape;144;p8: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50" name="Google Shape;150;p9: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1" name="Google Shape;151;p9: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SzPts val="1800"/>
              <a:buNone/>
            </a:pPr>
            <a:r>
              <a:rPr lang="en-US"/>
              <a:t>Example: </a:t>
            </a:r>
            <a:r>
              <a:rPr i="1" lang="en-US"/>
              <a:t>cn</a:t>
            </a:r>
            <a:r>
              <a:rPr baseline="30000" i="1" lang="en-US"/>
              <a:t>2</a:t>
            </a:r>
            <a:endParaRPr i="1"/>
          </a:p>
          <a:p>
            <a:pPr indent="0" lvl="0" marL="0" rtl="0" algn="l">
              <a:spcBef>
                <a:spcPts val="0"/>
              </a:spcBef>
              <a:spcAft>
                <a:spcPts val="0"/>
              </a:spcAft>
              <a:buSzPts val="1800"/>
              <a:buNone/>
            </a:pPr>
            <a:r>
              <a:rPr lang="en-US"/>
              <a:t> </a:t>
            </a:r>
            <a:endParaRPr/>
          </a:p>
          <a:p>
            <a:pPr indent="-114300" lvl="0" marL="0" rtl="0" algn="l">
              <a:spcBef>
                <a:spcPts val="0"/>
              </a:spcBef>
              <a:spcAft>
                <a:spcPts val="0"/>
              </a:spcAft>
              <a:buSzPts val="1800"/>
              <a:buFont typeface="Noto Sans Symbols"/>
              <a:buChar char="⇒"/>
            </a:pPr>
            <a:r>
              <a:rPr lang="en-US"/>
              <a:t> how much faster on twice as fast computer? (2)</a:t>
            </a:r>
            <a:endParaRPr/>
          </a:p>
          <a:p>
            <a:pPr indent="-114300" lvl="0" marL="0" rtl="0" algn="l">
              <a:spcBef>
                <a:spcPts val="0"/>
              </a:spcBef>
              <a:spcAft>
                <a:spcPts val="0"/>
              </a:spcAft>
              <a:buSzPts val="1800"/>
              <a:buFont typeface="Noto Sans Symbols"/>
              <a:buChar char="⇒"/>
            </a:pPr>
            <a:r>
              <a:rPr lang="en-US"/>
              <a:t> how much longer for 2</a:t>
            </a:r>
            <a:r>
              <a:rPr i="1" lang="en-US"/>
              <a:t>n</a:t>
            </a:r>
            <a:r>
              <a:rPr lang="en-US"/>
              <a:t>? (4)</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57" name="Google Shape;157;p1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8" name="Google Shape;158;p10: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64" name="Google Shape;164;p1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65" name="Google Shape;165;p11: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71" name="Google Shape;171;p1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72" name="Google Shape;172;p12: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78" name="Google Shape;178;p1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79" name="Google Shape;179;p13: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85" name="Google Shape;185;p1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86" name="Google Shape;186;p14: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92" name="Google Shape;192;p15:notes"/>
          <p:cNvSpPr/>
          <p:nvPr>
            <p:ph idx="2" type="sldImg"/>
          </p:nvPr>
        </p:nvSpPr>
        <p:spPr>
          <a:xfrm>
            <a:off x="1257300" y="7080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93" name="Google Shape;193;p15: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SzPts val="1800"/>
              <a:buNone/>
            </a:pPr>
            <a:r>
              <a:rPr lang="en-US"/>
              <a:t>Examples:</a:t>
            </a:r>
            <a:endParaRPr/>
          </a:p>
          <a:p>
            <a:pPr indent="0" lvl="0" marL="0" rtl="0" algn="l">
              <a:spcBef>
                <a:spcPts val="0"/>
              </a:spcBef>
              <a:spcAft>
                <a:spcPts val="0"/>
              </a:spcAft>
              <a:buSzPts val="1800"/>
              <a:buNone/>
            </a:pPr>
            <a:r>
              <a:rPr lang="en-US"/>
              <a:t> 10</a:t>
            </a:r>
            <a:r>
              <a:rPr i="1" lang="en-US"/>
              <a:t>n</a:t>
            </a:r>
            <a:r>
              <a:rPr lang="en-US"/>
              <a:t> is O(</a:t>
            </a:r>
            <a:r>
              <a:rPr i="1" lang="en-US"/>
              <a:t>n</a:t>
            </a:r>
            <a:r>
              <a:rPr baseline="30000" lang="en-US"/>
              <a:t>2</a:t>
            </a:r>
            <a:r>
              <a:rPr lang="en-US"/>
              <a:t>)</a:t>
            </a:r>
            <a:endParaRPr/>
          </a:p>
          <a:p>
            <a:pPr indent="0" lvl="0" marL="0" rtl="0" algn="l">
              <a:spcBef>
                <a:spcPts val="0"/>
              </a:spcBef>
              <a:spcAft>
                <a:spcPts val="0"/>
              </a:spcAft>
              <a:buSzPts val="1800"/>
              <a:buNone/>
            </a:pPr>
            <a:r>
              <a:rPr lang="en-US"/>
              <a:t>since 10</a:t>
            </a:r>
            <a:r>
              <a:rPr i="1" lang="en-US"/>
              <a:t>n</a:t>
            </a:r>
            <a:r>
              <a:rPr lang="en-US"/>
              <a:t> </a:t>
            </a:r>
            <a:r>
              <a:rPr lang="en-US">
                <a:latin typeface="Merriweather Sans"/>
                <a:ea typeface="Merriweather Sans"/>
                <a:cs typeface="Merriweather Sans"/>
                <a:sym typeface="Merriweather Sans"/>
              </a:rPr>
              <a:t>≤</a:t>
            </a:r>
            <a:r>
              <a:rPr lang="en-US"/>
              <a:t> 10</a:t>
            </a:r>
            <a:r>
              <a:rPr i="1" lang="en-US"/>
              <a:t>n</a:t>
            </a:r>
            <a:r>
              <a:rPr baseline="30000" lang="en-US"/>
              <a:t>2</a:t>
            </a:r>
            <a:r>
              <a:rPr lang="en-US"/>
              <a:t>  for </a:t>
            </a:r>
            <a:r>
              <a:rPr i="1" lang="en-US"/>
              <a:t>n </a:t>
            </a:r>
            <a:r>
              <a:rPr i="1" lang="en-US">
                <a:latin typeface="Merriweather Sans"/>
                <a:ea typeface="Merriweather Sans"/>
                <a:cs typeface="Merriweather Sans"/>
                <a:sym typeface="Merriweather Sans"/>
              </a:rPr>
              <a:t>≥</a:t>
            </a:r>
            <a:r>
              <a:rPr i="1" lang="en-US"/>
              <a:t> </a:t>
            </a:r>
            <a:r>
              <a:rPr lang="en-US"/>
              <a:t>1  or 10</a:t>
            </a:r>
            <a:r>
              <a:rPr i="1" lang="en-US"/>
              <a:t>n</a:t>
            </a:r>
            <a:r>
              <a:rPr lang="en-US"/>
              <a:t> </a:t>
            </a:r>
            <a:r>
              <a:rPr lang="en-US">
                <a:latin typeface="Merriweather Sans"/>
                <a:ea typeface="Merriweather Sans"/>
                <a:cs typeface="Merriweather Sans"/>
                <a:sym typeface="Merriweather Sans"/>
              </a:rPr>
              <a:t>≤</a:t>
            </a:r>
            <a:r>
              <a:rPr lang="en-US"/>
              <a:t> </a:t>
            </a:r>
            <a:r>
              <a:rPr i="1" lang="en-US"/>
              <a:t>n</a:t>
            </a:r>
            <a:r>
              <a:rPr baseline="30000" lang="en-US"/>
              <a:t>2  </a:t>
            </a:r>
            <a:r>
              <a:rPr lang="en-US"/>
              <a:t>for </a:t>
            </a:r>
            <a:r>
              <a:rPr i="1" lang="en-US"/>
              <a:t>n </a:t>
            </a:r>
            <a:r>
              <a:rPr i="1" lang="en-US">
                <a:latin typeface="Merriweather Sans"/>
                <a:ea typeface="Merriweather Sans"/>
                <a:cs typeface="Merriweather Sans"/>
                <a:sym typeface="Merriweather Sans"/>
              </a:rPr>
              <a:t>≥</a:t>
            </a:r>
            <a:r>
              <a:rPr i="1" lang="en-US"/>
              <a:t> </a:t>
            </a:r>
            <a:r>
              <a:rPr lang="en-US"/>
              <a:t>10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                    </a:t>
            </a:r>
            <a:r>
              <a:rPr i="1" lang="en-US"/>
              <a:t>c            n</a:t>
            </a:r>
            <a:r>
              <a:rPr baseline="-25000" lang="en-US"/>
              <a:t>0</a:t>
            </a:r>
            <a:endParaRPr/>
          </a:p>
          <a:p>
            <a:pPr indent="0" lvl="0" marL="0" rtl="0" algn="l">
              <a:spcBef>
                <a:spcPts val="0"/>
              </a:spcBef>
              <a:spcAft>
                <a:spcPts val="0"/>
              </a:spcAft>
              <a:buSzPts val="1800"/>
              <a:buNone/>
            </a:pPr>
            <a:r>
              <a:rPr lang="en-US"/>
              <a:t>5</a:t>
            </a:r>
            <a:r>
              <a:rPr i="1" lang="en-US"/>
              <a:t>n</a:t>
            </a:r>
            <a:r>
              <a:rPr lang="en-US"/>
              <a:t>+20 is O(10</a:t>
            </a:r>
            <a:r>
              <a:rPr i="1" lang="en-US"/>
              <a:t>n</a:t>
            </a:r>
            <a:r>
              <a:rPr lang="en-US"/>
              <a:t>)</a:t>
            </a:r>
            <a:endParaRPr/>
          </a:p>
          <a:p>
            <a:pPr indent="0" lvl="0" marL="0" rtl="0" algn="l">
              <a:spcBef>
                <a:spcPts val="0"/>
              </a:spcBef>
              <a:spcAft>
                <a:spcPts val="0"/>
              </a:spcAft>
              <a:buSzPts val="1800"/>
              <a:buNone/>
            </a:pPr>
            <a:r>
              <a:rPr lang="en-US"/>
              <a:t>since 5</a:t>
            </a:r>
            <a:r>
              <a:rPr i="1" lang="en-US"/>
              <a:t>n</a:t>
            </a:r>
            <a:r>
              <a:rPr lang="en-US"/>
              <a:t>+20 </a:t>
            </a:r>
            <a:r>
              <a:rPr lang="en-US">
                <a:latin typeface="Merriweather Sans"/>
                <a:ea typeface="Merriweather Sans"/>
                <a:cs typeface="Merriweather Sans"/>
                <a:sym typeface="Merriweather Sans"/>
              </a:rPr>
              <a:t>≤</a:t>
            </a:r>
            <a:r>
              <a:rPr lang="en-US"/>
              <a:t> 10 </a:t>
            </a:r>
            <a:r>
              <a:rPr i="1" lang="en-US"/>
              <a:t>n </a:t>
            </a:r>
            <a:r>
              <a:rPr lang="en-US"/>
              <a:t>for </a:t>
            </a:r>
            <a:r>
              <a:rPr i="1" lang="en-US"/>
              <a:t>n </a:t>
            </a:r>
            <a:r>
              <a:rPr i="1" lang="en-US">
                <a:latin typeface="Merriweather Sans"/>
                <a:ea typeface="Merriweather Sans"/>
                <a:cs typeface="Merriweather Sans"/>
                <a:sym typeface="Merriweather Sans"/>
              </a:rPr>
              <a:t>≥</a:t>
            </a:r>
            <a:r>
              <a:rPr i="1" lang="en-US"/>
              <a:t> </a:t>
            </a:r>
            <a:r>
              <a:rPr lang="en-US"/>
              <a:t>4</a:t>
            </a:r>
            <a:endParaRPr/>
          </a:p>
          <a:p>
            <a:pPr indent="0" lvl="0" marL="0" rtl="0" algn="l">
              <a:spcBef>
                <a:spcPts val="0"/>
              </a:spcBef>
              <a:spcAft>
                <a:spcPts val="0"/>
              </a:spcAft>
              <a:buSzPts val="1800"/>
              <a:buNone/>
            </a:pPr>
            <a:r>
              <a:t/>
            </a:r>
            <a:endParaRPr i="1"/>
          </a:p>
          <a:p>
            <a:pPr indent="0" lvl="0" marL="0" rtl="0" algn="l">
              <a:spcBef>
                <a:spcPts val="0"/>
              </a:spcBef>
              <a:spcAft>
                <a:spcPts val="0"/>
              </a:spcAft>
              <a:buSzPts val="1800"/>
              <a:buNone/>
            </a:pPr>
            <a:r>
              <a:rPr i="1" lang="en-US"/>
              <a:t>                         c            n</a:t>
            </a:r>
            <a:r>
              <a:rPr baseline="-25000" lang="en-US"/>
              <a:t>0</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cxnSp>
        <p:nvCxnSpPr>
          <p:cNvPr id="194" name="Google Shape;194;p15:notes"/>
          <p:cNvCxnSpPr/>
          <p:nvPr/>
        </p:nvCxnSpPr>
        <p:spPr>
          <a:xfrm rot="10800000">
            <a:off x="1908175" y="5981700"/>
            <a:ext cx="0" cy="314325"/>
          </a:xfrm>
          <a:prstGeom prst="straightConnector1">
            <a:avLst/>
          </a:prstGeom>
          <a:noFill/>
          <a:ln cap="flat" cmpd="sng" w="12700">
            <a:solidFill>
              <a:srgbClr val="FF0000"/>
            </a:solidFill>
            <a:prstDash val="solid"/>
            <a:miter lim="800000"/>
            <a:headEnd len="med" w="med" type="none"/>
            <a:tailEnd len="sm" w="sm" type="triangle"/>
          </a:ln>
        </p:spPr>
      </p:cxnSp>
      <p:cxnSp>
        <p:nvCxnSpPr>
          <p:cNvPr id="195" name="Google Shape;195;p15:notes"/>
          <p:cNvCxnSpPr/>
          <p:nvPr/>
        </p:nvCxnSpPr>
        <p:spPr>
          <a:xfrm flipH="1" rot="10800000">
            <a:off x="2438400" y="5943600"/>
            <a:ext cx="228600" cy="381000"/>
          </a:xfrm>
          <a:prstGeom prst="straightConnector1">
            <a:avLst/>
          </a:prstGeom>
          <a:noFill/>
          <a:ln cap="flat" cmpd="sng" w="12700">
            <a:solidFill>
              <a:srgbClr val="FF0000"/>
            </a:solidFill>
            <a:prstDash val="solid"/>
            <a:miter lim="800000"/>
            <a:headEnd len="med" w="med" type="none"/>
            <a:tailEnd len="sm" w="sm" type="triangle"/>
          </a:ln>
        </p:spPr>
      </p:cxnSp>
      <p:cxnSp>
        <p:nvCxnSpPr>
          <p:cNvPr id="196" name="Google Shape;196;p15:notes"/>
          <p:cNvCxnSpPr/>
          <p:nvPr/>
        </p:nvCxnSpPr>
        <p:spPr>
          <a:xfrm rot="10800000">
            <a:off x="2066925" y="6924675"/>
            <a:ext cx="0" cy="315912"/>
          </a:xfrm>
          <a:prstGeom prst="straightConnector1">
            <a:avLst/>
          </a:prstGeom>
          <a:noFill/>
          <a:ln cap="flat" cmpd="sng" w="12700">
            <a:solidFill>
              <a:srgbClr val="FF0000"/>
            </a:solidFill>
            <a:prstDash val="solid"/>
            <a:miter lim="800000"/>
            <a:headEnd len="med" w="med" type="none"/>
            <a:tailEnd len="sm" w="sm" type="triangle"/>
          </a:ln>
        </p:spPr>
      </p:cxnSp>
      <p:cxnSp>
        <p:nvCxnSpPr>
          <p:cNvPr id="197" name="Google Shape;197;p15:notes"/>
          <p:cNvCxnSpPr/>
          <p:nvPr/>
        </p:nvCxnSpPr>
        <p:spPr>
          <a:xfrm flipH="1" rot="10800000">
            <a:off x="2703512" y="6924675"/>
            <a:ext cx="79375" cy="315912"/>
          </a:xfrm>
          <a:prstGeom prst="straightConnector1">
            <a:avLst/>
          </a:prstGeom>
          <a:noFill/>
          <a:ln cap="flat" cmpd="sng" w="12700">
            <a:solidFill>
              <a:srgbClr val="FF0000"/>
            </a:solidFill>
            <a:prstDash val="solid"/>
            <a:miter lim="800000"/>
            <a:headEnd len="med" w="med" type="none"/>
            <a:tailEnd len="sm" w="sm" type="triangle"/>
          </a:ln>
        </p:spPr>
      </p:cxn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03" name="Google Shape;203;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04" name="Google Shape;204;p16: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10" name="Google Shape;210;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11" name="Google Shape;211;p17: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SzPts val="1800"/>
              <a:buNone/>
            </a:pPr>
            <a:r>
              <a:rPr lang="en-US"/>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976312" y="4560887"/>
            <a:ext cx="5362575" cy="4321175"/>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33" name="Google Shape;233;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34" name="Google Shape;234;p19: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41" name="Google Shape;241;p20:notes"/>
          <p:cNvSpPr/>
          <p:nvPr>
            <p:ph idx="2" type="sldImg"/>
          </p:nvPr>
        </p:nvSpPr>
        <p:spPr>
          <a:xfrm>
            <a:off x="1257300" y="7080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42" name="Google Shape;242;p20: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48" name="Google Shape;248;p2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49" name="Google Shape;249;p21: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62" name="Google Shape;262;p2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63" name="Google Shape;263;p22: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81" name="Google Shape;281;p2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82" name="Google Shape;282;p23: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4: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89" name="Google Shape;289;p2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90" name="Google Shape;290;p24: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5: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97" name="Google Shape;297;p2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98" name="Google Shape;298;p25: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6: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04" name="Google Shape;304;p2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05" name="Google Shape;305;p26: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7: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11" name="Google Shape;311;p27:notes"/>
          <p:cNvSpPr/>
          <p:nvPr>
            <p:ph idx="2" type="sldImg"/>
          </p:nvPr>
        </p:nvSpPr>
        <p:spPr>
          <a:xfrm>
            <a:off x="1257300" y="685800"/>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12" name="Google Shape;312;p27: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20" name="Google Shape;320;p28:notes"/>
          <p:cNvSpPr/>
          <p:nvPr>
            <p:ph idx="2" type="sldImg"/>
          </p:nvPr>
        </p:nvSpPr>
        <p:spPr>
          <a:xfrm>
            <a:off x="1257300" y="685800"/>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21" name="Google Shape;321;p28: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30" name="Google Shape;330;p29:notes"/>
          <p:cNvSpPr/>
          <p:nvPr>
            <p:ph idx="2" type="sldImg"/>
          </p:nvPr>
        </p:nvSpPr>
        <p:spPr>
          <a:xfrm>
            <a:off x="1257300" y="685800"/>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31" name="Google Shape;331;p29: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0: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41" name="Google Shape;341;p3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42" name="Google Shape;342;p30: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1: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49" name="Google Shape;349;p3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50" name="Google Shape;350;p31: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60" name="Google Shape;360;p3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61" name="Google Shape;361;p32: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3: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67" name="Google Shape;367;p3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68" name="Google Shape;368;p33: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SzPts val="1800"/>
              <a:buNone/>
            </a:pPr>
            <a:r>
              <a:rPr lang="en-US"/>
              <a:t>Note the difference between the two recurrences. Students often confuse these!</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F(n) = F(n-1) n</a:t>
            </a:r>
            <a:endParaRPr/>
          </a:p>
          <a:p>
            <a:pPr indent="0" lvl="0" marL="0" rtl="0" algn="l">
              <a:spcBef>
                <a:spcPts val="0"/>
              </a:spcBef>
              <a:spcAft>
                <a:spcPts val="0"/>
              </a:spcAft>
              <a:buSzPts val="1800"/>
              <a:buNone/>
            </a:pPr>
            <a:r>
              <a:rPr lang="en-US"/>
              <a:t>F(0) = 1</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for the values of n!</a:t>
            </a:r>
            <a:endParaRPr/>
          </a:p>
          <a:p>
            <a:pPr indent="0" lvl="0" marL="0" rtl="0" algn="l">
              <a:spcBef>
                <a:spcPts val="0"/>
              </a:spcBef>
              <a:spcAft>
                <a:spcPts val="0"/>
              </a:spcAft>
              <a:buSzPts val="1800"/>
              <a:buNone/>
            </a:pPr>
            <a:r>
              <a:rPr lang="en-US"/>
              <a:t>------------</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M(n) =M(n-1) + 1</a:t>
            </a:r>
            <a:endParaRPr/>
          </a:p>
          <a:p>
            <a:pPr indent="0" lvl="0" marL="0" rtl="0" algn="l">
              <a:spcBef>
                <a:spcPts val="0"/>
              </a:spcBef>
              <a:spcAft>
                <a:spcPts val="0"/>
              </a:spcAft>
              <a:buSzPts val="1800"/>
              <a:buNone/>
            </a:pPr>
            <a:r>
              <a:rPr lang="en-US"/>
              <a:t>M(0) = 0</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for the number of multiplications made by this algorithm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4: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78" name="Google Shape;378;p34: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79" name="Google Shape;379;p34: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5: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86" name="Google Shape;386;p35: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87" name="Google Shape;387;p35: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6: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97" name="Google Shape;397;p36: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98" name="Google Shape;398;p36: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7: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05" name="Google Shape;405;p37: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06" name="Google Shape;406;p37: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8: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15" name="Google Shape;415;p38: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16" name="Google Shape;416;p38: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35" name="Google Shape;435;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36" name="Google Shape;436;p39: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0: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42" name="Google Shape;442;p40: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43" name="Google Shape;443;p40: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1: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49" name="Google Shape;449;p41: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50" name="Google Shape;450;p41: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2: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56" name="Google Shape;456;p42: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57" name="Google Shape;457;p42: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3: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72" name="Google Shape;472;p43:notes"/>
          <p:cNvSpPr/>
          <p:nvPr>
            <p:ph idx="2" type="sldImg"/>
          </p:nvPr>
        </p:nvSpPr>
        <p:spPr>
          <a:xfrm>
            <a:off x="1257300"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73" name="Google Shape;473;p43:notes"/>
          <p:cNvSpPr txBox="1"/>
          <p:nvPr>
            <p:ph idx="1" type="body"/>
          </p:nvPr>
        </p:nvSpPr>
        <p:spPr>
          <a:xfrm>
            <a:off x="976312" y="4560887"/>
            <a:ext cx="5362575" cy="4321175"/>
          </a:xfrm>
          <a:prstGeom prst="rect">
            <a:avLst/>
          </a:prstGeom>
          <a:noFill/>
          <a:ln>
            <a:noFill/>
          </a:ln>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4: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91" name="Google Shape;491;p44:notes"/>
          <p:cNvSpPr/>
          <p:nvPr>
            <p:ph idx="2" type="sldImg"/>
          </p:nvPr>
        </p:nvSpPr>
        <p:spPr>
          <a:xfrm>
            <a:off x="1258887"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92" name="Google Shape;492;p44:notes"/>
          <p:cNvSpPr txBox="1"/>
          <p:nvPr>
            <p:ph idx="1" type="body"/>
          </p:nvPr>
        </p:nvSpPr>
        <p:spPr>
          <a:xfrm>
            <a:off x="976312" y="4560887"/>
            <a:ext cx="5362575" cy="43211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5: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98" name="Google Shape;498;p45:notes"/>
          <p:cNvSpPr/>
          <p:nvPr>
            <p:ph idx="2" type="sldImg"/>
          </p:nvPr>
        </p:nvSpPr>
        <p:spPr>
          <a:xfrm>
            <a:off x="1258887" y="719137"/>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99" name="Google Shape;499;p45:notes"/>
          <p:cNvSpPr txBox="1"/>
          <p:nvPr>
            <p:ph idx="1" type="body"/>
          </p:nvPr>
        </p:nvSpPr>
        <p:spPr>
          <a:xfrm>
            <a:off x="976312" y="4560887"/>
            <a:ext cx="5362575" cy="43211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6:notes"/>
          <p:cNvSpPr txBox="1"/>
          <p:nvPr>
            <p:ph idx="12" type="sldNum"/>
          </p:nvPr>
        </p:nvSpPr>
        <p:spPr>
          <a:xfrm>
            <a:off x="4144962" y="9120187"/>
            <a:ext cx="3170237" cy="481012"/>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07" name="Google Shape;507;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508" name="Google Shape;508;p46:notes"/>
          <p:cNvSpPr txBox="1"/>
          <p:nvPr>
            <p:ph idx="1" type="body"/>
          </p:nvPr>
        </p:nvSpPr>
        <p:spPr>
          <a:xfrm>
            <a:off x="976312" y="4560887"/>
            <a:ext cx="5362575" cy="43211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cxnSp>
        <p:nvCxnSpPr>
          <p:cNvPr id="509" name="Google Shape;509;p46:notes"/>
          <p:cNvCxnSpPr/>
          <p:nvPr/>
        </p:nvCxnSpPr>
        <p:spPr>
          <a:xfrm flipH="1" rot="10800000">
            <a:off x="1670050" y="7161212"/>
            <a:ext cx="317500" cy="315912"/>
          </a:xfrm>
          <a:prstGeom prst="straightConnector1">
            <a:avLst/>
          </a:prstGeom>
          <a:noFill/>
          <a:ln cap="flat" cmpd="sng" w="12700">
            <a:solidFill>
              <a:srgbClr val="FF0000"/>
            </a:solidFill>
            <a:prstDash val="solid"/>
            <a:miter lim="800000"/>
            <a:headEnd len="med" w="med" type="none"/>
            <a:tailEnd len="sm" w="sm" type="triangle"/>
          </a:ln>
        </p:spPr>
      </p:cxn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a0f29c1cc_0_0: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20" name="Google Shape;520;g3da0f29c1cc_0_0: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da0f29c1cc_0_0: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22" name="Google Shape;522;g3da0f29c1cc_0_0: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da0f29c1cc_0_20: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28" name="Google Shape;528;g3da0f29c1cc_0_20: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a0f29c1cc_0_20: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30" name="Google Shape;530;g3da0f29c1cc_0_20: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a0f29c1cc_0_28: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36" name="Google Shape;536;g3da0f29c1cc_0_28: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da0f29c1cc_0_28: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38" name="Google Shape;538;g3da0f29c1cc_0_28: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da0f29c1cc_0_36: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44" name="Google Shape;544;g3da0f29c1cc_0_36: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a0f29c1cc_0_36: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46" name="Google Shape;546;g3da0f29c1cc_0_36: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a0f29c1cc_0_44: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52" name="Google Shape;552;g3da0f29c1cc_0_44: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da0f29c1cc_0_44: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54" name="Google Shape;554;g3da0f29c1cc_0_44: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a0f29c1cc_0_60: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60" name="Google Shape;560;g3da0f29c1cc_0_60: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da0f29c1cc_0_60: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62" name="Google Shape;562;g3da0f29c1cc_0_60: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da0f29c1cc_0_13: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68" name="Google Shape;568;g3da0f29c1cc_0_13: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a0f29c1cc_0_13: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70" name="Google Shape;570;g3da0f29c1cc_0_13: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1b1faaa48_2_0:notes"/>
          <p:cNvSpPr txBox="1"/>
          <p:nvPr>
            <p:ph idx="12"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576" name="Google Shape;576;g3d1b1faaa48_2_0:notes"/>
          <p:cNvSpPr/>
          <p:nvPr>
            <p:ph idx="2" type="sldImg"/>
          </p:nvPr>
        </p:nvSpPr>
        <p:spPr>
          <a:xfrm>
            <a:off x="1257300" y="719137"/>
            <a:ext cx="4800600" cy="36006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d1b1faaa48_2_0:notes"/>
          <p:cNvSpPr txBox="1"/>
          <p:nvPr>
            <p:ph idx="1" type="body"/>
          </p:nvPr>
        </p:nvSpPr>
        <p:spPr>
          <a:xfrm>
            <a:off x="976312" y="4560887"/>
            <a:ext cx="5362500" cy="43212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78" name="Google Shape;578;g3d1b1faaa48_2_0:notes"/>
          <p:cNvSpPr txBox="1"/>
          <p:nvPr>
            <p:ph idx="3" type="sldNum"/>
          </p:nvPr>
        </p:nvSpPr>
        <p:spPr>
          <a:xfrm>
            <a:off x="4144962" y="9120187"/>
            <a:ext cx="3170100" cy="4809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48"/>
          <p:cNvSpPr txBox="1"/>
          <p:nvPr>
            <p:ph idx="10" type="dt"/>
          </p:nvPr>
        </p:nvSpPr>
        <p:spPr>
          <a:xfrm>
            <a:off x="609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9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9" name="Google Shape;39;p4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0" name="Shape 40"/>
        <p:cNvGrpSpPr/>
        <p:nvPr/>
      </p:nvGrpSpPr>
      <p:grpSpPr>
        <a:xfrm>
          <a:off x="0" y="0"/>
          <a:ext cx="0" cy="0"/>
          <a:chOff x="0" y="0"/>
          <a:chExt cx="0" cy="0"/>
        </a:xfrm>
      </p:grpSpPr>
      <p:sp>
        <p:nvSpPr>
          <p:cNvPr id="41" name="Google Shape;41;p49"/>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9"/>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3" name="Google Shape;43;p49"/>
          <p:cNvSpPr txBox="1"/>
          <p:nvPr>
            <p:ph idx="10" type="dt"/>
          </p:nvPr>
        </p:nvSpPr>
        <p:spPr>
          <a:xfrm>
            <a:off x="609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9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5" name="Google Shape;45;p4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type="twoColTx">
  <p:cSld name="TITLE_AND_TWO_COLUMNS">
    <p:spTree>
      <p:nvGrpSpPr>
        <p:cNvPr id="46" name="Shape 46"/>
        <p:cNvGrpSpPr/>
        <p:nvPr/>
      </p:nvGrpSpPr>
      <p:grpSpPr>
        <a:xfrm>
          <a:off x="0" y="0"/>
          <a:ext cx="0" cy="0"/>
          <a:chOff x="0" y="0"/>
          <a:chExt cx="0" cy="0"/>
        </a:xfrm>
      </p:grpSpPr>
      <p:sp>
        <p:nvSpPr>
          <p:cNvPr id="47" name="Google Shape;47;p50"/>
          <p:cNvSpPr txBox="1"/>
          <p:nvPr>
            <p:ph idx="10" type="dt"/>
          </p:nvPr>
        </p:nvSpPr>
        <p:spPr>
          <a:xfrm>
            <a:off x="6096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9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9" name="Google Shape;49;p5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 name="Shape 10"/>
        <p:cNvGrpSpPr/>
        <p:nvPr/>
      </p:nvGrpSpPr>
      <p:grpSpPr>
        <a:xfrm>
          <a:off x="0" y="0"/>
          <a:ext cx="0" cy="0"/>
          <a:chOff x="0" y="0"/>
          <a:chExt cx="0" cy="0"/>
        </a:xfrm>
      </p:grpSpPr>
      <p:grpSp>
        <p:nvGrpSpPr>
          <p:cNvPr id="11" name="Google Shape;11;p47"/>
          <p:cNvGrpSpPr/>
          <p:nvPr/>
        </p:nvGrpSpPr>
        <p:grpSpPr>
          <a:xfrm>
            <a:off x="8329612" y="733425"/>
            <a:ext cx="720725" cy="531812"/>
            <a:chOff x="5247" y="462"/>
            <a:chExt cx="454" cy="335"/>
          </a:xfrm>
        </p:grpSpPr>
        <p:sp>
          <p:nvSpPr>
            <p:cNvPr id="12" name="Google Shape;12;p47"/>
            <p:cNvSpPr/>
            <p:nvPr/>
          </p:nvSpPr>
          <p:spPr>
            <a:xfrm flipH="1" rot="10800000">
              <a:off x="5564" y="462"/>
              <a:ext cx="137" cy="335"/>
            </a:xfrm>
            <a:prstGeom prst="parallelogram">
              <a:avLst>
                <a:gd fmla="val 11438"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 name="Google Shape;13;p47"/>
            <p:cNvSpPr/>
            <p:nvPr/>
          </p:nvSpPr>
          <p:spPr>
            <a:xfrm flipH="1" rot="10800000">
              <a:off x="5407" y="462"/>
              <a:ext cx="138" cy="335"/>
            </a:xfrm>
            <a:prstGeom prst="parallelogram">
              <a:avLst>
                <a:gd fmla="val 11438"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 name="Google Shape;14;p47"/>
            <p:cNvSpPr/>
            <p:nvPr/>
          </p:nvSpPr>
          <p:spPr>
            <a:xfrm flipH="1" rot="10800000">
              <a:off x="5247" y="462"/>
              <a:ext cx="138" cy="335"/>
            </a:xfrm>
            <a:prstGeom prst="parallelogram">
              <a:avLst>
                <a:gd fmla="val 11438"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5" name="Google Shape;15;p47"/>
          <p:cNvGrpSpPr/>
          <p:nvPr/>
        </p:nvGrpSpPr>
        <p:grpSpPr>
          <a:xfrm>
            <a:off x="76993" y="6040437"/>
            <a:ext cx="532606" cy="726281"/>
            <a:chOff x="48" y="3805"/>
            <a:chExt cx="336" cy="457"/>
          </a:xfrm>
        </p:grpSpPr>
        <p:sp>
          <p:nvSpPr>
            <p:cNvPr id="16" name="Google Shape;16;p47"/>
            <p:cNvSpPr/>
            <p:nvPr/>
          </p:nvSpPr>
          <p:spPr>
            <a:xfrm flipH="1" rot="5400000">
              <a:off x="148" y="3706"/>
              <a:ext cx="137" cy="335"/>
            </a:xfrm>
            <a:prstGeom prst="parallelogram">
              <a:avLst>
                <a:gd fmla="val 11438" name="adj"/>
              </a:avLst>
            </a:prstGeom>
            <a:gradFill>
              <a:gsLst>
                <a:gs pos="0">
                  <a:schemeClr val="accent2"/>
                </a:gs>
                <a:gs pos="100000">
                  <a:schemeClr val="accent1"/>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 name="Google Shape;17;p47"/>
            <p:cNvSpPr/>
            <p:nvPr/>
          </p:nvSpPr>
          <p:spPr>
            <a:xfrm flipH="1" rot="5400000">
              <a:off x="147" y="3869"/>
              <a:ext cx="138" cy="335"/>
            </a:xfrm>
            <a:prstGeom prst="parallelogram">
              <a:avLst>
                <a:gd fmla="val 11438" name="adj"/>
              </a:avLst>
            </a:prstGeom>
            <a:gradFill>
              <a:gsLst>
                <a:gs pos="0">
                  <a:schemeClr val="accent2"/>
                </a:gs>
                <a:gs pos="100000">
                  <a:schemeClr val="accent1"/>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 name="Google Shape;18;p47"/>
            <p:cNvSpPr/>
            <p:nvPr/>
          </p:nvSpPr>
          <p:spPr>
            <a:xfrm flipH="1" rot="5400000">
              <a:off x="147" y="4026"/>
              <a:ext cx="138" cy="335"/>
            </a:xfrm>
            <a:prstGeom prst="parallelogram">
              <a:avLst>
                <a:gd fmla="val 11438" name="adj"/>
              </a:avLst>
            </a:prstGeom>
            <a:gradFill>
              <a:gsLst>
                <a:gs pos="0">
                  <a:schemeClr val="accent2"/>
                </a:gs>
                <a:gs pos="100000">
                  <a:schemeClr val="accent1"/>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19" name="Google Shape;19;p47"/>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A50021"/>
              </a:buClr>
              <a:buSzPts val="1800"/>
              <a:buFont typeface="Arial"/>
              <a:buChar char="●"/>
              <a:defRPr b="1" i="0" sz="2400" u="none" cap="none" strike="noStrike">
                <a:solidFill>
                  <a:srgbClr val="FFFF99"/>
                </a:solidFill>
                <a:latin typeface="Times New Roman"/>
                <a:ea typeface="Times New Roman"/>
                <a:cs typeface="Times New Roman"/>
                <a:sym typeface="Times New Roman"/>
              </a:defRPr>
            </a:lvl1pPr>
            <a:lvl2pPr indent="-355600" lvl="1" marL="914400" marR="0" rtl="0" algn="l">
              <a:lnSpc>
                <a:spcPct val="100000"/>
              </a:lnSpc>
              <a:spcBef>
                <a:spcPts val="400"/>
              </a:spcBef>
              <a:spcAft>
                <a:spcPts val="0"/>
              </a:spcAft>
              <a:buClr>
                <a:srgbClr val="A50021"/>
              </a:buClr>
              <a:buSzPts val="2000"/>
              <a:buFont typeface="Times New Roman"/>
              <a:buChar char="•"/>
              <a:defRPr b="1" i="0" sz="2000" u="none" cap="none" strike="noStrike">
                <a:solidFill>
                  <a:srgbClr val="FFFF99"/>
                </a:solidFill>
                <a:latin typeface="Times New Roman"/>
                <a:ea typeface="Times New Roman"/>
                <a:cs typeface="Times New Roman"/>
                <a:sym typeface="Times New Roman"/>
              </a:defRPr>
            </a:lvl2pPr>
            <a:lvl3pPr indent="-342900" lvl="2" marL="13716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3pPr>
            <a:lvl4pPr indent="-342900" lvl="3" marL="18288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4pPr>
            <a:lvl5pPr indent="-342900" lvl="4" marL="22860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5pPr>
            <a:lvl6pPr indent="-342900" lvl="5" marL="27432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6pPr>
            <a:lvl7pPr indent="-342900" lvl="6" marL="32004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7pPr>
            <a:lvl8pPr indent="-342900" lvl="7" marL="36576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8pPr>
            <a:lvl9pPr indent="-342900" lvl="8" marL="41148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9pPr>
          </a:lstStyle>
          <a:p/>
        </p:txBody>
      </p:sp>
      <p:sp>
        <p:nvSpPr>
          <p:cNvPr id="20" name="Google Shape;20;p47"/>
          <p:cNvSpPr txBox="1"/>
          <p:nvPr>
            <p:ph idx="10" type="dt"/>
          </p:nvPr>
        </p:nvSpPr>
        <p:spPr>
          <a:xfrm>
            <a:off x="6096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SzPts val="1400"/>
              <a:buNone/>
              <a:defRPr b="0" i="0" sz="1400" u="none">
                <a:solidFill>
                  <a:schemeClr val="dk1"/>
                </a:solidFill>
                <a:latin typeface="Arial Narrow"/>
                <a:ea typeface="Arial Narrow"/>
                <a:cs typeface="Arial Narrow"/>
                <a:sym typeface="Arial Narrow"/>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1" name="Google Shape;21;p47"/>
          <p:cNvSpPr/>
          <p:nvPr/>
        </p:nvSpPr>
        <p:spPr>
          <a:xfrm>
            <a:off x="227012" y="0"/>
            <a:ext cx="228600" cy="6858000"/>
          </a:xfrm>
          <a:prstGeom prst="rect">
            <a:avLst/>
          </a:prstGeom>
          <a:gradFill>
            <a:gsLst>
              <a:gs pos="0">
                <a:schemeClr val="lt2"/>
              </a:gs>
              <a:gs pos="50000">
                <a:schemeClr val="folHlink"/>
              </a:gs>
              <a:gs pos="100000">
                <a:schemeClr val="lt2"/>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 name="Google Shape;22;p47"/>
          <p:cNvSpPr/>
          <p:nvPr/>
        </p:nvSpPr>
        <p:spPr>
          <a:xfrm flipH="1">
            <a:off x="304800" y="914400"/>
            <a:ext cx="8839200" cy="228600"/>
          </a:xfrm>
          <a:prstGeom prst="homePlate">
            <a:avLst>
              <a:gd fmla="val 21221" name="adj"/>
            </a:avLst>
          </a:prstGeom>
          <a:gradFill>
            <a:gsLst>
              <a:gs pos="0">
                <a:schemeClr val="lt2"/>
              </a:gs>
              <a:gs pos="50000">
                <a:schemeClr val="folHlink"/>
              </a:gs>
              <a:gs pos="100000">
                <a:schemeClr val="lt2"/>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 name="Google Shape;23;p47"/>
          <p:cNvSpPr/>
          <p:nvPr/>
        </p:nvSpPr>
        <p:spPr>
          <a:xfrm>
            <a:off x="1981200" y="2179637"/>
            <a:ext cx="190500" cy="467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24" name="Google Shape;24;p47"/>
          <p:cNvGrpSpPr/>
          <p:nvPr/>
        </p:nvGrpSpPr>
        <p:grpSpPr>
          <a:xfrm>
            <a:off x="77787" y="5903118"/>
            <a:ext cx="533400" cy="750094"/>
            <a:chOff x="49" y="3718"/>
            <a:chExt cx="336" cy="473"/>
          </a:xfrm>
        </p:grpSpPr>
        <p:sp>
          <p:nvSpPr>
            <p:cNvPr id="25" name="Google Shape;25;p47"/>
            <p:cNvSpPr/>
            <p:nvPr/>
          </p:nvSpPr>
          <p:spPr>
            <a:xfrm rot="-5400000">
              <a:off x="142" y="3626"/>
              <a:ext cx="150" cy="335"/>
            </a:xfrm>
            <a:prstGeom prst="parallelogram">
              <a:avLst>
                <a:gd fmla="val 11438" name="adj"/>
              </a:avLst>
            </a:prstGeom>
            <a:gradFill>
              <a:gsLst>
                <a:gs pos="0">
                  <a:schemeClr val="accent1"/>
                </a:gs>
                <a:gs pos="100000">
                  <a:schemeClr val="accent2"/>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 name="Google Shape;26;p47"/>
            <p:cNvSpPr/>
            <p:nvPr/>
          </p:nvSpPr>
          <p:spPr>
            <a:xfrm rot="-5400000">
              <a:off x="141" y="3786"/>
              <a:ext cx="151" cy="335"/>
            </a:xfrm>
            <a:prstGeom prst="parallelogram">
              <a:avLst>
                <a:gd fmla="val 11438" name="adj"/>
              </a:avLst>
            </a:prstGeom>
            <a:gradFill>
              <a:gsLst>
                <a:gs pos="0">
                  <a:schemeClr val="accent1"/>
                </a:gs>
                <a:gs pos="100000">
                  <a:schemeClr val="accent2"/>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 name="Google Shape;27;p47"/>
            <p:cNvSpPr/>
            <p:nvPr/>
          </p:nvSpPr>
          <p:spPr>
            <a:xfrm rot="-5400000">
              <a:off x="142" y="3948"/>
              <a:ext cx="150" cy="336"/>
            </a:xfrm>
            <a:prstGeom prst="parallelogram">
              <a:avLst>
                <a:gd fmla="val 11438" name="adj"/>
              </a:avLst>
            </a:prstGeom>
            <a:gradFill>
              <a:gsLst>
                <a:gs pos="0">
                  <a:schemeClr val="accent1"/>
                </a:gs>
                <a:gs pos="100000">
                  <a:schemeClr val="accent2"/>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28" name="Google Shape;28;p47"/>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i="0" sz="3600" u="none" cap="none" strike="noStrike">
                <a:solidFill>
                  <a:schemeClr val="dk2"/>
                </a:solidFill>
                <a:latin typeface="Times New Roman"/>
                <a:ea typeface="Times New Roman"/>
                <a:cs typeface="Times New Roman"/>
                <a:sym typeface="Times New Roman"/>
              </a:defRPr>
            </a:lvl9pPr>
          </a:lstStyle>
          <a:p/>
        </p:txBody>
      </p:sp>
      <p:grpSp>
        <p:nvGrpSpPr>
          <p:cNvPr id="29" name="Google Shape;29;p47"/>
          <p:cNvGrpSpPr/>
          <p:nvPr/>
        </p:nvGrpSpPr>
        <p:grpSpPr>
          <a:xfrm>
            <a:off x="8189912" y="731837"/>
            <a:ext cx="739775" cy="533400"/>
            <a:chOff x="5159" y="461"/>
            <a:chExt cx="466" cy="336"/>
          </a:xfrm>
        </p:grpSpPr>
        <p:sp>
          <p:nvSpPr>
            <p:cNvPr id="30" name="Google Shape;30;p47"/>
            <p:cNvSpPr/>
            <p:nvPr/>
          </p:nvSpPr>
          <p:spPr>
            <a:xfrm>
              <a:off x="5475" y="462"/>
              <a:ext cx="150" cy="335"/>
            </a:xfrm>
            <a:prstGeom prst="parallelogram">
              <a:avLst>
                <a:gd fmla="val 11438"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 name="Google Shape;31;p47"/>
            <p:cNvSpPr/>
            <p:nvPr/>
          </p:nvSpPr>
          <p:spPr>
            <a:xfrm>
              <a:off x="5318" y="462"/>
              <a:ext cx="151" cy="335"/>
            </a:xfrm>
            <a:prstGeom prst="parallelogram">
              <a:avLst>
                <a:gd fmla="val 11438"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 name="Google Shape;32;p47"/>
            <p:cNvSpPr/>
            <p:nvPr/>
          </p:nvSpPr>
          <p:spPr>
            <a:xfrm>
              <a:off x="5159" y="461"/>
              <a:ext cx="150" cy="336"/>
            </a:xfrm>
            <a:prstGeom prst="parallelogram">
              <a:avLst>
                <a:gd fmla="val 11438"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33" name="Google Shape;33;p47"/>
          <p:cNvSpPr txBox="1"/>
          <p:nvPr/>
        </p:nvSpPr>
        <p:spPr>
          <a:xfrm>
            <a:off x="7061200" y="64262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Narrow"/>
              <a:buNone/>
            </a:pPr>
            <a:r>
              <a:rPr b="0" i="0" lang="en-US" sz="1400" u="none">
                <a:solidFill>
                  <a:schemeClr val="dk1"/>
                </a:solidFill>
                <a:latin typeface="Arial Narrow"/>
                <a:ea typeface="Arial Narrow"/>
                <a:cs typeface="Arial Narrow"/>
                <a:sym typeface="Arial Narrow"/>
              </a:rPr>
              <a:t>2-</a:t>
            </a:r>
            <a:fld id="{00000000-1234-1234-1234-123412341234}" type="slidenum">
              <a:rPr b="0" i="0" lang="en-US" sz="1400" u="none">
                <a:solidFill>
                  <a:schemeClr val="dk1"/>
                </a:solidFill>
                <a:latin typeface="Arial Narrow"/>
                <a:ea typeface="Arial Narrow"/>
                <a:cs typeface="Arial Narrow"/>
                <a:sym typeface="Arial Narrow"/>
              </a:rPr>
              <a:t>‹#›</a:t>
            </a:fld>
            <a:endParaRPr/>
          </a:p>
        </p:txBody>
      </p:sp>
      <p:sp>
        <p:nvSpPr>
          <p:cNvPr id="34" name="Google Shape;34;p47"/>
          <p:cNvSpPr txBox="1"/>
          <p:nvPr/>
        </p:nvSpPr>
        <p:spPr>
          <a:xfrm>
            <a:off x="685800" y="6197600"/>
            <a:ext cx="3886200" cy="5334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Copyright © 2007 Pearson Addison-Wesley. All rights reserved.</a:t>
            </a:r>
            <a:endParaRPr/>
          </a:p>
        </p:txBody>
      </p:sp>
      <p:sp>
        <p:nvSpPr>
          <p:cNvPr id="35" name="Google Shape;35;p47"/>
          <p:cNvSpPr txBox="1"/>
          <p:nvPr/>
        </p:nvSpPr>
        <p:spPr>
          <a:xfrm>
            <a:off x="2743200" y="6477000"/>
            <a:ext cx="6400800" cy="3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Narrow"/>
              <a:buNone/>
            </a:pPr>
            <a:r>
              <a:rPr b="0" i="0" lang="en-US" sz="1000" u="none">
                <a:solidFill>
                  <a:schemeClr val="dk1"/>
                </a:solidFill>
                <a:latin typeface="Arial Narrow"/>
                <a:ea typeface="Arial Narrow"/>
                <a:cs typeface="Arial Narrow"/>
                <a:sym typeface="Arial Narrow"/>
              </a:rPr>
              <a:t>A. Levitin “Introduction to the Design &amp; Analysis of Algorithms,” 2</a:t>
            </a:r>
            <a:r>
              <a:rPr b="0" baseline="30000" i="0" lang="en-US" sz="1000" u="none">
                <a:solidFill>
                  <a:schemeClr val="dk1"/>
                </a:solidFill>
                <a:latin typeface="Arial Narrow"/>
                <a:ea typeface="Arial Narrow"/>
                <a:cs typeface="Arial Narrow"/>
                <a:sym typeface="Arial Narrow"/>
              </a:rPr>
              <a:t>nd</a:t>
            </a:r>
            <a:r>
              <a:rPr b="0" i="0" lang="en-US" sz="1000" u="none">
                <a:solidFill>
                  <a:schemeClr val="dk1"/>
                </a:solidFill>
                <a:latin typeface="Arial Narrow"/>
                <a:ea typeface="Arial Narrow"/>
                <a:cs typeface="Arial Narrow"/>
                <a:sym typeface="Arial Narrow"/>
              </a:rPr>
              <a:t> ed., Ch. 2</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8.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21.png"/><Relationship Id="rId11" Type="http://schemas.openxmlformats.org/officeDocument/2006/relationships/image" Target="../media/image25.png"/><Relationship Id="rId10" Type="http://schemas.openxmlformats.org/officeDocument/2006/relationships/image" Target="../media/image31.png"/><Relationship Id="rId9" Type="http://schemas.openxmlformats.org/officeDocument/2006/relationships/image" Target="../media/image33.png"/><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18.png"/><Relationship Id="rId8"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457200" y="1143000"/>
            <a:ext cx="3657600" cy="99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200"/>
              <a:buFont typeface="Arial"/>
              <a:buNone/>
            </a:pPr>
            <a:r>
              <a:rPr b="1" i="0" lang="en-US" sz="3200" u="none">
                <a:solidFill>
                  <a:schemeClr val="dk2"/>
                </a:solidFill>
                <a:latin typeface="Arial"/>
                <a:ea typeface="Arial"/>
                <a:cs typeface="Arial"/>
                <a:sym typeface="Arial"/>
              </a:rPr>
              <a:t>Chapter 2 </a:t>
            </a:r>
            <a:endParaRPr/>
          </a:p>
        </p:txBody>
      </p:sp>
      <p:pic>
        <p:nvPicPr>
          <p:cNvPr id="55" name="Google Shape;55;p1"/>
          <p:cNvPicPr preferRelativeResize="0"/>
          <p:nvPr/>
        </p:nvPicPr>
        <p:blipFill rotWithShape="1">
          <a:blip r:embed="rId3">
            <a:alphaModFix/>
          </a:blip>
          <a:srcRect b="0" l="0" r="0" t="0"/>
          <a:stretch/>
        </p:blipFill>
        <p:spPr>
          <a:xfrm>
            <a:off x="381000" y="5797550"/>
            <a:ext cx="684212" cy="831850"/>
          </a:xfrm>
          <a:prstGeom prst="rect">
            <a:avLst/>
          </a:prstGeom>
          <a:noFill/>
          <a:ln>
            <a:noFill/>
          </a:ln>
        </p:spPr>
      </p:pic>
      <p:sp>
        <p:nvSpPr>
          <p:cNvPr id="56" name="Google Shape;56;p1"/>
          <p:cNvSpPr txBox="1"/>
          <p:nvPr/>
        </p:nvSpPr>
        <p:spPr>
          <a:xfrm>
            <a:off x="457200" y="2514600"/>
            <a:ext cx="3505200" cy="2227262"/>
          </a:xfrm>
          <a:prstGeom prst="rect">
            <a:avLst/>
          </a:prstGeom>
          <a:noFill/>
          <a:ln>
            <a:noFill/>
          </a:ln>
        </p:spPr>
        <p:txBody>
          <a:bodyPr anchorCtr="0" anchor="t" bIns="45700" lIns="91425" spcFirstLastPara="1" rIns="0"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Fundamentals of the Analysis of Algorithm Efficiency</a:t>
            </a:r>
            <a:endParaRPr/>
          </a:p>
        </p:txBody>
      </p:sp>
      <p:pic>
        <p:nvPicPr>
          <p:cNvPr id="57" name="Google Shape;57;p1"/>
          <p:cNvPicPr preferRelativeResize="0"/>
          <p:nvPr/>
        </p:nvPicPr>
        <p:blipFill rotWithShape="1">
          <a:blip r:embed="rId4">
            <a:alphaModFix/>
          </a:blip>
          <a:srcRect b="0" l="0" r="0" t="0"/>
          <a:stretch/>
        </p:blipFill>
        <p:spPr>
          <a:xfrm>
            <a:off x="4038600" y="533400"/>
            <a:ext cx="4689475" cy="5791200"/>
          </a:xfrm>
          <a:prstGeom prst="rect">
            <a:avLst/>
          </a:prstGeom>
          <a:noFill/>
          <a:ln>
            <a:noFill/>
          </a:ln>
        </p:spPr>
      </p:pic>
      <p:sp>
        <p:nvSpPr>
          <p:cNvPr id="58" name="Google Shape;58;p1"/>
          <p:cNvSpPr txBox="1"/>
          <p:nvPr/>
        </p:nvSpPr>
        <p:spPr>
          <a:xfrm>
            <a:off x="1079500" y="6210300"/>
            <a:ext cx="3429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Copyright © 2007 Pearson Addison-Wesley. All rights reserved.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2"/>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Analysis of algorithms</a:t>
            </a:r>
            <a:endParaRPr/>
          </a:p>
        </p:txBody>
      </p:sp>
      <p:sp>
        <p:nvSpPr>
          <p:cNvPr id="65" name="Google Shape;65;p2"/>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2100"/>
              <a:buFont typeface="Arial"/>
              <a:buChar char="●"/>
            </a:pPr>
            <a:r>
              <a:rPr b="1" i="0" lang="en-US" sz="2800" u="none" cap="none" strike="noStrike">
                <a:solidFill>
                  <a:srgbClr val="FFFF99"/>
                </a:solidFill>
                <a:latin typeface="Times New Roman"/>
                <a:ea typeface="Times New Roman"/>
                <a:cs typeface="Times New Roman"/>
                <a:sym typeface="Times New Roman"/>
              </a:rPr>
              <a:t>Issues:</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correctness</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time efficiency</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space efficiency</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chemeClr val="dk2"/>
                </a:solidFill>
                <a:latin typeface="Times New Roman"/>
                <a:ea typeface="Times New Roman"/>
                <a:cs typeface="Times New Roman"/>
                <a:sym typeface="Times New Roman"/>
              </a:rPr>
              <a:t>optimality</a:t>
            </a:r>
            <a:endParaRPr/>
          </a:p>
          <a:p>
            <a:pPr indent="-158750" lvl="1" marL="742950" marR="0" rtl="0" algn="l">
              <a:lnSpc>
                <a:spcPct val="100000"/>
              </a:lnSpc>
              <a:spcBef>
                <a:spcPts val="400"/>
              </a:spcBef>
              <a:spcAft>
                <a:spcPts val="0"/>
              </a:spcAft>
              <a:buClr>
                <a:srgbClr val="A50021"/>
              </a:buClr>
              <a:buSzPts val="2000"/>
              <a:buFont typeface="Times New Roman"/>
              <a:buNone/>
            </a:pPr>
            <a:r>
              <a:t/>
            </a:r>
            <a:endParaRPr b="1" i="0" sz="20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rgbClr val="A50021"/>
              </a:buClr>
              <a:buSzPts val="2100"/>
              <a:buFont typeface="Arial"/>
              <a:buChar char="●"/>
            </a:pPr>
            <a:r>
              <a:rPr b="1" i="0" lang="en-US" sz="2800" u="none" cap="none" strike="noStrike">
                <a:solidFill>
                  <a:srgbClr val="FFFF99"/>
                </a:solidFill>
                <a:latin typeface="Times New Roman"/>
                <a:ea typeface="Times New Roman"/>
                <a:cs typeface="Times New Roman"/>
                <a:sym typeface="Times New Roman"/>
              </a:rPr>
              <a:t>Approaches:</a:t>
            </a:r>
            <a:r>
              <a:rPr b="1" i="0" lang="en-US" sz="2400" u="none" cap="none" strike="noStrike">
                <a:solidFill>
                  <a:srgbClr val="FFFF99"/>
                </a:solidFill>
                <a:latin typeface="Times New Roman"/>
                <a:ea typeface="Times New Roman"/>
                <a:cs typeface="Times New Roman"/>
                <a:sym typeface="Times New Roman"/>
              </a:rPr>
              <a:t> </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theoretical analysis</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chemeClr val="dk2"/>
                </a:solidFill>
                <a:latin typeface="Times New Roman"/>
                <a:ea typeface="Times New Roman"/>
                <a:cs typeface="Times New Roman"/>
                <a:sym typeface="Times New Roman"/>
              </a:rPr>
              <a:t>empirical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3"/>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Theoretical analysis of time efficiency</a:t>
            </a:r>
            <a:endParaRPr/>
          </a:p>
        </p:txBody>
      </p:sp>
      <p:sp>
        <p:nvSpPr>
          <p:cNvPr id="72" name="Google Shape;72;p3"/>
          <p:cNvSpPr txBox="1"/>
          <p:nvPr>
            <p:ph idx="1" type="body"/>
          </p:nvPr>
        </p:nvSpPr>
        <p:spPr>
          <a:xfrm>
            <a:off x="419100" y="1219200"/>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cap="none" strike="noStrike">
                <a:solidFill>
                  <a:srgbClr val="FFFF99"/>
                </a:solidFill>
                <a:latin typeface="Times New Roman"/>
                <a:ea typeface="Times New Roman"/>
                <a:cs typeface="Times New Roman"/>
                <a:sym typeface="Times New Roman"/>
              </a:rPr>
              <a:t>Time efficiency is analyzed by determining the number of repetitions of the </a:t>
            </a:r>
            <a:r>
              <a:rPr b="1" i="1" lang="en-US" sz="2400" u="sng" cap="none" strike="noStrike">
                <a:solidFill>
                  <a:srgbClr val="FFFF99"/>
                </a:solidFill>
                <a:latin typeface="Times New Roman"/>
                <a:ea typeface="Times New Roman"/>
                <a:cs typeface="Times New Roman"/>
                <a:sym typeface="Times New Roman"/>
              </a:rPr>
              <a:t>basic operation</a:t>
            </a:r>
            <a:r>
              <a:rPr b="1" i="0" lang="en-US" sz="2400" u="none" cap="none" strike="noStrike">
                <a:solidFill>
                  <a:srgbClr val="FFFF99"/>
                </a:solidFill>
                <a:latin typeface="Times New Roman"/>
                <a:ea typeface="Times New Roman"/>
                <a:cs typeface="Times New Roman"/>
                <a:sym typeface="Times New Roman"/>
              </a:rPr>
              <a:t> as a function of </a:t>
            </a:r>
            <a:r>
              <a:rPr b="1" i="1" lang="en-US" sz="2400" u="sng" cap="none" strike="noStrike">
                <a:solidFill>
                  <a:srgbClr val="FFFF99"/>
                </a:solidFill>
                <a:latin typeface="Times New Roman"/>
                <a:ea typeface="Times New Roman"/>
                <a:cs typeface="Times New Roman"/>
                <a:sym typeface="Times New Roman"/>
              </a:rPr>
              <a:t>input size</a:t>
            </a:r>
            <a:endParaRPr/>
          </a:p>
          <a:p>
            <a:pPr indent="-228600" lvl="0" marL="342900" marR="0" rtl="0" algn="l">
              <a:lnSpc>
                <a:spcPct val="100000"/>
              </a:lnSpc>
              <a:spcBef>
                <a:spcPts val="480"/>
              </a:spcBef>
              <a:spcAft>
                <a:spcPts val="0"/>
              </a:spcAft>
              <a:buClr>
                <a:srgbClr val="A50021"/>
              </a:buClr>
              <a:buSzPts val="1800"/>
              <a:buFont typeface="Arial"/>
              <a:buNone/>
            </a:pPr>
            <a:r>
              <a:t/>
            </a:r>
            <a:endParaRPr b="1" i="1" sz="2400" u="sng"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1" lang="en-US" sz="2400" u="sng" cap="none" strike="noStrike">
                <a:solidFill>
                  <a:srgbClr val="FFFF99"/>
                </a:solidFill>
                <a:latin typeface="Times New Roman"/>
                <a:ea typeface="Times New Roman"/>
                <a:cs typeface="Times New Roman"/>
                <a:sym typeface="Times New Roman"/>
              </a:rPr>
              <a:t>Basic operation</a:t>
            </a:r>
            <a:r>
              <a:rPr b="1" i="0" lang="en-US" sz="2400" u="none" cap="none" strike="noStrike">
                <a:solidFill>
                  <a:srgbClr val="FFFF99"/>
                </a:solidFill>
                <a:latin typeface="Times New Roman"/>
                <a:ea typeface="Times New Roman"/>
                <a:cs typeface="Times New Roman"/>
                <a:sym typeface="Times New Roman"/>
              </a:rPr>
              <a:t>: the operation that contributes the most towards the running time of the algorithm</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rgbClr val="A50021"/>
              </a:buClr>
              <a:buSzPts val="2100"/>
              <a:buFont typeface="Arial"/>
              <a:buNone/>
            </a:pPr>
            <a:r>
              <a:rPr b="1" i="1" lang="en-US" sz="2800" u="none" cap="none" strike="noStrike">
                <a:solidFill>
                  <a:srgbClr val="FFFF99"/>
                </a:solidFill>
                <a:latin typeface="Times New Roman"/>
                <a:ea typeface="Times New Roman"/>
                <a:cs typeface="Times New Roman"/>
                <a:sym typeface="Times New Roman"/>
              </a:rPr>
              <a:t>                       </a:t>
            </a:r>
            <a:r>
              <a:rPr b="1" i="1" lang="en-US" sz="3200" u="none" cap="none" strike="noStrike">
                <a:solidFill>
                  <a:srgbClr val="FFFF99"/>
                </a:solidFill>
                <a:latin typeface="Times New Roman"/>
                <a:ea typeface="Times New Roman"/>
                <a:cs typeface="Times New Roman"/>
                <a:sym typeface="Times New Roman"/>
              </a:rPr>
              <a:t>T</a:t>
            </a:r>
            <a:r>
              <a:rPr b="1" i="0" lang="en-US" sz="3200" u="none" cap="none" strike="noStrike">
                <a:solidFill>
                  <a:srgbClr val="FFFF99"/>
                </a:solidFill>
                <a:latin typeface="Times New Roman"/>
                <a:ea typeface="Times New Roman"/>
                <a:cs typeface="Times New Roman"/>
                <a:sym typeface="Times New Roman"/>
              </a:rPr>
              <a:t>(</a:t>
            </a:r>
            <a:r>
              <a:rPr b="1" i="1" lang="en-US" sz="3200" u="none" cap="none" strike="noStrike">
                <a:solidFill>
                  <a:srgbClr val="FFFF99"/>
                </a:solidFill>
                <a:latin typeface="Times New Roman"/>
                <a:ea typeface="Times New Roman"/>
                <a:cs typeface="Times New Roman"/>
                <a:sym typeface="Times New Roman"/>
              </a:rPr>
              <a:t>n</a:t>
            </a:r>
            <a:r>
              <a:rPr b="1" i="0" lang="en-US" sz="3200" u="none" cap="none" strike="noStrike">
                <a:solidFill>
                  <a:srgbClr val="FFFF99"/>
                </a:solidFill>
                <a:latin typeface="Times New Roman"/>
                <a:ea typeface="Times New Roman"/>
                <a:cs typeface="Times New Roman"/>
                <a:sym typeface="Times New Roman"/>
              </a:rPr>
              <a:t>) </a:t>
            </a:r>
            <a:r>
              <a:rPr b="1" i="0" lang="en-US" sz="3200" u="none" cap="none" strike="noStrike">
                <a:solidFill>
                  <a:srgbClr val="FFFF99"/>
                </a:solidFill>
                <a:latin typeface="Merriweather Sans"/>
                <a:ea typeface="Merriweather Sans"/>
                <a:cs typeface="Merriweather Sans"/>
                <a:sym typeface="Merriweather Sans"/>
              </a:rPr>
              <a:t>≈</a:t>
            </a:r>
            <a:r>
              <a:rPr b="1" i="0" lang="en-US" sz="3200" u="none" cap="none" strike="noStrike">
                <a:solidFill>
                  <a:srgbClr val="FFFF99"/>
                </a:solidFill>
                <a:latin typeface="Times New Roman"/>
                <a:ea typeface="Times New Roman"/>
                <a:cs typeface="Times New Roman"/>
                <a:sym typeface="Times New Roman"/>
              </a:rPr>
              <a:t> </a:t>
            </a:r>
            <a:r>
              <a:rPr b="1" i="1" lang="en-US" sz="3200" u="none" cap="none" strike="noStrike">
                <a:solidFill>
                  <a:srgbClr val="FFFF99"/>
                </a:solidFill>
                <a:latin typeface="Times New Roman"/>
                <a:ea typeface="Times New Roman"/>
                <a:cs typeface="Times New Roman"/>
                <a:sym typeface="Times New Roman"/>
              </a:rPr>
              <a:t>c</a:t>
            </a:r>
            <a:r>
              <a:rPr b="1" baseline="-25000" i="1" lang="en-US" sz="3200" u="none" cap="none" strike="noStrike">
                <a:solidFill>
                  <a:srgbClr val="FFFF99"/>
                </a:solidFill>
                <a:latin typeface="Times New Roman"/>
                <a:ea typeface="Times New Roman"/>
                <a:cs typeface="Times New Roman"/>
                <a:sym typeface="Times New Roman"/>
              </a:rPr>
              <a:t>op</a:t>
            </a:r>
            <a:r>
              <a:rPr b="1" i="1" lang="en-US" sz="3200" u="none" cap="none" strike="noStrike">
                <a:solidFill>
                  <a:srgbClr val="FFFF99"/>
                </a:solidFill>
                <a:latin typeface="Times New Roman"/>
                <a:ea typeface="Times New Roman"/>
                <a:cs typeface="Times New Roman"/>
                <a:sym typeface="Times New Roman"/>
              </a:rPr>
              <a:t>C</a:t>
            </a:r>
            <a:r>
              <a:rPr b="1" i="0" lang="en-US" sz="3200" u="none" cap="none" strike="noStrike">
                <a:solidFill>
                  <a:srgbClr val="FFFF99"/>
                </a:solidFill>
                <a:latin typeface="Times New Roman"/>
                <a:ea typeface="Times New Roman"/>
                <a:cs typeface="Times New Roman"/>
                <a:sym typeface="Times New Roman"/>
              </a:rPr>
              <a:t>(</a:t>
            </a:r>
            <a:r>
              <a:rPr b="1" i="1" lang="en-US" sz="3200" u="none" cap="none" strike="noStrike">
                <a:solidFill>
                  <a:srgbClr val="FFFF99"/>
                </a:solidFill>
                <a:latin typeface="Times New Roman"/>
                <a:ea typeface="Times New Roman"/>
                <a:cs typeface="Times New Roman"/>
                <a:sym typeface="Times New Roman"/>
              </a:rPr>
              <a:t>n</a:t>
            </a:r>
            <a:r>
              <a:rPr b="1" i="0" lang="en-US" sz="3200" u="none" cap="none" strike="noStrike">
                <a:solidFill>
                  <a:srgbClr val="FFFF99"/>
                </a:solidFill>
                <a:latin typeface="Times New Roman"/>
                <a:ea typeface="Times New Roman"/>
                <a:cs typeface="Times New Roman"/>
                <a:sym typeface="Times New Roman"/>
              </a:rPr>
              <a:t>)</a:t>
            </a:r>
            <a:endParaRPr/>
          </a:p>
        </p:txBody>
      </p:sp>
      <p:grpSp>
        <p:nvGrpSpPr>
          <p:cNvPr id="73" name="Google Shape;73;p3"/>
          <p:cNvGrpSpPr/>
          <p:nvPr/>
        </p:nvGrpSpPr>
        <p:grpSpPr>
          <a:xfrm>
            <a:off x="836612" y="3429000"/>
            <a:ext cx="6267450" cy="2530475"/>
            <a:chOff x="623" y="2496"/>
            <a:chExt cx="3948" cy="1594"/>
          </a:xfrm>
        </p:grpSpPr>
        <p:sp>
          <p:nvSpPr>
            <p:cNvPr id="74" name="Google Shape;74;p3"/>
            <p:cNvSpPr txBox="1"/>
            <p:nvPr/>
          </p:nvSpPr>
          <p:spPr>
            <a:xfrm>
              <a:off x="623" y="3408"/>
              <a:ext cx="938" cy="2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running time</a:t>
              </a:r>
              <a:endParaRPr/>
            </a:p>
          </p:txBody>
        </p:sp>
        <p:sp>
          <p:nvSpPr>
            <p:cNvPr id="75" name="Google Shape;75;p3"/>
            <p:cNvSpPr txBox="1"/>
            <p:nvPr/>
          </p:nvSpPr>
          <p:spPr>
            <a:xfrm>
              <a:off x="1632" y="3456"/>
              <a:ext cx="1313" cy="6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execution time</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for basic operation</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or </a:t>
              </a:r>
              <a:r>
                <a:rPr b="0" i="0" lang="en-US" sz="2000" u="none">
                  <a:solidFill>
                    <a:srgbClr val="FF6600"/>
                  </a:solidFill>
                  <a:latin typeface="Times New Roman"/>
                  <a:ea typeface="Times New Roman"/>
                  <a:cs typeface="Times New Roman"/>
                  <a:sym typeface="Times New Roman"/>
                </a:rPr>
                <a:t>cost</a:t>
              </a:r>
              <a:endParaRPr/>
            </a:p>
          </p:txBody>
        </p:sp>
        <p:sp>
          <p:nvSpPr>
            <p:cNvPr id="76" name="Google Shape;76;p3"/>
            <p:cNvSpPr txBox="1"/>
            <p:nvPr/>
          </p:nvSpPr>
          <p:spPr>
            <a:xfrm>
              <a:off x="3120" y="3408"/>
              <a:ext cx="1451" cy="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Number of times basic operation is executed</a:t>
              </a:r>
              <a:endParaRPr/>
            </a:p>
          </p:txBody>
        </p:sp>
        <p:cxnSp>
          <p:nvCxnSpPr>
            <p:cNvPr id="77" name="Google Shape;77;p3"/>
            <p:cNvCxnSpPr/>
            <p:nvPr/>
          </p:nvCxnSpPr>
          <p:spPr>
            <a:xfrm flipH="1" rot="10800000">
              <a:off x="1104" y="3216"/>
              <a:ext cx="576" cy="144"/>
            </a:xfrm>
            <a:prstGeom prst="straightConnector1">
              <a:avLst/>
            </a:prstGeom>
            <a:noFill/>
            <a:ln cap="flat" cmpd="sng" w="38100">
              <a:solidFill>
                <a:srgbClr val="FF0000"/>
              </a:solidFill>
              <a:prstDash val="solid"/>
              <a:miter lim="800000"/>
              <a:headEnd len="med" w="med" type="none"/>
              <a:tailEnd len="med" w="med" type="triangle"/>
            </a:ln>
          </p:spPr>
        </p:cxnSp>
        <p:cxnSp>
          <p:nvCxnSpPr>
            <p:cNvPr id="78" name="Google Shape;78;p3"/>
            <p:cNvCxnSpPr/>
            <p:nvPr/>
          </p:nvCxnSpPr>
          <p:spPr>
            <a:xfrm flipH="1" rot="10800000">
              <a:off x="2304" y="3264"/>
              <a:ext cx="192" cy="240"/>
            </a:xfrm>
            <a:prstGeom prst="straightConnector1">
              <a:avLst/>
            </a:prstGeom>
            <a:noFill/>
            <a:ln cap="flat" cmpd="sng" w="38100">
              <a:solidFill>
                <a:srgbClr val="FF0000"/>
              </a:solidFill>
              <a:prstDash val="solid"/>
              <a:miter lim="800000"/>
              <a:headEnd len="med" w="med" type="none"/>
              <a:tailEnd len="med" w="med" type="triangle"/>
            </a:ln>
          </p:spPr>
        </p:cxnSp>
        <p:cxnSp>
          <p:nvCxnSpPr>
            <p:cNvPr id="79" name="Google Shape;79;p3"/>
            <p:cNvCxnSpPr/>
            <p:nvPr/>
          </p:nvCxnSpPr>
          <p:spPr>
            <a:xfrm rot="10800000">
              <a:off x="2880" y="3264"/>
              <a:ext cx="336" cy="240"/>
            </a:xfrm>
            <a:prstGeom prst="straightConnector1">
              <a:avLst/>
            </a:prstGeom>
            <a:noFill/>
            <a:ln cap="flat" cmpd="sng" w="38100">
              <a:solidFill>
                <a:srgbClr val="FF0000"/>
              </a:solidFill>
              <a:prstDash val="solid"/>
              <a:miter lim="800000"/>
              <a:headEnd len="med" w="med" type="none"/>
              <a:tailEnd len="med" w="med" type="triangle"/>
            </a:ln>
          </p:spPr>
        </p:cxnSp>
        <p:sp>
          <p:nvSpPr>
            <p:cNvPr id="80" name="Google Shape;80;p3"/>
            <p:cNvSpPr txBox="1"/>
            <p:nvPr/>
          </p:nvSpPr>
          <p:spPr>
            <a:xfrm>
              <a:off x="2447" y="2496"/>
              <a:ext cx="734" cy="2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input size</a:t>
              </a:r>
              <a:endParaRPr/>
            </a:p>
          </p:txBody>
        </p:sp>
        <p:cxnSp>
          <p:nvCxnSpPr>
            <p:cNvPr id="81" name="Google Shape;81;p3"/>
            <p:cNvCxnSpPr/>
            <p:nvPr/>
          </p:nvCxnSpPr>
          <p:spPr>
            <a:xfrm>
              <a:off x="2736" y="2784"/>
              <a:ext cx="336" cy="240"/>
            </a:xfrm>
            <a:prstGeom prst="straightConnector1">
              <a:avLst/>
            </a:prstGeom>
            <a:noFill/>
            <a:ln cap="flat" cmpd="sng" w="38100">
              <a:solidFill>
                <a:srgbClr val="FF0000"/>
              </a:solidFill>
              <a:prstDash val="solid"/>
              <a:miter lim="800000"/>
              <a:headEnd len="med" w="med" type="none"/>
              <a:tailEnd len="med" w="med" type="triangle"/>
            </a:ln>
          </p:spPr>
        </p:cxnSp>
        <p:cxnSp>
          <p:nvCxnSpPr>
            <p:cNvPr id="82" name="Google Shape;82;p3"/>
            <p:cNvCxnSpPr/>
            <p:nvPr/>
          </p:nvCxnSpPr>
          <p:spPr>
            <a:xfrm flipH="1">
              <a:off x="2016" y="2736"/>
              <a:ext cx="528" cy="288"/>
            </a:xfrm>
            <a:prstGeom prst="straightConnector1">
              <a:avLst/>
            </a:prstGeom>
            <a:noFill/>
            <a:ln cap="flat" cmpd="sng" w="38100">
              <a:solidFill>
                <a:srgbClr val="FF0000"/>
              </a:solidFill>
              <a:prstDash val="solid"/>
              <a:miter lim="800000"/>
              <a:headEnd len="med" w="med" type="none"/>
              <a:tailEnd len="med" w="med" type="triangle"/>
            </a:ln>
          </p:spPr>
        </p:cxnSp>
      </p:grpSp>
      <p:sp>
        <p:nvSpPr>
          <p:cNvPr id="83" name="Google Shape;83;p3"/>
          <p:cNvSpPr txBox="1"/>
          <p:nvPr/>
        </p:nvSpPr>
        <p:spPr>
          <a:xfrm>
            <a:off x="685800" y="6019800"/>
            <a:ext cx="7086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6600"/>
              </a:buClr>
              <a:buSzPts val="2400"/>
              <a:buFont typeface="Times New Roman"/>
              <a:buNone/>
            </a:pPr>
            <a:r>
              <a:rPr b="0" i="0" lang="en-US" sz="2400" u="none">
                <a:solidFill>
                  <a:srgbClr val="FF6600"/>
                </a:solidFill>
                <a:latin typeface="Times New Roman"/>
                <a:ea typeface="Times New Roman"/>
                <a:cs typeface="Times New Roman"/>
                <a:sym typeface="Times New Roman"/>
              </a:rPr>
              <a:t>Note: Different basic operations may cost differently!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4"/>
          <p:cNvSpPr txBox="1"/>
          <p:nvPr>
            <p:ph type="title"/>
          </p:nvPr>
        </p:nvSpPr>
        <p:spPr>
          <a:xfrm>
            <a:off x="611187" y="198437"/>
            <a:ext cx="8532812"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Input size and basic operation examples</a:t>
            </a:r>
            <a:endParaRPr/>
          </a:p>
        </p:txBody>
      </p:sp>
      <p:grpSp>
        <p:nvGrpSpPr>
          <p:cNvPr id="90" name="Google Shape;90;p4"/>
          <p:cNvGrpSpPr/>
          <p:nvPr/>
        </p:nvGrpSpPr>
        <p:grpSpPr>
          <a:xfrm>
            <a:off x="609600" y="1295400"/>
            <a:ext cx="8305800" cy="4876800"/>
            <a:chOff x="384" y="816"/>
            <a:chExt cx="5232" cy="3072"/>
          </a:xfrm>
        </p:grpSpPr>
        <p:sp>
          <p:nvSpPr>
            <p:cNvPr id="91" name="Google Shape;91;p4"/>
            <p:cNvSpPr txBox="1"/>
            <p:nvPr/>
          </p:nvSpPr>
          <p:spPr>
            <a:xfrm>
              <a:off x="4032" y="816"/>
              <a:ext cx="1584" cy="58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Basic operation</a:t>
              </a:r>
              <a:endParaRPr/>
            </a:p>
          </p:txBody>
        </p:sp>
        <p:sp>
          <p:nvSpPr>
            <p:cNvPr id="92" name="Google Shape;92;p4"/>
            <p:cNvSpPr txBox="1"/>
            <p:nvPr/>
          </p:nvSpPr>
          <p:spPr>
            <a:xfrm>
              <a:off x="2112" y="816"/>
              <a:ext cx="1920" cy="58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Input size measure</a:t>
              </a:r>
              <a:endParaRPr/>
            </a:p>
          </p:txBody>
        </p:sp>
        <p:sp>
          <p:nvSpPr>
            <p:cNvPr id="93" name="Google Shape;93;p4"/>
            <p:cNvSpPr txBox="1"/>
            <p:nvPr/>
          </p:nvSpPr>
          <p:spPr>
            <a:xfrm>
              <a:off x="384" y="816"/>
              <a:ext cx="1728" cy="58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Problem</a:t>
              </a:r>
              <a:endParaRPr/>
            </a:p>
          </p:txBody>
        </p:sp>
        <p:sp>
          <p:nvSpPr>
            <p:cNvPr id="94" name="Google Shape;94;p4"/>
            <p:cNvSpPr txBox="1"/>
            <p:nvPr/>
          </p:nvSpPr>
          <p:spPr>
            <a:xfrm>
              <a:off x="4032" y="3289"/>
              <a:ext cx="1584"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Visiting a vertex or traversing an edge</a:t>
              </a:r>
              <a:endParaRPr/>
            </a:p>
          </p:txBody>
        </p:sp>
        <p:sp>
          <p:nvSpPr>
            <p:cNvPr id="95" name="Google Shape;95;p4"/>
            <p:cNvSpPr txBox="1"/>
            <p:nvPr/>
          </p:nvSpPr>
          <p:spPr>
            <a:xfrm>
              <a:off x="2112" y="3289"/>
              <a:ext cx="1920"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#vertices and/or edges</a:t>
              </a:r>
              <a:endParaRPr/>
            </a:p>
          </p:txBody>
        </p:sp>
        <p:sp>
          <p:nvSpPr>
            <p:cNvPr id="96" name="Google Shape;96;p4"/>
            <p:cNvSpPr txBox="1"/>
            <p:nvPr/>
          </p:nvSpPr>
          <p:spPr>
            <a:xfrm>
              <a:off x="384" y="3289"/>
              <a:ext cx="1728"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Typical graph problem</a:t>
              </a:r>
              <a:endParaRPr/>
            </a:p>
          </p:txBody>
        </p:sp>
        <p:sp>
          <p:nvSpPr>
            <p:cNvPr id="97" name="Google Shape;97;p4"/>
            <p:cNvSpPr txBox="1"/>
            <p:nvPr/>
          </p:nvSpPr>
          <p:spPr>
            <a:xfrm>
              <a:off x="4032" y="2690"/>
              <a:ext cx="1584"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Division</a:t>
              </a:r>
              <a:endParaRPr/>
            </a:p>
          </p:txBody>
        </p:sp>
        <p:sp>
          <p:nvSpPr>
            <p:cNvPr id="98" name="Google Shape;98;p4"/>
            <p:cNvSpPr txBox="1"/>
            <p:nvPr/>
          </p:nvSpPr>
          <p:spPr>
            <a:xfrm>
              <a:off x="2112" y="2690"/>
              <a:ext cx="1920"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size = number of digits (in binary representation)</a:t>
              </a:r>
              <a:endParaRPr/>
            </a:p>
          </p:txBody>
        </p:sp>
        <p:sp>
          <p:nvSpPr>
            <p:cNvPr id="99" name="Google Shape;99;p4"/>
            <p:cNvSpPr txBox="1"/>
            <p:nvPr/>
          </p:nvSpPr>
          <p:spPr>
            <a:xfrm>
              <a:off x="384" y="2690"/>
              <a:ext cx="1728"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Checking primality of a given integer </a:t>
              </a:r>
              <a:r>
                <a:rPr b="1" i="1" lang="en-US" sz="2000" u="none">
                  <a:solidFill>
                    <a:srgbClr val="FFFF99"/>
                  </a:solidFill>
                  <a:latin typeface="Times New Roman"/>
                  <a:ea typeface="Times New Roman"/>
                  <a:cs typeface="Times New Roman"/>
                  <a:sym typeface="Times New Roman"/>
                </a:rPr>
                <a:t>n</a:t>
              </a:r>
              <a:endParaRPr/>
            </a:p>
          </p:txBody>
        </p:sp>
        <p:sp>
          <p:nvSpPr>
            <p:cNvPr id="100" name="Google Shape;100;p4"/>
            <p:cNvSpPr txBox="1"/>
            <p:nvPr/>
          </p:nvSpPr>
          <p:spPr>
            <a:xfrm>
              <a:off x="4032" y="1996"/>
              <a:ext cx="1584" cy="69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Multiplication of two numbers</a:t>
              </a:r>
              <a:endParaRPr/>
            </a:p>
          </p:txBody>
        </p:sp>
        <p:sp>
          <p:nvSpPr>
            <p:cNvPr id="101" name="Google Shape;101;p4"/>
            <p:cNvSpPr txBox="1"/>
            <p:nvPr/>
          </p:nvSpPr>
          <p:spPr>
            <a:xfrm>
              <a:off x="2112" y="1996"/>
              <a:ext cx="1920" cy="69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Matrix dimensions or total number of elements</a:t>
              </a:r>
              <a:endParaRPr/>
            </a:p>
          </p:txBody>
        </p:sp>
        <p:sp>
          <p:nvSpPr>
            <p:cNvPr id="102" name="Google Shape;102;p4"/>
            <p:cNvSpPr txBox="1"/>
            <p:nvPr/>
          </p:nvSpPr>
          <p:spPr>
            <a:xfrm>
              <a:off x="384" y="1996"/>
              <a:ext cx="1728" cy="69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Multiplication of two matrices</a:t>
              </a:r>
              <a:endParaRPr/>
            </a:p>
          </p:txBody>
        </p:sp>
        <p:sp>
          <p:nvSpPr>
            <p:cNvPr id="103" name="Google Shape;103;p4"/>
            <p:cNvSpPr txBox="1"/>
            <p:nvPr/>
          </p:nvSpPr>
          <p:spPr>
            <a:xfrm>
              <a:off x="4032" y="1397"/>
              <a:ext cx="1584"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Key comparison</a:t>
              </a:r>
              <a:endParaRPr/>
            </a:p>
          </p:txBody>
        </p:sp>
        <p:sp>
          <p:nvSpPr>
            <p:cNvPr id="104" name="Google Shape;104;p4"/>
            <p:cNvSpPr txBox="1"/>
            <p:nvPr/>
          </p:nvSpPr>
          <p:spPr>
            <a:xfrm>
              <a:off x="2112" y="1397"/>
              <a:ext cx="1920"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Number of list’s items,  i.e. </a:t>
              </a:r>
              <a:r>
                <a:rPr b="1" i="1" lang="en-US" sz="2000" u="none">
                  <a:solidFill>
                    <a:srgbClr val="FFFF99"/>
                  </a:solidFill>
                  <a:latin typeface="Times New Roman"/>
                  <a:ea typeface="Times New Roman"/>
                  <a:cs typeface="Times New Roman"/>
                  <a:sym typeface="Times New Roman"/>
                </a:rPr>
                <a:t>n</a:t>
              </a:r>
              <a:endParaRPr/>
            </a:p>
          </p:txBody>
        </p:sp>
        <p:sp>
          <p:nvSpPr>
            <p:cNvPr id="105" name="Google Shape;105;p4"/>
            <p:cNvSpPr txBox="1"/>
            <p:nvPr/>
          </p:nvSpPr>
          <p:spPr>
            <a:xfrm>
              <a:off x="384" y="1397"/>
              <a:ext cx="1728" cy="5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Searching for key in a list of </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items</a:t>
              </a:r>
              <a:endParaRPr/>
            </a:p>
          </p:txBody>
        </p:sp>
        <p:cxnSp>
          <p:nvCxnSpPr>
            <p:cNvPr id="106" name="Google Shape;106;p4"/>
            <p:cNvCxnSpPr/>
            <p:nvPr/>
          </p:nvCxnSpPr>
          <p:spPr>
            <a:xfrm>
              <a:off x="384" y="816"/>
              <a:ext cx="5232" cy="0"/>
            </a:xfrm>
            <a:prstGeom prst="straightConnector1">
              <a:avLst/>
            </a:prstGeom>
            <a:noFill/>
            <a:ln cap="sq" cmpd="sng" w="28575">
              <a:solidFill>
                <a:schemeClr val="dk1"/>
              </a:solidFill>
              <a:prstDash val="solid"/>
              <a:miter lim="800000"/>
              <a:headEnd len="med" w="med" type="none"/>
              <a:tailEnd len="med" w="med" type="none"/>
            </a:ln>
          </p:spPr>
        </p:cxnSp>
        <p:cxnSp>
          <p:nvCxnSpPr>
            <p:cNvPr id="107" name="Google Shape;107;p4"/>
            <p:cNvCxnSpPr/>
            <p:nvPr/>
          </p:nvCxnSpPr>
          <p:spPr>
            <a:xfrm>
              <a:off x="384" y="1996"/>
              <a:ext cx="5232" cy="0"/>
            </a:xfrm>
            <a:prstGeom prst="straightConnector1">
              <a:avLst/>
            </a:prstGeom>
            <a:noFill/>
            <a:ln cap="flat" cmpd="sng" w="12700">
              <a:solidFill>
                <a:schemeClr val="dk1"/>
              </a:solidFill>
              <a:prstDash val="solid"/>
              <a:miter lim="800000"/>
              <a:headEnd len="med" w="med" type="none"/>
              <a:tailEnd len="med" w="med" type="none"/>
            </a:ln>
          </p:spPr>
        </p:cxnSp>
        <p:cxnSp>
          <p:nvCxnSpPr>
            <p:cNvPr id="108" name="Google Shape;108;p4"/>
            <p:cNvCxnSpPr/>
            <p:nvPr/>
          </p:nvCxnSpPr>
          <p:spPr>
            <a:xfrm>
              <a:off x="384" y="2690"/>
              <a:ext cx="5232" cy="0"/>
            </a:xfrm>
            <a:prstGeom prst="straightConnector1">
              <a:avLst/>
            </a:prstGeom>
            <a:noFill/>
            <a:ln cap="flat" cmpd="sng" w="12700">
              <a:solidFill>
                <a:schemeClr val="dk1"/>
              </a:solidFill>
              <a:prstDash val="solid"/>
              <a:miter lim="800000"/>
              <a:headEnd len="med" w="med" type="none"/>
              <a:tailEnd len="med" w="med" type="none"/>
            </a:ln>
          </p:spPr>
        </p:cxnSp>
        <p:cxnSp>
          <p:nvCxnSpPr>
            <p:cNvPr id="109" name="Google Shape;109;p4"/>
            <p:cNvCxnSpPr/>
            <p:nvPr/>
          </p:nvCxnSpPr>
          <p:spPr>
            <a:xfrm>
              <a:off x="384" y="3289"/>
              <a:ext cx="5232" cy="0"/>
            </a:xfrm>
            <a:prstGeom prst="straightConnector1">
              <a:avLst/>
            </a:prstGeom>
            <a:noFill/>
            <a:ln cap="flat" cmpd="sng" w="12700">
              <a:solidFill>
                <a:schemeClr val="dk1"/>
              </a:solidFill>
              <a:prstDash val="solid"/>
              <a:miter lim="800000"/>
              <a:headEnd len="med" w="med" type="none"/>
              <a:tailEnd len="med" w="med" type="none"/>
            </a:ln>
          </p:spPr>
        </p:cxnSp>
        <p:cxnSp>
          <p:nvCxnSpPr>
            <p:cNvPr id="110" name="Google Shape;110;p4"/>
            <p:cNvCxnSpPr/>
            <p:nvPr/>
          </p:nvCxnSpPr>
          <p:spPr>
            <a:xfrm>
              <a:off x="384" y="3888"/>
              <a:ext cx="5232" cy="0"/>
            </a:xfrm>
            <a:prstGeom prst="straightConnector1">
              <a:avLst/>
            </a:prstGeom>
            <a:noFill/>
            <a:ln cap="sq" cmpd="sng" w="28575">
              <a:solidFill>
                <a:schemeClr val="dk1"/>
              </a:solidFill>
              <a:prstDash val="solid"/>
              <a:miter lim="800000"/>
              <a:headEnd len="med" w="med" type="none"/>
              <a:tailEnd len="med" w="med" type="none"/>
            </a:ln>
          </p:spPr>
        </p:cxnSp>
        <p:cxnSp>
          <p:nvCxnSpPr>
            <p:cNvPr id="111" name="Google Shape;111;p4"/>
            <p:cNvCxnSpPr/>
            <p:nvPr/>
          </p:nvCxnSpPr>
          <p:spPr>
            <a:xfrm>
              <a:off x="384" y="816"/>
              <a:ext cx="0" cy="3072"/>
            </a:xfrm>
            <a:prstGeom prst="straightConnector1">
              <a:avLst/>
            </a:prstGeom>
            <a:noFill/>
            <a:ln cap="sq" cmpd="sng" w="28575">
              <a:solidFill>
                <a:schemeClr val="dk1"/>
              </a:solidFill>
              <a:prstDash val="solid"/>
              <a:miter lim="800000"/>
              <a:headEnd len="med" w="med" type="none"/>
              <a:tailEnd len="med" w="med" type="none"/>
            </a:ln>
          </p:spPr>
        </p:cxnSp>
        <p:cxnSp>
          <p:nvCxnSpPr>
            <p:cNvPr id="112" name="Google Shape;112;p4"/>
            <p:cNvCxnSpPr/>
            <p:nvPr/>
          </p:nvCxnSpPr>
          <p:spPr>
            <a:xfrm>
              <a:off x="2112" y="816"/>
              <a:ext cx="0" cy="3072"/>
            </a:xfrm>
            <a:prstGeom prst="straightConnector1">
              <a:avLst/>
            </a:prstGeom>
            <a:noFill/>
            <a:ln cap="flat" cmpd="sng" w="12700">
              <a:solidFill>
                <a:schemeClr val="dk1"/>
              </a:solidFill>
              <a:prstDash val="solid"/>
              <a:miter lim="800000"/>
              <a:headEnd len="med" w="med" type="none"/>
              <a:tailEnd len="med" w="med" type="none"/>
            </a:ln>
          </p:spPr>
        </p:cxnSp>
        <p:cxnSp>
          <p:nvCxnSpPr>
            <p:cNvPr id="113" name="Google Shape;113;p4"/>
            <p:cNvCxnSpPr/>
            <p:nvPr/>
          </p:nvCxnSpPr>
          <p:spPr>
            <a:xfrm>
              <a:off x="4032" y="816"/>
              <a:ext cx="0" cy="3072"/>
            </a:xfrm>
            <a:prstGeom prst="straightConnector1">
              <a:avLst/>
            </a:prstGeom>
            <a:noFill/>
            <a:ln cap="flat" cmpd="sng" w="12700">
              <a:solidFill>
                <a:schemeClr val="dk1"/>
              </a:solidFill>
              <a:prstDash val="solid"/>
              <a:miter lim="800000"/>
              <a:headEnd len="med" w="med" type="none"/>
              <a:tailEnd len="med" w="med" type="none"/>
            </a:ln>
          </p:spPr>
        </p:cxnSp>
        <p:cxnSp>
          <p:nvCxnSpPr>
            <p:cNvPr id="114" name="Google Shape;114;p4"/>
            <p:cNvCxnSpPr/>
            <p:nvPr/>
          </p:nvCxnSpPr>
          <p:spPr>
            <a:xfrm>
              <a:off x="5616" y="816"/>
              <a:ext cx="0" cy="3072"/>
            </a:xfrm>
            <a:prstGeom prst="straightConnector1">
              <a:avLst/>
            </a:prstGeom>
            <a:noFill/>
            <a:ln cap="sq" cmpd="sng" w="28575">
              <a:solidFill>
                <a:schemeClr val="dk1"/>
              </a:solidFill>
              <a:prstDash val="solid"/>
              <a:miter lim="800000"/>
              <a:headEnd len="med" w="med" type="none"/>
              <a:tailEnd len="med" w="med" type="none"/>
            </a:ln>
          </p:spPr>
        </p:cxnSp>
        <p:cxnSp>
          <p:nvCxnSpPr>
            <p:cNvPr id="115" name="Google Shape;115;p4"/>
            <p:cNvCxnSpPr/>
            <p:nvPr/>
          </p:nvCxnSpPr>
          <p:spPr>
            <a:xfrm>
              <a:off x="384" y="1397"/>
              <a:ext cx="5232" cy="0"/>
            </a:xfrm>
            <a:prstGeom prst="straightConnector1">
              <a:avLst/>
            </a:prstGeom>
            <a:noFill/>
            <a:ln cap="flat" cmpd="sng" w="12700">
              <a:solidFill>
                <a:schemeClr val="dk1"/>
              </a:solidFill>
              <a:prstDash val="solid"/>
              <a:miter lim="800000"/>
              <a:headEnd len="med" w="med" type="none"/>
              <a:tailEnd len="med" w="med"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5"/>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Empirical analysis of time efficiency</a:t>
            </a:r>
            <a:endParaRPr/>
          </a:p>
        </p:txBody>
      </p:sp>
      <p:sp>
        <p:nvSpPr>
          <p:cNvPr id="122" name="Google Shape;122;p5"/>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Select a specific (typical) sample of inputs</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Use physical unit of time (e.g.,  milliseconds)</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cap="none" strike="noStrike">
                <a:solidFill>
                  <a:srgbClr val="FFFF99"/>
                </a:solidFill>
                <a:latin typeface="Times New Roman"/>
                <a:ea typeface="Times New Roman"/>
                <a:cs typeface="Times New Roman"/>
                <a:sym typeface="Times New Roman"/>
              </a:rPr>
              <a:t>        or</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cap="none" strike="noStrike">
                <a:solidFill>
                  <a:srgbClr val="FFFF99"/>
                </a:solidFill>
                <a:latin typeface="Times New Roman"/>
                <a:ea typeface="Times New Roman"/>
                <a:cs typeface="Times New Roman"/>
                <a:sym typeface="Times New Roman"/>
              </a:rPr>
              <a:t>    Count actual number of basic operation’s executions</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Analyze the empirical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6"/>
          <p:cNvSpPr txBox="1"/>
          <p:nvPr>
            <p:ph type="title"/>
          </p:nvPr>
        </p:nvSpPr>
        <p:spPr>
          <a:xfrm>
            <a:off x="609600" y="228600"/>
            <a:ext cx="758825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Best-case, average-case, worst-case</a:t>
            </a:r>
            <a:endParaRPr/>
          </a:p>
        </p:txBody>
      </p:sp>
      <p:sp>
        <p:nvSpPr>
          <p:cNvPr id="129" name="Google Shape;129;p6"/>
          <p:cNvSpPr txBox="1"/>
          <p:nvPr>
            <p:ph idx="1" type="body"/>
          </p:nvPr>
        </p:nvSpPr>
        <p:spPr>
          <a:xfrm>
            <a:off x="457200" y="1295400"/>
            <a:ext cx="8686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cap="none" strike="noStrike">
                <a:solidFill>
                  <a:srgbClr val="FFFF99"/>
                </a:solidFill>
                <a:latin typeface="Times New Roman"/>
                <a:ea typeface="Times New Roman"/>
                <a:cs typeface="Times New Roman"/>
                <a:sym typeface="Times New Roman"/>
              </a:rPr>
              <a:t>For some algorithms, efficiency depends on form of input:</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Worst case:    C</a:t>
            </a:r>
            <a:r>
              <a:rPr b="1" baseline="-25000" i="0" lang="en-US" sz="2400" u="none" cap="none" strike="noStrike">
                <a:solidFill>
                  <a:srgbClr val="FFFF99"/>
                </a:solidFill>
                <a:latin typeface="Times New Roman"/>
                <a:ea typeface="Times New Roman"/>
                <a:cs typeface="Times New Roman"/>
                <a:sym typeface="Times New Roman"/>
              </a:rPr>
              <a:t>worst</a:t>
            </a:r>
            <a:r>
              <a:rPr b="1" i="0" lang="en-US" sz="2400" u="none" cap="none" strike="noStrike">
                <a:solidFill>
                  <a:srgbClr val="FFFF99"/>
                </a:solidFill>
                <a:latin typeface="Times New Roman"/>
                <a:ea typeface="Times New Roman"/>
                <a:cs typeface="Times New Roman"/>
                <a:sym typeface="Times New Roman"/>
              </a:rPr>
              <a:t>(</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maximum over inputs of size </a:t>
            </a:r>
            <a:r>
              <a:rPr b="1" i="1" lang="en-US" sz="2400" u="none" cap="none" strike="noStrike">
                <a:solidFill>
                  <a:srgbClr val="FFFF99"/>
                </a:solidFill>
                <a:latin typeface="Times New Roman"/>
                <a:ea typeface="Times New Roman"/>
                <a:cs typeface="Times New Roman"/>
                <a:sym typeface="Times New Roman"/>
              </a:rPr>
              <a:t>n</a:t>
            </a:r>
            <a:endParaRPr/>
          </a:p>
          <a:p>
            <a:pPr indent="-228600" lvl="0" marL="342900" marR="0" rtl="0" algn="l">
              <a:lnSpc>
                <a:spcPct val="100000"/>
              </a:lnSpc>
              <a:spcBef>
                <a:spcPts val="480"/>
              </a:spcBef>
              <a:spcAft>
                <a:spcPts val="0"/>
              </a:spcAft>
              <a:buClr>
                <a:srgbClr val="A50021"/>
              </a:buClr>
              <a:buSzPts val="1800"/>
              <a:buFont typeface="Arial"/>
              <a:buNone/>
            </a:pPr>
            <a:r>
              <a:t/>
            </a:r>
            <a:endParaRPr b="1" i="1"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Best case:        C</a:t>
            </a:r>
            <a:r>
              <a:rPr b="1" baseline="-25000" i="0" lang="en-US" sz="2400" u="none" cap="none" strike="noStrike">
                <a:solidFill>
                  <a:srgbClr val="FFFF99"/>
                </a:solidFill>
                <a:latin typeface="Times New Roman"/>
                <a:ea typeface="Times New Roman"/>
                <a:cs typeface="Times New Roman"/>
                <a:sym typeface="Times New Roman"/>
              </a:rPr>
              <a:t>best</a:t>
            </a:r>
            <a:r>
              <a:rPr b="1" i="0" lang="en-US" sz="2400" u="none" cap="none" strike="noStrike">
                <a:solidFill>
                  <a:srgbClr val="FFFF99"/>
                </a:solidFill>
                <a:latin typeface="Times New Roman"/>
                <a:ea typeface="Times New Roman"/>
                <a:cs typeface="Times New Roman"/>
                <a:sym typeface="Times New Roman"/>
              </a:rPr>
              <a:t>(</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minimum over inputs of size </a:t>
            </a:r>
            <a:r>
              <a:rPr b="1" i="1" lang="en-US" sz="2400" u="none" cap="none" strike="noStrike">
                <a:solidFill>
                  <a:srgbClr val="FFFF99"/>
                </a:solidFill>
                <a:latin typeface="Times New Roman"/>
                <a:ea typeface="Times New Roman"/>
                <a:cs typeface="Times New Roman"/>
                <a:sym typeface="Times New Roman"/>
              </a:rPr>
              <a:t>n</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cap="none" strike="noStrike">
                <a:solidFill>
                  <a:srgbClr val="FFFF99"/>
                </a:solidFill>
                <a:latin typeface="Times New Roman"/>
                <a:ea typeface="Times New Roman"/>
                <a:cs typeface="Times New Roman"/>
                <a:sym typeface="Times New Roman"/>
              </a:rPr>
              <a:t>Average case:  C</a:t>
            </a:r>
            <a:r>
              <a:rPr b="1" baseline="-25000" i="0" lang="en-US" sz="2400" u="none" cap="none" strike="noStrike">
                <a:solidFill>
                  <a:srgbClr val="FFFF99"/>
                </a:solidFill>
                <a:latin typeface="Times New Roman"/>
                <a:ea typeface="Times New Roman"/>
                <a:cs typeface="Times New Roman"/>
                <a:sym typeface="Times New Roman"/>
              </a:rPr>
              <a:t>avg</a:t>
            </a:r>
            <a:r>
              <a:rPr b="1" i="0" lang="en-US" sz="2400" u="none" cap="none" strike="noStrike">
                <a:solidFill>
                  <a:srgbClr val="FFFF99"/>
                </a:solidFill>
                <a:latin typeface="Times New Roman"/>
                <a:ea typeface="Times New Roman"/>
                <a:cs typeface="Times New Roman"/>
                <a:sym typeface="Times New Roman"/>
              </a:rPr>
              <a:t>(</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“average” over inputs of size </a:t>
            </a:r>
            <a:r>
              <a:rPr b="1" i="1" lang="en-US" sz="2400" u="none" cap="none" strike="noStrike">
                <a:solidFill>
                  <a:srgbClr val="FFFF99"/>
                </a:solidFill>
                <a:latin typeface="Times New Roman"/>
                <a:ea typeface="Times New Roman"/>
                <a:cs typeface="Times New Roman"/>
                <a:sym typeface="Times New Roman"/>
              </a:rPr>
              <a:t>n</a:t>
            </a:r>
            <a:endParaRPr b="1" i="0" sz="2400" u="none" cap="none" strike="noStrike">
              <a:solidFill>
                <a:srgbClr val="FFFF99"/>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rgbClr val="A50021"/>
              </a:buClr>
              <a:buSzPts val="2000"/>
              <a:buFont typeface="Times New Roman"/>
              <a:buChar char="•"/>
            </a:pPr>
            <a:r>
              <a:rPr b="1" i="0" lang="en-US" sz="2000" u="none" cap="none" strike="noStrike">
                <a:solidFill>
                  <a:srgbClr val="FFFF99"/>
                </a:solidFill>
                <a:latin typeface="Times New Roman"/>
                <a:ea typeface="Times New Roman"/>
                <a:cs typeface="Times New Roman"/>
                <a:sym typeface="Times New Roman"/>
              </a:rPr>
              <a:t>Number of times the basic operation will be executed on typical  input</a:t>
            </a:r>
            <a:endParaRPr/>
          </a:p>
          <a:p>
            <a:pPr indent="-285750" lvl="1" marL="742950" marR="0" rtl="0" algn="l">
              <a:lnSpc>
                <a:spcPct val="100000"/>
              </a:lnSpc>
              <a:spcBef>
                <a:spcPts val="400"/>
              </a:spcBef>
              <a:spcAft>
                <a:spcPts val="0"/>
              </a:spcAft>
              <a:buClr>
                <a:srgbClr val="A50021"/>
              </a:buClr>
              <a:buSzPts val="2000"/>
              <a:buFont typeface="Times New Roman"/>
              <a:buChar char="•"/>
            </a:pPr>
            <a:r>
              <a:rPr b="1" i="0" lang="en-US" sz="2000" u="none" cap="none" strike="noStrike">
                <a:solidFill>
                  <a:srgbClr val="FFFF99"/>
                </a:solidFill>
                <a:latin typeface="Times New Roman"/>
                <a:ea typeface="Times New Roman"/>
                <a:cs typeface="Times New Roman"/>
                <a:sym typeface="Times New Roman"/>
              </a:rPr>
              <a:t>NOT the average of worst and best case</a:t>
            </a:r>
            <a:endParaRPr/>
          </a:p>
          <a:p>
            <a:pPr indent="-285750" lvl="1" marL="742950" marR="0" rtl="0" algn="l">
              <a:lnSpc>
                <a:spcPct val="100000"/>
              </a:lnSpc>
              <a:spcBef>
                <a:spcPts val="400"/>
              </a:spcBef>
              <a:spcAft>
                <a:spcPts val="0"/>
              </a:spcAft>
              <a:buClr>
                <a:srgbClr val="A50021"/>
              </a:buClr>
              <a:buSzPts val="2000"/>
              <a:buFont typeface="Times New Roman"/>
              <a:buChar char="•"/>
            </a:pPr>
            <a:r>
              <a:rPr b="1" i="0" lang="en-US" sz="2000" u="none" cap="none" strike="noStrike">
                <a:solidFill>
                  <a:srgbClr val="FFFF99"/>
                </a:solidFill>
                <a:latin typeface="Times New Roman"/>
                <a:ea typeface="Times New Roman"/>
                <a:cs typeface="Times New Roman"/>
                <a:sym typeface="Times New Roman"/>
              </a:rPr>
              <a:t>Expected number of basic operations considered as a random variable under some assumption about the probability distribution of all possible inputs. So, avg = expected under uniform distribution.</a:t>
            </a:r>
            <a:endParaRPr/>
          </a:p>
          <a:p>
            <a:pPr indent="-247650" lvl="0" marL="342900" marR="0" rtl="0" algn="l">
              <a:lnSpc>
                <a:spcPct val="100000"/>
              </a:lnSpc>
              <a:spcBef>
                <a:spcPts val="400"/>
              </a:spcBef>
              <a:spcAft>
                <a:spcPts val="0"/>
              </a:spcAft>
              <a:buClr>
                <a:srgbClr val="A50021"/>
              </a:buClr>
              <a:buSzPts val="1500"/>
              <a:buFont typeface="Arial"/>
              <a:buNone/>
            </a:pPr>
            <a:r>
              <a:t/>
            </a:r>
            <a:endParaRPr b="1" i="0" sz="2000" u="none" cap="none" strike="noStrike">
              <a:solidFill>
                <a:srgbClr val="FFFF99"/>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7"/>
          <p:cNvSpPr txBox="1"/>
          <p:nvPr>
            <p:ph idx="4294967295" type="title"/>
          </p:nvPr>
        </p:nvSpPr>
        <p:spPr>
          <a:xfrm>
            <a:off x="609600" y="228600"/>
            <a:ext cx="758825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Sequential search</a:t>
            </a:r>
            <a:endParaRPr/>
          </a:p>
        </p:txBody>
      </p:sp>
      <p:sp>
        <p:nvSpPr>
          <p:cNvPr id="136" name="Google Shape;136;p7"/>
          <p:cNvSpPr txBox="1"/>
          <p:nvPr>
            <p:ph idx="4294967295" type="body"/>
          </p:nvPr>
        </p:nvSpPr>
        <p:spPr>
          <a:xfrm>
            <a:off x="609600" y="4419600"/>
            <a:ext cx="8153400" cy="220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Worst case</a:t>
            </a:r>
            <a:endParaRPr/>
          </a:p>
          <a:p>
            <a:pPr indent="-24765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Best case</a:t>
            </a:r>
            <a:endParaRPr/>
          </a:p>
          <a:p>
            <a:pPr indent="-24765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Average case</a:t>
            </a:r>
            <a:endParaRPr/>
          </a:p>
        </p:txBody>
      </p:sp>
      <p:pic>
        <p:nvPicPr>
          <p:cNvPr id="137" name="Google Shape;137;p7"/>
          <p:cNvPicPr preferRelativeResize="0"/>
          <p:nvPr>
            <p:ph idx="4294967295" type="body"/>
          </p:nvPr>
        </p:nvPicPr>
        <p:blipFill rotWithShape="1">
          <a:blip r:embed="rId3">
            <a:alphaModFix/>
          </a:blip>
          <a:srcRect b="0" l="0" r="0" t="0"/>
          <a:stretch/>
        </p:blipFill>
        <p:spPr>
          <a:xfrm>
            <a:off x="685800" y="1219200"/>
            <a:ext cx="7391400" cy="3281362"/>
          </a:xfrm>
          <a:prstGeom prst="rect">
            <a:avLst/>
          </a:prstGeom>
          <a:noFill/>
          <a:ln>
            <a:noFill/>
          </a:ln>
        </p:spPr>
      </p:pic>
      <p:sp>
        <p:nvSpPr>
          <p:cNvPr id="138" name="Google Shape;138;p7"/>
          <p:cNvSpPr txBox="1"/>
          <p:nvPr/>
        </p:nvSpPr>
        <p:spPr>
          <a:xfrm>
            <a:off x="4038600" y="4800600"/>
            <a:ext cx="2819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n key comparisons</a:t>
            </a:r>
            <a:endParaRPr/>
          </a:p>
        </p:txBody>
      </p:sp>
      <p:sp>
        <p:nvSpPr>
          <p:cNvPr id="139" name="Google Shape;139;p7"/>
          <p:cNvSpPr txBox="1"/>
          <p:nvPr/>
        </p:nvSpPr>
        <p:spPr>
          <a:xfrm>
            <a:off x="3810000" y="5410200"/>
            <a:ext cx="27432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comparisons</a:t>
            </a:r>
            <a:endParaRPr/>
          </a:p>
        </p:txBody>
      </p:sp>
      <p:sp>
        <p:nvSpPr>
          <p:cNvPr id="140" name="Google Shape;140;p7"/>
          <p:cNvSpPr txBox="1"/>
          <p:nvPr/>
        </p:nvSpPr>
        <p:spPr>
          <a:xfrm>
            <a:off x="4191000" y="6019800"/>
            <a:ext cx="3733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(n+1)/2, assuming K is in 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500"/>
                                        <p:tgtEl>
                                          <p:spTgt spid="14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8"/>
          <p:cNvSpPr txBox="1"/>
          <p:nvPr>
            <p:ph type="title"/>
          </p:nvPr>
        </p:nvSpPr>
        <p:spPr>
          <a:xfrm>
            <a:off x="609600" y="228600"/>
            <a:ext cx="8305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Types of formulas for basic operation’s count</a:t>
            </a:r>
            <a:endParaRPr/>
          </a:p>
        </p:txBody>
      </p:sp>
      <p:sp>
        <p:nvSpPr>
          <p:cNvPr id="147" name="Google Shape;147;p8"/>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Exact formula</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e.g., C(</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-1)/2</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Formula indicating order of growth with specific multiplicative constant</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e.g., C(</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Merriweather Sans"/>
                <a:ea typeface="Merriweather Sans"/>
                <a:cs typeface="Merriweather Sans"/>
                <a:sym typeface="Merriweather Sans"/>
              </a:rPr>
              <a:t>≈</a:t>
            </a:r>
            <a:r>
              <a:rPr b="1" i="0" lang="en-US" sz="2400" u="none">
                <a:solidFill>
                  <a:srgbClr val="FFFF99"/>
                </a:solidFill>
                <a:latin typeface="Times New Roman"/>
                <a:ea typeface="Times New Roman"/>
                <a:cs typeface="Times New Roman"/>
                <a:sym typeface="Times New Roman"/>
              </a:rPr>
              <a:t> 0.5 </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2</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Formula indicating order of growth with unknown multiplicative constant</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e.g., C(</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Merriweather Sans"/>
                <a:ea typeface="Merriweather Sans"/>
                <a:cs typeface="Merriweather Sans"/>
                <a:sym typeface="Merriweather Sans"/>
              </a:rPr>
              <a:t>≈</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cn</a:t>
            </a:r>
            <a:r>
              <a:rPr b="1" baseline="30000" i="0" lang="en-US" sz="2400" u="none">
                <a:solidFill>
                  <a:srgbClr val="FFFF99"/>
                </a:solidFill>
                <a:latin typeface="Times New Roman"/>
                <a:ea typeface="Times New Roman"/>
                <a:cs typeface="Times New Roman"/>
                <a:sym typeface="Times New Roman"/>
              </a:rPr>
              <a:t>2</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9"/>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Order of growth </a:t>
            </a:r>
            <a:endParaRPr/>
          </a:p>
        </p:txBody>
      </p:sp>
      <p:sp>
        <p:nvSpPr>
          <p:cNvPr id="154" name="Google Shape;154;p9"/>
          <p:cNvSpPr txBox="1"/>
          <p:nvPr>
            <p:ph idx="1" type="body"/>
          </p:nvPr>
        </p:nvSpPr>
        <p:spPr>
          <a:xfrm>
            <a:off x="609600" y="1266825"/>
            <a:ext cx="85344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Most important: Order of growth within a constant multiple as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Example:</a:t>
            </a:r>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How much faster will algorithm run on computer that is twice as fast?</a:t>
            </a:r>
            <a:endParaRPr/>
          </a:p>
          <a:p>
            <a:pPr indent="-133350" lvl="1" marL="742950" marR="0" rtl="0" algn="l">
              <a:lnSpc>
                <a:spcPct val="10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How much longer does it take to solve problem of double input size?</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pic>
        <p:nvPicPr>
          <p:cNvPr id="160" name="Google Shape;160;p10"/>
          <p:cNvPicPr preferRelativeResize="0"/>
          <p:nvPr>
            <p:ph idx="1" type="body"/>
          </p:nvPr>
        </p:nvPicPr>
        <p:blipFill rotWithShape="1">
          <a:blip r:embed="rId3">
            <a:alphaModFix/>
          </a:blip>
          <a:srcRect b="0" l="0" r="0" t="0"/>
          <a:stretch/>
        </p:blipFill>
        <p:spPr>
          <a:xfrm>
            <a:off x="609600" y="1752600"/>
            <a:ext cx="8382000" cy="3403600"/>
          </a:xfrm>
          <a:prstGeom prst="rect">
            <a:avLst/>
          </a:prstGeom>
          <a:noFill/>
          <a:ln>
            <a:noFill/>
          </a:ln>
        </p:spPr>
      </p:pic>
      <p:sp>
        <p:nvSpPr>
          <p:cNvPr id="161" name="Google Shape;161;p10"/>
          <p:cNvSpPr txBox="1"/>
          <p:nvPr>
            <p:ph type="title"/>
          </p:nvPr>
        </p:nvSpPr>
        <p:spPr>
          <a:xfrm>
            <a:off x="609600" y="228600"/>
            <a:ext cx="8305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Values of some important functions as </a:t>
            </a:r>
            <a:r>
              <a:rPr b="1" i="1" lang="en-US" sz="3200" u="none">
                <a:solidFill>
                  <a:schemeClr val="dk2"/>
                </a:solidFill>
                <a:latin typeface="Times New Roman"/>
                <a:ea typeface="Times New Roman"/>
                <a:cs typeface="Times New Roman"/>
                <a:sym typeface="Times New Roman"/>
              </a:rPr>
              <a:t>n </a:t>
            </a:r>
            <a:r>
              <a:rPr b="1" i="0" lang="en-US" sz="32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11"/>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Asymptotic order of growth</a:t>
            </a:r>
            <a:endParaRPr/>
          </a:p>
        </p:txBody>
      </p:sp>
      <p:sp>
        <p:nvSpPr>
          <p:cNvPr id="168" name="Google Shape;168;p11"/>
          <p:cNvSpPr txBox="1"/>
          <p:nvPr>
            <p:ph idx="1" type="body"/>
          </p:nvPr>
        </p:nvSpPr>
        <p:spPr>
          <a:xfrm>
            <a:off x="381000" y="1266825"/>
            <a:ext cx="87630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A way of comparing functions that ignores constant factors and small input sizes </a:t>
            </a:r>
            <a:r>
              <a:rPr b="1" i="0" lang="en-US" sz="2400" u="none">
                <a:solidFill>
                  <a:schemeClr val="dk1"/>
                </a:solidFill>
                <a:latin typeface="Times New Roman"/>
                <a:ea typeface="Times New Roman"/>
                <a:cs typeface="Times New Roman"/>
                <a:sym typeface="Times New Roman"/>
              </a:rPr>
              <a:t>(because?)</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O(</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class of functions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that grow </a:t>
            </a:r>
            <a:r>
              <a:rPr b="1" i="0" lang="en-US" sz="2400" u="sng">
                <a:solidFill>
                  <a:srgbClr val="FFFF99"/>
                </a:solidFill>
                <a:latin typeface="Times New Roman"/>
                <a:ea typeface="Times New Roman"/>
                <a:cs typeface="Times New Roman"/>
                <a:sym typeface="Times New Roman"/>
              </a:rPr>
              <a:t>no faster</a:t>
            </a:r>
            <a:r>
              <a:rPr b="1" i="0" lang="en-US" sz="2400" u="none">
                <a:solidFill>
                  <a:srgbClr val="FFFF99"/>
                </a:solidFill>
                <a:latin typeface="Times New Roman"/>
                <a:ea typeface="Times New Roman"/>
                <a:cs typeface="Times New Roman"/>
                <a:sym typeface="Times New Roman"/>
              </a:rPr>
              <a:t> than </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Merriweather Sans"/>
                <a:ea typeface="Merriweather Sans"/>
                <a:cs typeface="Merriweather Sans"/>
                <a:sym typeface="Merriweather Sans"/>
              </a:rPr>
              <a:t>Θ</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class of functions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that grow </a:t>
            </a:r>
            <a:r>
              <a:rPr b="1" i="0" lang="en-US" sz="2400" u="sng">
                <a:solidFill>
                  <a:srgbClr val="FFFF99"/>
                </a:solidFill>
                <a:latin typeface="Times New Roman"/>
                <a:ea typeface="Times New Roman"/>
                <a:cs typeface="Times New Roman"/>
                <a:sym typeface="Times New Roman"/>
              </a:rPr>
              <a:t>at same rate</a:t>
            </a:r>
            <a:r>
              <a:rPr b="1" i="0" lang="en-US" sz="2400" u="none">
                <a:solidFill>
                  <a:srgbClr val="FFFF99"/>
                </a:solidFill>
                <a:latin typeface="Times New Roman"/>
                <a:ea typeface="Times New Roman"/>
                <a:cs typeface="Times New Roman"/>
                <a:sym typeface="Times New Roman"/>
              </a:rPr>
              <a:t> as </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Merriweather Sans"/>
                <a:ea typeface="Merriweather Sans"/>
                <a:cs typeface="Merriweather Sans"/>
                <a:sym typeface="Merriweather Sans"/>
              </a:rPr>
              <a:t>Ω</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class of functions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that grow </a:t>
            </a:r>
            <a:r>
              <a:rPr b="1" i="0" lang="en-US" sz="2400" u="sng">
                <a:solidFill>
                  <a:srgbClr val="FFFF99"/>
                </a:solidFill>
                <a:latin typeface="Times New Roman"/>
                <a:ea typeface="Times New Roman"/>
                <a:cs typeface="Times New Roman"/>
                <a:sym typeface="Times New Roman"/>
              </a:rPr>
              <a:t>at least as fast</a:t>
            </a:r>
            <a:r>
              <a:rPr b="1" i="0" lang="en-US" sz="2400" u="none">
                <a:solidFill>
                  <a:srgbClr val="FFFF99"/>
                </a:solidFill>
                <a:latin typeface="Times New Roman"/>
                <a:ea typeface="Times New Roman"/>
                <a:cs typeface="Times New Roman"/>
                <a:sym typeface="Times New Roman"/>
              </a:rPr>
              <a:t> as </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12"/>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Big-oh</a:t>
            </a:r>
            <a:endParaRPr/>
          </a:p>
        </p:txBody>
      </p:sp>
      <p:pic>
        <p:nvPicPr>
          <p:cNvPr id="175" name="Google Shape;175;p12"/>
          <p:cNvPicPr preferRelativeResize="0"/>
          <p:nvPr>
            <p:ph idx="1" type="body"/>
          </p:nvPr>
        </p:nvPicPr>
        <p:blipFill rotWithShape="1">
          <a:blip r:embed="rId3">
            <a:alphaModFix/>
          </a:blip>
          <a:srcRect b="0" l="0" r="0" t="0"/>
          <a:stretch/>
        </p:blipFill>
        <p:spPr>
          <a:xfrm>
            <a:off x="1371600" y="1219200"/>
            <a:ext cx="6324600" cy="52784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13"/>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Big-omega</a:t>
            </a:r>
            <a:endParaRPr/>
          </a:p>
        </p:txBody>
      </p:sp>
      <p:pic>
        <p:nvPicPr>
          <p:cNvPr id="182" name="Google Shape;182;p13"/>
          <p:cNvPicPr preferRelativeResize="0"/>
          <p:nvPr>
            <p:ph idx="1" type="body"/>
          </p:nvPr>
        </p:nvPicPr>
        <p:blipFill rotWithShape="1">
          <a:blip r:embed="rId3">
            <a:alphaModFix/>
          </a:blip>
          <a:srcRect b="0" l="0" r="0" t="0"/>
          <a:stretch/>
        </p:blipFill>
        <p:spPr>
          <a:xfrm>
            <a:off x="1371600" y="1219200"/>
            <a:ext cx="5867400" cy="52371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14"/>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Big-theta</a:t>
            </a:r>
            <a:endParaRPr/>
          </a:p>
        </p:txBody>
      </p:sp>
      <p:pic>
        <p:nvPicPr>
          <p:cNvPr id="189" name="Google Shape;189;p14"/>
          <p:cNvPicPr preferRelativeResize="0"/>
          <p:nvPr>
            <p:ph idx="1" type="body"/>
          </p:nvPr>
        </p:nvPicPr>
        <p:blipFill rotWithShape="1">
          <a:blip r:embed="rId3">
            <a:alphaModFix/>
          </a:blip>
          <a:srcRect b="0" l="0" r="0" t="0"/>
          <a:stretch/>
        </p:blipFill>
        <p:spPr>
          <a:xfrm>
            <a:off x="1409700" y="1219200"/>
            <a:ext cx="6210300" cy="52657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15"/>
          <p:cNvSpPr txBox="1"/>
          <p:nvPr>
            <p:ph type="title"/>
          </p:nvPr>
        </p:nvSpPr>
        <p:spPr>
          <a:xfrm>
            <a:off x="457200" y="198437"/>
            <a:ext cx="8686800" cy="5635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Establishing order of growth using the definition</a:t>
            </a:r>
            <a:endParaRPr/>
          </a:p>
        </p:txBody>
      </p:sp>
      <p:sp>
        <p:nvSpPr>
          <p:cNvPr id="200" name="Google Shape;200;p15"/>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Definition:</a:t>
            </a:r>
            <a:r>
              <a:rPr b="1" i="1" lang="en-US" sz="2400" u="none">
                <a:solidFill>
                  <a:srgbClr val="FFFF99"/>
                </a:solidFill>
                <a:latin typeface="Times New Roman"/>
                <a:ea typeface="Times New Roman"/>
                <a:cs typeface="Times New Roman"/>
                <a:sym typeface="Times New Roman"/>
              </a:rPr>
              <a:t> 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is in O(</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denoted f</a:t>
            </a:r>
            <a:r>
              <a:rPr b="1" i="1" lang="en-US" sz="2400" u="none">
                <a:solidFill>
                  <a:srgbClr val="FFFF99"/>
                </a:solidFill>
                <a:latin typeface="Times New Roman"/>
                <a:ea typeface="Times New Roman"/>
                <a:cs typeface="Times New Roman"/>
                <a:sym typeface="Times New Roman"/>
              </a:rPr>
              <a:t>(n) ∈ O(g(n)),</a:t>
            </a:r>
            <a:r>
              <a:rPr b="1" i="0" lang="en-US" sz="2400" u="none">
                <a:solidFill>
                  <a:srgbClr val="FFFF99"/>
                </a:solidFill>
                <a:latin typeface="Times New Roman"/>
                <a:ea typeface="Times New Roman"/>
                <a:cs typeface="Times New Roman"/>
                <a:sym typeface="Times New Roman"/>
              </a:rPr>
              <a:t> if order of growth of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Merriweather Sans"/>
                <a:ea typeface="Merriweather Sans"/>
                <a:cs typeface="Merriweather Sans"/>
                <a:sym typeface="Merriweather Sans"/>
              </a:rPr>
              <a:t>≤</a:t>
            </a:r>
            <a:r>
              <a:rPr b="1" i="0" lang="en-US" sz="2400" u="none">
                <a:solidFill>
                  <a:srgbClr val="FFFF99"/>
                </a:solidFill>
                <a:latin typeface="Times New Roman"/>
                <a:ea typeface="Times New Roman"/>
                <a:cs typeface="Times New Roman"/>
                <a:sym typeface="Times New Roman"/>
              </a:rPr>
              <a:t> order  of growth of </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(within constant multiple), i.e., there exist positive constant </a:t>
            </a:r>
            <a:r>
              <a:rPr b="1" i="1" lang="en-US" sz="2400" u="none">
                <a:solidFill>
                  <a:srgbClr val="FFFF99"/>
                </a:solidFill>
                <a:latin typeface="Times New Roman"/>
                <a:ea typeface="Times New Roman"/>
                <a:cs typeface="Times New Roman"/>
                <a:sym typeface="Times New Roman"/>
              </a:rPr>
              <a:t>c</a:t>
            </a:r>
            <a:r>
              <a:rPr b="1" i="0" lang="en-US" sz="2400" u="none">
                <a:solidFill>
                  <a:srgbClr val="FFFF99"/>
                </a:solidFill>
                <a:latin typeface="Times New Roman"/>
                <a:ea typeface="Times New Roman"/>
                <a:cs typeface="Times New Roman"/>
                <a:sym typeface="Times New Roman"/>
              </a:rPr>
              <a:t> and non-negative integer </a:t>
            </a:r>
            <a:r>
              <a:rPr b="1"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0</a:t>
            </a:r>
            <a:r>
              <a:rPr b="1" i="0" lang="en-US" sz="2400" u="none">
                <a:solidFill>
                  <a:srgbClr val="FFFF99"/>
                </a:solidFill>
                <a:latin typeface="Times New Roman"/>
                <a:ea typeface="Times New Roman"/>
                <a:cs typeface="Times New Roman"/>
                <a:sym typeface="Times New Roman"/>
              </a:rPr>
              <a:t> such that</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Merriweather Sans"/>
                <a:ea typeface="Merriweather Sans"/>
                <a:cs typeface="Merriweather Sans"/>
                <a:sym typeface="Merriweather Sans"/>
              </a:rPr>
              <a:t>≤</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c 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for every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Merriweather Sans"/>
                <a:ea typeface="Merriweather Sans"/>
                <a:cs typeface="Merriweather Sans"/>
                <a:sym typeface="Merriweather Sans"/>
              </a:rPr>
              <a:t>≥</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0 </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Examples:</a:t>
            </a:r>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 10</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is in O(</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a:t>
            </a:r>
            <a:endParaRPr/>
          </a:p>
          <a:p>
            <a:pPr indent="-342900" lvl="0" marL="342900" marR="0" rtl="0" algn="l">
              <a:lnSpc>
                <a:spcPct val="100000"/>
              </a:lnSpc>
              <a:spcBef>
                <a:spcPts val="480"/>
              </a:spcBef>
              <a:spcAft>
                <a:spcPts val="0"/>
              </a:spcAft>
              <a:buClr>
                <a:srgbClr val="A50021"/>
              </a:buClr>
              <a:buSzPts val="1800"/>
              <a:buFont typeface="Arial"/>
              <a:buNone/>
            </a:pP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5</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+20 is in O(</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16"/>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Ω-notation</a:t>
            </a:r>
            <a:endParaRPr/>
          </a:p>
        </p:txBody>
      </p:sp>
      <p:sp>
        <p:nvSpPr>
          <p:cNvPr id="207" name="Google Shape;207;p16"/>
          <p:cNvSpPr txBox="1"/>
          <p:nvPr>
            <p:ph idx="1" type="body"/>
          </p:nvPr>
        </p:nvSpPr>
        <p:spPr>
          <a:xfrm>
            <a:off x="838200" y="1676400"/>
            <a:ext cx="7964487" cy="40782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Formal definition</a:t>
            </a:r>
            <a:endParaRPr/>
          </a:p>
          <a:p>
            <a:pPr indent="-285750" lvl="1" marL="742950" marR="0" rtl="0" algn="l">
              <a:lnSpc>
                <a:spcPct val="9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A function </a:t>
            </a:r>
            <a:r>
              <a:rPr b="1" i="1" lang="en-US" sz="2400" u="none" cap="none" strike="noStrike">
                <a:solidFill>
                  <a:srgbClr val="FFFF99"/>
                </a:solidFill>
                <a:latin typeface="Times New Roman"/>
                <a:ea typeface="Times New Roman"/>
                <a:cs typeface="Times New Roman"/>
                <a:sym typeface="Times New Roman"/>
              </a:rPr>
              <a:t>t(n)</a:t>
            </a:r>
            <a:r>
              <a:rPr b="1" i="0" lang="en-US" sz="2400" u="none" cap="none" strike="noStrike">
                <a:solidFill>
                  <a:srgbClr val="FFFF99"/>
                </a:solidFill>
                <a:latin typeface="Times New Roman"/>
                <a:ea typeface="Times New Roman"/>
                <a:cs typeface="Times New Roman"/>
                <a:sym typeface="Times New Roman"/>
              </a:rPr>
              <a:t> is said to be in Ω</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denoted </a:t>
            </a:r>
            <a:r>
              <a:rPr b="1" i="1" lang="en-US" sz="2400" u="none" cap="none" strike="noStrike">
                <a:solidFill>
                  <a:srgbClr val="FFFF99"/>
                </a:solidFill>
                <a:latin typeface="Times New Roman"/>
                <a:ea typeface="Times New Roman"/>
                <a:cs typeface="Times New Roman"/>
                <a:sym typeface="Times New Roman"/>
              </a:rPr>
              <a:t>t(n) ∈ </a:t>
            </a:r>
            <a:r>
              <a:rPr b="1" i="0" lang="en-US" sz="2400" u="none" cap="none" strike="noStrike">
                <a:solidFill>
                  <a:srgbClr val="FFFF99"/>
                </a:solidFill>
                <a:latin typeface="Times New Roman"/>
                <a:ea typeface="Times New Roman"/>
                <a:cs typeface="Times New Roman"/>
                <a:sym typeface="Times New Roman"/>
              </a:rPr>
              <a:t>Ω</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if </a:t>
            </a:r>
            <a:r>
              <a:rPr b="1" i="1" lang="en-US" sz="2400" u="none" cap="none" strike="noStrike">
                <a:solidFill>
                  <a:srgbClr val="FFFF99"/>
                </a:solidFill>
                <a:latin typeface="Times New Roman"/>
                <a:ea typeface="Times New Roman"/>
                <a:cs typeface="Times New Roman"/>
                <a:sym typeface="Times New Roman"/>
              </a:rPr>
              <a:t>t(n)</a:t>
            </a:r>
            <a:r>
              <a:rPr b="1" i="0" lang="en-US" sz="2400" u="none" cap="none" strike="noStrike">
                <a:solidFill>
                  <a:srgbClr val="FFFF99"/>
                </a:solidFill>
                <a:latin typeface="Times New Roman"/>
                <a:ea typeface="Times New Roman"/>
                <a:cs typeface="Times New Roman"/>
                <a:sym typeface="Times New Roman"/>
              </a:rPr>
              <a:t> is bounded below by some constant multiple of </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for all large </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i.e., </a:t>
            </a:r>
            <a:r>
              <a:rPr b="1" i="0" lang="en-US" sz="2400" u="sng" cap="none" strike="noStrike">
                <a:solidFill>
                  <a:srgbClr val="FFFF99"/>
                </a:solidFill>
                <a:latin typeface="Times New Roman"/>
                <a:ea typeface="Times New Roman"/>
                <a:cs typeface="Times New Roman"/>
                <a:sym typeface="Times New Roman"/>
              </a:rPr>
              <a:t>if there exist some positive constant c and some nonnegative integer </a:t>
            </a:r>
            <a:r>
              <a:rPr b="1" i="1" lang="en-US" sz="2400" u="sng" cap="none" strike="noStrike">
                <a:solidFill>
                  <a:srgbClr val="FFFF99"/>
                </a:solidFill>
                <a:latin typeface="Times New Roman"/>
                <a:ea typeface="Times New Roman"/>
                <a:cs typeface="Times New Roman"/>
                <a:sym typeface="Times New Roman"/>
              </a:rPr>
              <a:t>n</a:t>
            </a:r>
            <a:r>
              <a:rPr b="1" baseline="-25000" i="1" lang="en-US" sz="2400" u="sng" cap="none" strike="noStrike">
                <a:solidFill>
                  <a:srgbClr val="FFFF99"/>
                </a:solidFill>
                <a:latin typeface="Times New Roman"/>
                <a:ea typeface="Times New Roman"/>
                <a:cs typeface="Times New Roman"/>
                <a:sym typeface="Times New Roman"/>
              </a:rPr>
              <a:t>0</a:t>
            </a:r>
            <a:r>
              <a:rPr b="1" i="0" lang="en-US" sz="2400" u="sng" cap="none" strike="noStrike">
                <a:solidFill>
                  <a:srgbClr val="FFFF99"/>
                </a:solidFill>
                <a:latin typeface="Times New Roman"/>
                <a:ea typeface="Times New Roman"/>
                <a:cs typeface="Times New Roman"/>
                <a:sym typeface="Times New Roman"/>
              </a:rPr>
              <a:t> such that</a:t>
            </a:r>
            <a:endParaRPr/>
          </a:p>
          <a:p>
            <a:pPr indent="-285750" lvl="1" marL="742950" marR="0" rtl="0" algn="l">
              <a:lnSpc>
                <a:spcPct val="9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9933"/>
                </a:solidFill>
                <a:latin typeface="Times New Roman"/>
                <a:ea typeface="Times New Roman"/>
                <a:cs typeface="Times New Roman"/>
                <a:sym typeface="Times New Roman"/>
              </a:rPr>
              <a:t>t(n) ≥ cg(n) for all n ≥ n</a:t>
            </a:r>
            <a:r>
              <a:rPr b="1" baseline="-25000" i="0" lang="en-US" sz="2400" u="none" cap="none" strike="noStrike">
                <a:solidFill>
                  <a:srgbClr val="FF9933"/>
                </a:solidFill>
                <a:latin typeface="Times New Roman"/>
                <a:ea typeface="Times New Roman"/>
                <a:cs typeface="Times New Roman"/>
                <a:sym typeface="Times New Roman"/>
              </a:rPr>
              <a:t>0</a:t>
            </a:r>
            <a:endParaRPr/>
          </a:p>
          <a:p>
            <a:pPr indent="-285750" lvl="1" marL="742950" marR="0" rtl="0" algn="l">
              <a:lnSpc>
                <a:spcPct val="90000"/>
              </a:lnSpc>
              <a:spcBef>
                <a:spcPts val="480"/>
              </a:spcBef>
              <a:spcAft>
                <a:spcPts val="0"/>
              </a:spcAft>
              <a:buClr>
                <a:srgbClr val="A50021"/>
              </a:buClr>
              <a:buSzPts val="2400"/>
              <a:buFont typeface="Times New Roman"/>
              <a:buNone/>
            </a:pPr>
            <a:r>
              <a:t/>
            </a:r>
            <a:endParaRPr b="1" baseline="-25000" i="0" sz="2400" u="none" cap="none" strike="noStrike">
              <a:solidFill>
                <a:srgbClr val="FF9933"/>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Exercises: prove the following using the above definition</a:t>
            </a:r>
            <a:endParaRPr b="1" i="0" sz="2400" u="none">
              <a:solidFill>
                <a:srgbClr val="FFFF99"/>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10</a:t>
            </a:r>
            <a:r>
              <a:rPr b="1" i="1" lang="en-US" sz="2400" u="none" cap="none" strike="noStrike">
                <a:solidFill>
                  <a:srgbClr val="FFFF99"/>
                </a:solidFill>
                <a:latin typeface="Times New Roman"/>
                <a:ea typeface="Times New Roman"/>
                <a:cs typeface="Times New Roman"/>
                <a:sym typeface="Times New Roman"/>
              </a:rPr>
              <a:t>n</a:t>
            </a:r>
            <a:r>
              <a:rPr b="1" baseline="30000" i="1" lang="en-US" sz="2400" u="none" cap="none" strike="noStrike">
                <a:solidFill>
                  <a:srgbClr val="FFFF99"/>
                </a:solidFill>
                <a:latin typeface="Times New Roman"/>
                <a:ea typeface="Times New Roman"/>
                <a:cs typeface="Times New Roman"/>
                <a:sym typeface="Times New Roman"/>
              </a:rPr>
              <a:t>2</a:t>
            </a:r>
            <a:r>
              <a:rPr b="1" i="1"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FF99"/>
                </a:solidFill>
                <a:latin typeface="Times New Roman"/>
                <a:ea typeface="Times New Roman"/>
                <a:cs typeface="Times New Roman"/>
                <a:sym typeface="Times New Roman"/>
              </a:rPr>
              <a:t> Ω(</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9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0.3</a:t>
            </a:r>
            <a:r>
              <a:rPr b="1" i="1" lang="en-US" sz="2400" u="none" cap="none" strike="noStrike">
                <a:solidFill>
                  <a:srgbClr val="FFFF99"/>
                </a:solidFill>
                <a:latin typeface="Times New Roman"/>
                <a:ea typeface="Times New Roman"/>
                <a:cs typeface="Times New Roman"/>
                <a:sym typeface="Times New Roman"/>
              </a:rPr>
              <a:t>n</a:t>
            </a:r>
            <a:r>
              <a:rPr b="1" baseline="30000" i="1" lang="en-US" sz="2400" u="none" cap="none" strike="noStrike">
                <a:solidFill>
                  <a:srgbClr val="FFFF99"/>
                </a:solidFill>
                <a:latin typeface="Times New Roman"/>
                <a:ea typeface="Times New Roman"/>
                <a:cs typeface="Times New Roman"/>
                <a:sym typeface="Times New Roman"/>
              </a:rPr>
              <a:t>2</a:t>
            </a:r>
            <a:r>
              <a:rPr b="1" i="1" lang="en-US" sz="2400" u="none" cap="none" strike="noStrike">
                <a:solidFill>
                  <a:srgbClr val="FFFF99"/>
                </a:solidFill>
                <a:latin typeface="Times New Roman"/>
                <a:ea typeface="Times New Roman"/>
                <a:cs typeface="Times New Roman"/>
                <a:sym typeface="Times New Roman"/>
              </a:rPr>
              <a:t> - 2n</a:t>
            </a:r>
            <a:r>
              <a:rPr b="1" i="0" lang="en-US" sz="2400" u="none" cap="none" strike="noStrike">
                <a:solidFill>
                  <a:srgbClr val="FFFF99"/>
                </a:solidFill>
                <a:latin typeface="Times New Roman"/>
                <a:ea typeface="Times New Roman"/>
                <a:cs typeface="Times New Roman"/>
                <a:sym typeface="Times New Roman"/>
              </a:rPr>
              <a:t> </a:t>
            </a:r>
            <a:r>
              <a:rPr b="1" i="1" lang="en-US" sz="2400" u="none" cap="none" strike="noStrike">
                <a:solidFill>
                  <a:srgbClr val="FFFF99"/>
                </a:solidFill>
                <a:latin typeface="Times New Roman"/>
                <a:ea typeface="Times New Roman"/>
                <a:cs typeface="Times New Roman"/>
                <a:sym typeface="Times New Roman"/>
              </a:rPr>
              <a:t>∈</a:t>
            </a:r>
            <a:r>
              <a:rPr b="1" i="0" lang="en-US" sz="2400" u="none" cap="none" strike="noStrike">
                <a:solidFill>
                  <a:srgbClr val="FFFF99"/>
                </a:solidFill>
                <a:latin typeface="Times New Roman"/>
                <a:ea typeface="Times New Roman"/>
                <a:cs typeface="Times New Roman"/>
                <a:sym typeface="Times New Roman"/>
              </a:rPr>
              <a:t> Ω(</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9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0.1</a:t>
            </a:r>
            <a:r>
              <a:rPr b="1" i="1" lang="en-US" sz="2400" u="none" cap="none" strike="noStrike">
                <a:solidFill>
                  <a:srgbClr val="FFFF99"/>
                </a:solidFill>
                <a:latin typeface="Times New Roman"/>
                <a:ea typeface="Times New Roman"/>
                <a:cs typeface="Times New Roman"/>
                <a:sym typeface="Times New Roman"/>
              </a:rPr>
              <a:t>n</a:t>
            </a:r>
            <a:r>
              <a:rPr b="1" baseline="30000" i="1" lang="en-US" sz="2400" u="none" cap="none" strike="noStrike">
                <a:solidFill>
                  <a:srgbClr val="FFFF99"/>
                </a:solidFill>
                <a:latin typeface="Times New Roman"/>
                <a:ea typeface="Times New Roman"/>
                <a:cs typeface="Times New Roman"/>
                <a:sym typeface="Times New Roman"/>
              </a:rPr>
              <a:t>3</a:t>
            </a:r>
            <a:r>
              <a:rPr b="1" i="1"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FF99"/>
                </a:solidFill>
                <a:latin typeface="Times New Roman"/>
                <a:ea typeface="Times New Roman"/>
                <a:cs typeface="Times New Roman"/>
                <a:sym typeface="Times New Roman"/>
              </a:rPr>
              <a:t> Ω(</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9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17"/>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Θ-notation</a:t>
            </a:r>
            <a:endParaRPr/>
          </a:p>
        </p:txBody>
      </p:sp>
      <p:sp>
        <p:nvSpPr>
          <p:cNvPr id="214" name="Google Shape;214;p17"/>
          <p:cNvSpPr txBox="1"/>
          <p:nvPr>
            <p:ph idx="1" type="body"/>
          </p:nvPr>
        </p:nvSpPr>
        <p:spPr>
          <a:xfrm>
            <a:off x="1066800" y="2017712"/>
            <a:ext cx="7888287" cy="36210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Formal definition</a:t>
            </a:r>
            <a:endParaRPr/>
          </a:p>
          <a:p>
            <a:pPr indent="-285750" lvl="1" marL="742950" marR="0" rtl="0" algn="l">
              <a:lnSpc>
                <a:spcPct val="8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A function </a:t>
            </a:r>
            <a:r>
              <a:rPr b="1" i="1" lang="en-US" sz="2400" u="none" cap="none" strike="noStrike">
                <a:solidFill>
                  <a:srgbClr val="FFFF99"/>
                </a:solidFill>
                <a:latin typeface="Times New Roman"/>
                <a:ea typeface="Times New Roman"/>
                <a:cs typeface="Times New Roman"/>
                <a:sym typeface="Times New Roman"/>
              </a:rPr>
              <a:t>t(n)</a:t>
            </a:r>
            <a:r>
              <a:rPr b="1" i="0" lang="en-US" sz="2400" u="none" cap="none" strike="noStrike">
                <a:solidFill>
                  <a:srgbClr val="FFFF99"/>
                </a:solidFill>
                <a:latin typeface="Times New Roman"/>
                <a:ea typeface="Times New Roman"/>
                <a:cs typeface="Times New Roman"/>
                <a:sym typeface="Times New Roman"/>
              </a:rPr>
              <a:t> is said to be in Θ</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denoted </a:t>
            </a:r>
            <a:r>
              <a:rPr b="1" i="1" lang="en-US" sz="2400" u="none" cap="none" strike="noStrike">
                <a:solidFill>
                  <a:srgbClr val="FFFF99"/>
                </a:solidFill>
                <a:latin typeface="Times New Roman"/>
                <a:ea typeface="Times New Roman"/>
                <a:cs typeface="Times New Roman"/>
                <a:sym typeface="Times New Roman"/>
              </a:rPr>
              <a:t>t(n) ∈ </a:t>
            </a:r>
            <a:r>
              <a:rPr b="1" i="0" lang="en-US" sz="2400" u="none" cap="none" strike="noStrike">
                <a:solidFill>
                  <a:srgbClr val="FFFF99"/>
                </a:solidFill>
                <a:latin typeface="Times New Roman"/>
                <a:ea typeface="Times New Roman"/>
                <a:cs typeface="Times New Roman"/>
                <a:sym typeface="Times New Roman"/>
              </a:rPr>
              <a:t>Θ</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if </a:t>
            </a:r>
            <a:r>
              <a:rPr b="1" i="1" lang="en-US" sz="2400" u="none" cap="none" strike="noStrike">
                <a:solidFill>
                  <a:srgbClr val="FFFF99"/>
                </a:solidFill>
                <a:latin typeface="Times New Roman"/>
                <a:ea typeface="Times New Roman"/>
                <a:cs typeface="Times New Roman"/>
                <a:sym typeface="Times New Roman"/>
              </a:rPr>
              <a:t>t(n)</a:t>
            </a:r>
            <a:r>
              <a:rPr b="1" i="0" lang="en-US" sz="2400" u="none" cap="none" strike="noStrike">
                <a:solidFill>
                  <a:srgbClr val="FFFF99"/>
                </a:solidFill>
                <a:latin typeface="Times New Roman"/>
                <a:ea typeface="Times New Roman"/>
                <a:cs typeface="Times New Roman"/>
                <a:sym typeface="Times New Roman"/>
              </a:rPr>
              <a:t> is bounded both above and below by some positive constant multiples of </a:t>
            </a:r>
            <a:r>
              <a:rPr b="1" i="1" lang="en-US" sz="2400" u="none" cap="none" strike="noStrike">
                <a:solidFill>
                  <a:srgbClr val="FFFF99"/>
                </a:solidFill>
                <a:latin typeface="Times New Roman"/>
                <a:ea typeface="Times New Roman"/>
                <a:cs typeface="Times New Roman"/>
                <a:sym typeface="Times New Roman"/>
              </a:rPr>
              <a:t>g(n)</a:t>
            </a:r>
            <a:r>
              <a:rPr b="1" i="0" lang="en-US" sz="2400" u="none" cap="none" strike="noStrike">
                <a:solidFill>
                  <a:srgbClr val="FFFF99"/>
                </a:solidFill>
                <a:latin typeface="Times New Roman"/>
                <a:ea typeface="Times New Roman"/>
                <a:cs typeface="Times New Roman"/>
                <a:sym typeface="Times New Roman"/>
              </a:rPr>
              <a:t> for all large </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i.e., </a:t>
            </a:r>
            <a:r>
              <a:rPr b="1" i="0" lang="en-US" sz="2400" u="sng" cap="none" strike="noStrike">
                <a:solidFill>
                  <a:srgbClr val="FFFF99"/>
                </a:solidFill>
                <a:latin typeface="Times New Roman"/>
                <a:ea typeface="Times New Roman"/>
                <a:cs typeface="Times New Roman"/>
                <a:sym typeface="Times New Roman"/>
              </a:rPr>
              <a:t>if there exist some positive constant c</a:t>
            </a:r>
            <a:r>
              <a:rPr b="1" baseline="-25000" i="0" lang="en-US" sz="2400" u="sng" cap="none" strike="noStrike">
                <a:solidFill>
                  <a:srgbClr val="FFFF99"/>
                </a:solidFill>
                <a:latin typeface="Times New Roman"/>
                <a:ea typeface="Times New Roman"/>
                <a:cs typeface="Times New Roman"/>
                <a:sym typeface="Times New Roman"/>
              </a:rPr>
              <a:t>1</a:t>
            </a:r>
            <a:r>
              <a:rPr b="1" i="0" lang="en-US" sz="2400" u="sng" cap="none" strike="noStrike">
                <a:solidFill>
                  <a:srgbClr val="FFFF99"/>
                </a:solidFill>
                <a:latin typeface="Times New Roman"/>
                <a:ea typeface="Times New Roman"/>
                <a:cs typeface="Times New Roman"/>
                <a:sym typeface="Times New Roman"/>
              </a:rPr>
              <a:t> and c</a:t>
            </a:r>
            <a:r>
              <a:rPr b="1" baseline="-25000" i="0" lang="en-US" sz="2400" u="sng" cap="none" strike="noStrike">
                <a:solidFill>
                  <a:srgbClr val="FFFF99"/>
                </a:solidFill>
                <a:latin typeface="Times New Roman"/>
                <a:ea typeface="Times New Roman"/>
                <a:cs typeface="Times New Roman"/>
                <a:sym typeface="Times New Roman"/>
              </a:rPr>
              <a:t>2</a:t>
            </a:r>
            <a:r>
              <a:rPr b="1" i="0" lang="en-US" sz="2400" u="sng" cap="none" strike="noStrike">
                <a:solidFill>
                  <a:srgbClr val="FFFF99"/>
                </a:solidFill>
                <a:latin typeface="Times New Roman"/>
                <a:ea typeface="Times New Roman"/>
                <a:cs typeface="Times New Roman"/>
                <a:sym typeface="Times New Roman"/>
              </a:rPr>
              <a:t> and some nonnegative integer </a:t>
            </a:r>
            <a:r>
              <a:rPr b="1" i="1" lang="en-US" sz="2400" u="sng" cap="none" strike="noStrike">
                <a:solidFill>
                  <a:srgbClr val="FFFF99"/>
                </a:solidFill>
                <a:latin typeface="Times New Roman"/>
                <a:ea typeface="Times New Roman"/>
                <a:cs typeface="Times New Roman"/>
                <a:sym typeface="Times New Roman"/>
              </a:rPr>
              <a:t>n</a:t>
            </a:r>
            <a:r>
              <a:rPr b="1" baseline="-25000" i="1" lang="en-US" sz="2400" u="sng" cap="none" strike="noStrike">
                <a:solidFill>
                  <a:srgbClr val="FFFF99"/>
                </a:solidFill>
                <a:latin typeface="Times New Roman"/>
                <a:ea typeface="Times New Roman"/>
                <a:cs typeface="Times New Roman"/>
                <a:sym typeface="Times New Roman"/>
              </a:rPr>
              <a:t>0</a:t>
            </a:r>
            <a:r>
              <a:rPr b="1" i="0" lang="en-US" sz="2400" u="sng" cap="none" strike="noStrike">
                <a:solidFill>
                  <a:srgbClr val="FFFF99"/>
                </a:solidFill>
                <a:latin typeface="Times New Roman"/>
                <a:ea typeface="Times New Roman"/>
                <a:cs typeface="Times New Roman"/>
                <a:sym typeface="Times New Roman"/>
              </a:rPr>
              <a:t> such that</a:t>
            </a:r>
            <a:endParaRPr/>
          </a:p>
          <a:p>
            <a:pPr indent="-285750" lvl="1" marL="742950" marR="0" rtl="0" algn="l">
              <a:lnSpc>
                <a:spcPct val="8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9933"/>
                </a:solidFill>
                <a:latin typeface="Times New Roman"/>
                <a:ea typeface="Times New Roman"/>
                <a:cs typeface="Times New Roman"/>
                <a:sym typeface="Times New Roman"/>
              </a:rPr>
              <a:t>c</a:t>
            </a:r>
            <a:r>
              <a:rPr b="1" baseline="-25000" i="0" lang="en-US" sz="2400" u="none" cap="none" strike="noStrike">
                <a:solidFill>
                  <a:srgbClr val="FF9933"/>
                </a:solidFill>
                <a:latin typeface="Times New Roman"/>
                <a:ea typeface="Times New Roman"/>
                <a:cs typeface="Times New Roman"/>
                <a:sym typeface="Times New Roman"/>
              </a:rPr>
              <a:t>2</a:t>
            </a:r>
            <a:r>
              <a:rPr b="1" i="0" lang="en-US" sz="2400" u="none" cap="none" strike="noStrike">
                <a:solidFill>
                  <a:srgbClr val="FF9933"/>
                </a:solidFill>
                <a:latin typeface="Times New Roman"/>
                <a:ea typeface="Times New Roman"/>
                <a:cs typeface="Times New Roman"/>
                <a:sym typeface="Times New Roman"/>
              </a:rPr>
              <a:t> g(n) ≤ t(n) ≤ c</a:t>
            </a:r>
            <a:r>
              <a:rPr b="1" baseline="-25000" i="0" lang="en-US" sz="2400" u="none" cap="none" strike="noStrike">
                <a:solidFill>
                  <a:srgbClr val="FF9933"/>
                </a:solidFill>
                <a:latin typeface="Times New Roman"/>
                <a:ea typeface="Times New Roman"/>
                <a:cs typeface="Times New Roman"/>
                <a:sym typeface="Times New Roman"/>
              </a:rPr>
              <a:t>1</a:t>
            </a:r>
            <a:r>
              <a:rPr b="1" i="0" lang="en-US" sz="2400" u="none" cap="none" strike="noStrike">
                <a:solidFill>
                  <a:srgbClr val="FF9933"/>
                </a:solidFill>
                <a:latin typeface="Times New Roman"/>
                <a:ea typeface="Times New Roman"/>
                <a:cs typeface="Times New Roman"/>
                <a:sym typeface="Times New Roman"/>
              </a:rPr>
              <a:t> g(n) for all n ≥ n</a:t>
            </a:r>
            <a:r>
              <a:rPr b="1" baseline="-25000" i="0" lang="en-US" sz="2400" u="none" cap="none" strike="noStrike">
                <a:solidFill>
                  <a:srgbClr val="FF9933"/>
                </a:solidFill>
                <a:latin typeface="Times New Roman"/>
                <a:ea typeface="Times New Roman"/>
                <a:cs typeface="Times New Roman"/>
                <a:sym typeface="Times New Roman"/>
              </a:rPr>
              <a:t>0</a:t>
            </a:r>
            <a:endParaRPr/>
          </a:p>
          <a:p>
            <a:pPr indent="-285750" lvl="1" marL="742950" marR="0" rtl="0" algn="l">
              <a:lnSpc>
                <a:spcPct val="80000"/>
              </a:lnSpc>
              <a:spcBef>
                <a:spcPts val="480"/>
              </a:spcBef>
              <a:spcAft>
                <a:spcPts val="0"/>
              </a:spcAft>
              <a:buClr>
                <a:srgbClr val="A50021"/>
              </a:buClr>
              <a:buSzPts val="2400"/>
              <a:buFont typeface="Times New Roman"/>
              <a:buNone/>
            </a:pPr>
            <a:r>
              <a:t/>
            </a:r>
            <a:endParaRPr b="1" baseline="-25000" i="0" sz="2400" u="none" cap="none" strike="noStrike">
              <a:solidFill>
                <a:srgbClr val="FF9933"/>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Exercises: prove the following using the above definition</a:t>
            </a:r>
            <a:endParaRPr/>
          </a:p>
          <a:p>
            <a:pPr indent="-285750" lvl="1" marL="742950" marR="0" rtl="0" algn="l">
              <a:lnSpc>
                <a:spcPct val="8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10</a:t>
            </a:r>
            <a:r>
              <a:rPr b="1" i="1" lang="en-US" sz="2400" u="none" cap="none" strike="noStrike">
                <a:solidFill>
                  <a:srgbClr val="FFFF99"/>
                </a:solidFill>
                <a:latin typeface="Times New Roman"/>
                <a:ea typeface="Times New Roman"/>
                <a:cs typeface="Times New Roman"/>
                <a:sym typeface="Times New Roman"/>
              </a:rPr>
              <a:t>n</a:t>
            </a:r>
            <a:r>
              <a:rPr b="1" baseline="30000" i="1" lang="en-US" sz="2400" u="none" cap="none" strike="noStrike">
                <a:solidFill>
                  <a:srgbClr val="FFFF99"/>
                </a:solidFill>
                <a:latin typeface="Times New Roman"/>
                <a:ea typeface="Times New Roman"/>
                <a:cs typeface="Times New Roman"/>
                <a:sym typeface="Times New Roman"/>
              </a:rPr>
              <a:t>2</a:t>
            </a:r>
            <a:r>
              <a:rPr b="1" i="1"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FF99"/>
                </a:solidFill>
                <a:latin typeface="Times New Roman"/>
                <a:ea typeface="Times New Roman"/>
                <a:cs typeface="Times New Roman"/>
                <a:sym typeface="Times New Roman"/>
              </a:rPr>
              <a:t> Θ(</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8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0.3</a:t>
            </a:r>
            <a:r>
              <a:rPr b="1" i="1" lang="en-US" sz="2400" u="none" cap="none" strike="noStrike">
                <a:solidFill>
                  <a:srgbClr val="FFFF99"/>
                </a:solidFill>
                <a:latin typeface="Times New Roman"/>
                <a:ea typeface="Times New Roman"/>
                <a:cs typeface="Times New Roman"/>
                <a:sym typeface="Times New Roman"/>
              </a:rPr>
              <a:t>n</a:t>
            </a:r>
            <a:r>
              <a:rPr b="1" baseline="30000" i="1" lang="en-US" sz="2400" u="none" cap="none" strike="noStrike">
                <a:solidFill>
                  <a:srgbClr val="FFFF99"/>
                </a:solidFill>
                <a:latin typeface="Times New Roman"/>
                <a:ea typeface="Times New Roman"/>
                <a:cs typeface="Times New Roman"/>
                <a:sym typeface="Times New Roman"/>
              </a:rPr>
              <a:t>2</a:t>
            </a:r>
            <a:r>
              <a:rPr b="1" i="1" lang="en-US" sz="2400" u="none" cap="none" strike="noStrike">
                <a:solidFill>
                  <a:srgbClr val="FFFF99"/>
                </a:solidFill>
                <a:latin typeface="Times New Roman"/>
                <a:ea typeface="Times New Roman"/>
                <a:cs typeface="Times New Roman"/>
                <a:sym typeface="Times New Roman"/>
              </a:rPr>
              <a:t> - 2n ∈</a:t>
            </a:r>
            <a:r>
              <a:rPr b="1" i="0" lang="en-US" sz="2400" u="none" cap="none" strike="noStrike">
                <a:solidFill>
                  <a:srgbClr val="FFFF99"/>
                </a:solidFill>
                <a:latin typeface="Times New Roman"/>
                <a:ea typeface="Times New Roman"/>
                <a:cs typeface="Times New Roman"/>
                <a:sym typeface="Times New Roman"/>
              </a:rPr>
              <a:t> Θ(</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80000"/>
              </a:lnSpc>
              <a:spcBef>
                <a:spcPts val="480"/>
              </a:spcBef>
              <a:spcAft>
                <a:spcPts val="0"/>
              </a:spcAft>
              <a:buClr>
                <a:srgbClr val="A50021"/>
              </a:buClr>
              <a:buSzPts val="2400"/>
              <a:buFont typeface="Times New Roman"/>
              <a:buChar char="•"/>
            </a:pPr>
            <a:r>
              <a:rPr b="1" i="1" lang="en-US" sz="2400" u="none" cap="none" strike="noStrike">
                <a:solidFill>
                  <a:srgbClr val="FFFF99"/>
                </a:solidFill>
                <a:latin typeface="Times New Roman"/>
                <a:ea typeface="Times New Roman"/>
                <a:cs typeface="Times New Roman"/>
                <a:sym typeface="Times New Roman"/>
              </a:rPr>
              <a:t>(1/2)n(n+1)</a:t>
            </a:r>
            <a:r>
              <a:rPr b="1" i="0" lang="en-US" sz="2400" u="none" cap="none" strike="noStrike">
                <a:solidFill>
                  <a:srgbClr val="FFFF99"/>
                </a:solidFill>
                <a:latin typeface="Times New Roman"/>
                <a:ea typeface="Times New Roman"/>
                <a:cs typeface="Times New Roman"/>
                <a:sym typeface="Times New Roman"/>
              </a:rPr>
              <a:t> </a:t>
            </a:r>
            <a:r>
              <a:rPr b="1" i="1" lang="en-US" sz="2400" u="none" cap="none" strike="noStrike">
                <a:solidFill>
                  <a:srgbClr val="FFFF99"/>
                </a:solidFill>
                <a:latin typeface="Times New Roman"/>
                <a:ea typeface="Times New Roman"/>
                <a:cs typeface="Times New Roman"/>
                <a:sym typeface="Times New Roman"/>
              </a:rPr>
              <a:t>∈</a:t>
            </a:r>
            <a:r>
              <a:rPr b="1" i="0" lang="en-US" sz="2400" u="none" cap="none" strike="noStrike">
                <a:solidFill>
                  <a:srgbClr val="FFFF99"/>
                </a:solidFill>
                <a:latin typeface="Times New Roman"/>
                <a:ea typeface="Times New Roman"/>
                <a:cs typeface="Times New Roman"/>
                <a:sym typeface="Times New Roman"/>
              </a:rPr>
              <a:t> Θ(</a:t>
            </a: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r>
              <a:rPr b="1" i="0" lang="en-US" sz="2400" u="none" cap="none" strike="noStrike">
                <a:solidFill>
                  <a:srgbClr val="FFFF99"/>
                </a:solidFill>
                <a:latin typeface="Times New Roman"/>
                <a:ea typeface="Times New Roman"/>
                <a:cs typeface="Times New Roman"/>
                <a:sym typeface="Times New Roman"/>
              </a:rPr>
              <a:t>)</a:t>
            </a:r>
            <a:endParaRPr/>
          </a:p>
          <a:p>
            <a:pPr indent="-133350" lvl="1" marL="742950" marR="0" rtl="0" algn="l">
              <a:lnSpc>
                <a:spcPct val="8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285750" lvl="1" marL="742950" marR="0" rtl="0" algn="l">
              <a:lnSpc>
                <a:spcPct val="80000"/>
              </a:lnSpc>
              <a:spcBef>
                <a:spcPts val="400"/>
              </a:spcBef>
              <a:spcAft>
                <a:spcPts val="0"/>
              </a:spcAft>
              <a:buClr>
                <a:srgbClr val="A50021"/>
              </a:buClr>
              <a:buSzPts val="2000"/>
              <a:buFont typeface="Times New Roman"/>
              <a:buNone/>
            </a:pPr>
            <a:r>
              <a:t/>
            </a:r>
            <a:endParaRPr b="1" i="0" sz="2000" u="none" cap="none" strike="noStrike">
              <a:solidFill>
                <a:srgbClr val="FFFF99"/>
              </a:solidFill>
              <a:latin typeface="Times New Roman"/>
              <a:ea typeface="Times New Roman"/>
              <a:cs typeface="Times New Roman"/>
              <a:sym typeface="Times New Roman"/>
            </a:endParaRPr>
          </a:p>
          <a:p>
            <a:pPr indent="-247650" lvl="0" marL="342900" marR="0" rtl="0" algn="l">
              <a:lnSpc>
                <a:spcPct val="100000"/>
              </a:lnSpc>
              <a:spcBef>
                <a:spcPts val="400"/>
              </a:spcBef>
              <a:spcAft>
                <a:spcPts val="0"/>
              </a:spcAft>
              <a:buClr>
                <a:srgbClr val="A50021"/>
              </a:buClr>
              <a:buSzPts val="1500"/>
              <a:buFont typeface="Arial"/>
              <a:buNone/>
            </a:pPr>
            <a:r>
              <a:t/>
            </a:r>
            <a:endParaRPr b="1" i="0" sz="2000" u="none" cap="none" strike="noStrike">
              <a:solidFill>
                <a:srgbClr val="FFFF99"/>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8"/>
          <p:cNvSpPr/>
          <p:nvPr/>
        </p:nvSpPr>
        <p:spPr>
          <a:xfrm>
            <a:off x="1203325" y="1828800"/>
            <a:ext cx="1143000" cy="2438400"/>
          </a:xfrm>
          <a:prstGeom prst="ellipse">
            <a:avLst/>
          </a:prstGeom>
          <a:noFill/>
          <a:ln cap="flat" cmpd="sng" w="28575">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0" name="Google Shape;220;p18"/>
          <p:cNvSpPr/>
          <p:nvPr/>
        </p:nvSpPr>
        <p:spPr>
          <a:xfrm>
            <a:off x="1279525" y="3352800"/>
            <a:ext cx="1143000" cy="2438400"/>
          </a:xfrm>
          <a:prstGeom prst="ellipse">
            <a:avLst/>
          </a:prstGeom>
          <a:noFill/>
          <a:ln cap="flat" cmpd="sng" w="2857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1" name="Google Shape;221;p18"/>
          <p:cNvSpPr txBox="1"/>
          <p:nvPr/>
        </p:nvSpPr>
        <p:spPr>
          <a:xfrm>
            <a:off x="3565525" y="2362200"/>
            <a:ext cx="54768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800"/>
              <a:buFont typeface="Tahoma"/>
              <a:buNone/>
            </a:pPr>
            <a:r>
              <a:rPr b="0" i="0" lang="en-US" sz="1800" u="none">
                <a:solidFill>
                  <a:schemeClr val="hlink"/>
                </a:solidFill>
                <a:latin typeface="Tahoma"/>
                <a:ea typeface="Tahoma"/>
                <a:cs typeface="Tahoma"/>
                <a:sym typeface="Tahoma"/>
              </a:rPr>
              <a:t>Ω(g(n)),</a:t>
            </a:r>
            <a:r>
              <a:rPr b="0" i="0" lang="en-US" sz="1800" u="none">
                <a:solidFill>
                  <a:schemeClr val="dk1"/>
                </a:solidFill>
                <a:latin typeface="Tahoma"/>
                <a:ea typeface="Tahoma"/>
                <a:cs typeface="Tahoma"/>
                <a:sym typeface="Tahoma"/>
              </a:rPr>
              <a:t> functions that grow </a:t>
            </a:r>
            <a:r>
              <a:rPr b="0" i="0" lang="en-US" sz="1800" u="sng">
                <a:solidFill>
                  <a:schemeClr val="dk1"/>
                </a:solidFill>
                <a:latin typeface="Tahoma"/>
                <a:ea typeface="Tahoma"/>
                <a:cs typeface="Tahoma"/>
                <a:sym typeface="Tahoma"/>
              </a:rPr>
              <a:t>at least as fast as</a:t>
            </a:r>
            <a:r>
              <a:rPr b="0" i="0" lang="en-US" sz="1800" u="none">
                <a:solidFill>
                  <a:schemeClr val="dk1"/>
                </a:solidFill>
                <a:latin typeface="Tahoma"/>
                <a:ea typeface="Tahoma"/>
                <a:cs typeface="Tahoma"/>
                <a:sym typeface="Tahoma"/>
              </a:rPr>
              <a:t> g(n) </a:t>
            </a:r>
            <a:endParaRPr/>
          </a:p>
        </p:txBody>
      </p:sp>
      <p:cxnSp>
        <p:nvCxnSpPr>
          <p:cNvPr id="222" name="Google Shape;222;p18"/>
          <p:cNvCxnSpPr/>
          <p:nvPr/>
        </p:nvCxnSpPr>
        <p:spPr>
          <a:xfrm>
            <a:off x="2514600" y="2514600"/>
            <a:ext cx="1066800" cy="0"/>
          </a:xfrm>
          <a:prstGeom prst="straightConnector1">
            <a:avLst/>
          </a:prstGeom>
          <a:noFill/>
          <a:ln cap="flat" cmpd="sng" w="9525">
            <a:solidFill>
              <a:schemeClr val="dk1"/>
            </a:solidFill>
            <a:prstDash val="solid"/>
            <a:miter lim="800000"/>
            <a:headEnd len="med" w="med" type="none"/>
            <a:tailEnd len="med" w="med" type="none"/>
          </a:ln>
        </p:spPr>
      </p:cxnSp>
      <p:sp>
        <p:nvSpPr>
          <p:cNvPr id="223" name="Google Shape;223;p18"/>
          <p:cNvSpPr txBox="1"/>
          <p:nvPr/>
        </p:nvSpPr>
        <p:spPr>
          <a:xfrm>
            <a:off x="3424237" y="3352800"/>
            <a:ext cx="57197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Θ</a:t>
            </a:r>
            <a:r>
              <a:rPr b="0" i="0" lang="en-US" sz="1800" u="none">
                <a:solidFill>
                  <a:schemeClr val="dk1"/>
                </a:solidFill>
                <a:latin typeface="Tahoma"/>
                <a:ea typeface="Tahoma"/>
                <a:cs typeface="Tahoma"/>
                <a:sym typeface="Tahoma"/>
              </a:rPr>
              <a:t>(g(n)), functions that grow </a:t>
            </a:r>
            <a:r>
              <a:rPr b="0" i="0" lang="en-US" sz="1800" u="sng">
                <a:solidFill>
                  <a:schemeClr val="dk1"/>
                </a:solidFill>
                <a:latin typeface="Tahoma"/>
                <a:ea typeface="Tahoma"/>
                <a:cs typeface="Tahoma"/>
                <a:sym typeface="Tahoma"/>
              </a:rPr>
              <a:t>at the same rate as</a:t>
            </a:r>
            <a:r>
              <a:rPr b="0" i="0" lang="en-US" sz="1800" u="none">
                <a:solidFill>
                  <a:schemeClr val="dk1"/>
                </a:solidFill>
                <a:latin typeface="Tahoma"/>
                <a:ea typeface="Tahoma"/>
                <a:cs typeface="Tahoma"/>
                <a:sym typeface="Tahoma"/>
              </a:rPr>
              <a:t> g(n) </a:t>
            </a:r>
            <a:endParaRPr/>
          </a:p>
        </p:txBody>
      </p:sp>
      <p:cxnSp>
        <p:nvCxnSpPr>
          <p:cNvPr id="224" name="Google Shape;224;p18"/>
          <p:cNvCxnSpPr/>
          <p:nvPr/>
        </p:nvCxnSpPr>
        <p:spPr>
          <a:xfrm>
            <a:off x="2362200" y="3657600"/>
            <a:ext cx="1066800" cy="0"/>
          </a:xfrm>
          <a:prstGeom prst="straightConnector1">
            <a:avLst/>
          </a:prstGeom>
          <a:noFill/>
          <a:ln cap="flat" cmpd="sng" w="9525">
            <a:solidFill>
              <a:schemeClr val="dk1"/>
            </a:solidFill>
            <a:prstDash val="solid"/>
            <a:miter lim="800000"/>
            <a:headEnd len="med" w="med" type="none"/>
            <a:tailEnd len="med" w="med" type="none"/>
          </a:ln>
        </p:spPr>
      </p:cxnSp>
      <p:sp>
        <p:nvSpPr>
          <p:cNvPr id="225" name="Google Shape;225;p18"/>
          <p:cNvSpPr txBox="1"/>
          <p:nvPr/>
        </p:nvSpPr>
        <p:spPr>
          <a:xfrm>
            <a:off x="3565525" y="4799012"/>
            <a:ext cx="51117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1800"/>
              <a:buFont typeface="Tahoma"/>
              <a:buNone/>
            </a:pPr>
            <a:r>
              <a:rPr b="0" i="0" lang="en-US" sz="1800" u="none">
                <a:solidFill>
                  <a:schemeClr val="folHlink"/>
                </a:solidFill>
                <a:latin typeface="Tahoma"/>
                <a:ea typeface="Tahoma"/>
                <a:cs typeface="Tahoma"/>
                <a:sym typeface="Tahoma"/>
              </a:rPr>
              <a:t>O(g(n)),</a:t>
            </a:r>
            <a:r>
              <a:rPr b="0" i="0" lang="en-US" sz="1800" u="none">
                <a:solidFill>
                  <a:schemeClr val="dk1"/>
                </a:solidFill>
                <a:latin typeface="Tahoma"/>
                <a:ea typeface="Tahoma"/>
                <a:cs typeface="Tahoma"/>
                <a:sym typeface="Tahoma"/>
              </a:rPr>
              <a:t> functions that grow </a:t>
            </a:r>
            <a:r>
              <a:rPr b="0" i="0" lang="en-US" sz="1800" u="sng">
                <a:solidFill>
                  <a:schemeClr val="dk1"/>
                </a:solidFill>
                <a:latin typeface="Tahoma"/>
                <a:ea typeface="Tahoma"/>
                <a:cs typeface="Tahoma"/>
                <a:sym typeface="Tahoma"/>
              </a:rPr>
              <a:t>no faster than</a:t>
            </a:r>
            <a:r>
              <a:rPr b="0" i="0" lang="en-US" sz="1800" u="none">
                <a:solidFill>
                  <a:schemeClr val="dk1"/>
                </a:solidFill>
                <a:latin typeface="Tahoma"/>
                <a:ea typeface="Tahoma"/>
                <a:cs typeface="Tahoma"/>
                <a:sym typeface="Tahoma"/>
              </a:rPr>
              <a:t> g(n) </a:t>
            </a:r>
            <a:endParaRPr/>
          </a:p>
        </p:txBody>
      </p:sp>
      <p:cxnSp>
        <p:nvCxnSpPr>
          <p:cNvPr id="226" name="Google Shape;226;p18"/>
          <p:cNvCxnSpPr/>
          <p:nvPr/>
        </p:nvCxnSpPr>
        <p:spPr>
          <a:xfrm>
            <a:off x="2514600" y="4953000"/>
            <a:ext cx="1066800" cy="0"/>
          </a:xfrm>
          <a:prstGeom prst="straightConnector1">
            <a:avLst/>
          </a:prstGeom>
          <a:noFill/>
          <a:ln cap="flat" cmpd="sng" w="9525">
            <a:solidFill>
              <a:schemeClr val="dk1"/>
            </a:solidFill>
            <a:prstDash val="solid"/>
            <a:miter lim="800000"/>
            <a:headEnd len="med" w="med" type="none"/>
            <a:tailEnd len="med" w="med" type="none"/>
          </a:ln>
        </p:spPr>
      </p:cxnSp>
      <p:sp>
        <p:nvSpPr>
          <p:cNvPr id="227" name="Google Shape;227;p18"/>
          <p:cNvSpPr txBox="1"/>
          <p:nvPr/>
        </p:nvSpPr>
        <p:spPr>
          <a:xfrm>
            <a:off x="1524000" y="3657600"/>
            <a:ext cx="6127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g(n)</a:t>
            </a:r>
            <a:endParaRPr/>
          </a:p>
        </p:txBody>
      </p:sp>
      <p:sp>
        <p:nvSpPr>
          <p:cNvPr id="228" name="Google Shape;228;p18"/>
          <p:cNvSpPr txBox="1"/>
          <p:nvPr/>
        </p:nvSpPr>
        <p:spPr>
          <a:xfrm>
            <a:off x="5470525" y="1938337"/>
            <a:ext cx="6286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&gt;=</a:t>
            </a:r>
            <a:endParaRPr/>
          </a:p>
        </p:txBody>
      </p:sp>
      <p:sp>
        <p:nvSpPr>
          <p:cNvPr id="229" name="Google Shape;229;p18"/>
          <p:cNvSpPr txBox="1"/>
          <p:nvPr/>
        </p:nvSpPr>
        <p:spPr>
          <a:xfrm>
            <a:off x="5562600" y="4343400"/>
            <a:ext cx="6286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&lt;=</a:t>
            </a:r>
            <a:endParaRPr/>
          </a:p>
        </p:txBody>
      </p:sp>
      <p:sp>
        <p:nvSpPr>
          <p:cNvPr id="230" name="Google Shape;230;p18"/>
          <p:cNvSpPr txBox="1"/>
          <p:nvPr/>
        </p:nvSpPr>
        <p:spPr>
          <a:xfrm>
            <a:off x="5562600" y="2971800"/>
            <a:ext cx="406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19"/>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Theorem</a:t>
            </a:r>
            <a:endParaRPr/>
          </a:p>
        </p:txBody>
      </p:sp>
      <p:sp>
        <p:nvSpPr>
          <p:cNvPr id="237" name="Google Shape;237;p19"/>
          <p:cNvSpPr txBox="1"/>
          <p:nvPr>
            <p:ph idx="1" type="body"/>
          </p:nvPr>
        </p:nvSpPr>
        <p:spPr>
          <a:xfrm>
            <a:off x="609600" y="1219200"/>
            <a:ext cx="8269287"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If </a:t>
            </a:r>
            <a:r>
              <a:rPr b="1" i="1" lang="en-US" sz="2400" u="none">
                <a:solidFill>
                  <a:srgbClr val="FFFF99"/>
                </a:solidFill>
                <a:latin typeface="Times New Roman"/>
                <a:ea typeface="Times New Roman"/>
                <a:cs typeface="Times New Roman"/>
                <a:sym typeface="Times New Roman"/>
              </a:rPr>
              <a:t>t</a:t>
            </a:r>
            <a:r>
              <a:rPr b="1" baseline="-25000" i="1" lang="en-US" sz="2400" u="none">
                <a:solidFill>
                  <a:srgbClr val="FFFF99"/>
                </a:solidFill>
                <a:latin typeface="Times New Roman"/>
                <a:ea typeface="Times New Roman"/>
                <a:cs typeface="Times New Roman"/>
                <a:sym typeface="Times New Roman"/>
              </a:rPr>
              <a:t>1</a:t>
            </a:r>
            <a:r>
              <a:rPr b="1" i="1" lang="en-US" sz="2400" u="none">
                <a:solidFill>
                  <a:srgbClr val="FFFF99"/>
                </a:solidFill>
                <a:latin typeface="Times New Roman"/>
                <a:ea typeface="Times New Roman"/>
                <a:cs typeface="Times New Roman"/>
                <a:sym typeface="Times New Roman"/>
              </a:rPr>
              <a:t>(n) ∈ O(g</a:t>
            </a:r>
            <a:r>
              <a:rPr b="1" baseline="-25000" i="1" lang="en-US" sz="2400" u="none">
                <a:solidFill>
                  <a:srgbClr val="FFFF99"/>
                </a:solidFill>
                <a:latin typeface="Times New Roman"/>
                <a:ea typeface="Times New Roman"/>
                <a:cs typeface="Times New Roman"/>
                <a:sym typeface="Times New Roman"/>
              </a:rPr>
              <a:t>1</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and </a:t>
            </a:r>
            <a:r>
              <a:rPr b="1" i="1" lang="en-US" sz="2400" u="none">
                <a:solidFill>
                  <a:srgbClr val="FFFF99"/>
                </a:solidFill>
                <a:latin typeface="Times New Roman"/>
                <a:ea typeface="Times New Roman"/>
                <a:cs typeface="Times New Roman"/>
                <a:sym typeface="Times New Roman"/>
              </a:rPr>
              <a:t>t</a:t>
            </a:r>
            <a:r>
              <a:rPr b="1" baseline="-25000" i="1" lang="en-US" sz="2400" u="none">
                <a:solidFill>
                  <a:srgbClr val="FFFF99"/>
                </a:solidFill>
                <a:latin typeface="Times New Roman"/>
                <a:ea typeface="Times New Roman"/>
                <a:cs typeface="Times New Roman"/>
                <a:sym typeface="Times New Roman"/>
              </a:rPr>
              <a:t>2</a:t>
            </a:r>
            <a:r>
              <a:rPr b="1" i="1" lang="en-US" sz="2400" u="none">
                <a:solidFill>
                  <a:srgbClr val="FFFF99"/>
                </a:solidFill>
                <a:latin typeface="Times New Roman"/>
                <a:ea typeface="Times New Roman"/>
                <a:cs typeface="Times New Roman"/>
                <a:sym typeface="Times New Roman"/>
              </a:rPr>
              <a:t>(n) ∈ O(g</a:t>
            </a:r>
            <a:r>
              <a:rPr b="1" baseline="-25000" i="1" lang="en-US" sz="2400" u="none">
                <a:solidFill>
                  <a:srgbClr val="FFFF99"/>
                </a:solidFill>
                <a:latin typeface="Times New Roman"/>
                <a:ea typeface="Times New Roman"/>
                <a:cs typeface="Times New Roman"/>
                <a:sym typeface="Times New Roman"/>
              </a:rPr>
              <a:t>2</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then</a:t>
            </a:r>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t</a:t>
            </a:r>
            <a:r>
              <a:rPr b="1" baseline="-25000" i="1" lang="en-US" sz="2400" u="none">
                <a:solidFill>
                  <a:srgbClr val="FFFF99"/>
                </a:solidFill>
                <a:latin typeface="Times New Roman"/>
                <a:ea typeface="Times New Roman"/>
                <a:cs typeface="Times New Roman"/>
                <a:sym typeface="Times New Roman"/>
              </a:rPr>
              <a:t>1</a:t>
            </a:r>
            <a:r>
              <a:rPr b="1" i="1" lang="en-US" sz="2400" u="none">
                <a:solidFill>
                  <a:srgbClr val="FFFF99"/>
                </a:solidFill>
                <a:latin typeface="Times New Roman"/>
                <a:ea typeface="Times New Roman"/>
                <a:cs typeface="Times New Roman"/>
                <a:sym typeface="Times New Roman"/>
              </a:rPr>
              <a:t>(n) + t</a:t>
            </a:r>
            <a:r>
              <a:rPr b="1" baseline="-25000" i="1" lang="en-US" sz="2400" u="none">
                <a:solidFill>
                  <a:srgbClr val="FFFF99"/>
                </a:solidFill>
                <a:latin typeface="Times New Roman"/>
                <a:ea typeface="Times New Roman"/>
                <a:cs typeface="Times New Roman"/>
                <a:sym typeface="Times New Roman"/>
              </a:rPr>
              <a:t>2</a:t>
            </a:r>
            <a:r>
              <a:rPr b="1" i="1" lang="en-US" sz="2400" u="none">
                <a:solidFill>
                  <a:srgbClr val="FFFF99"/>
                </a:solidFill>
                <a:latin typeface="Times New Roman"/>
                <a:ea typeface="Times New Roman"/>
                <a:cs typeface="Times New Roman"/>
                <a:sym typeface="Times New Roman"/>
              </a:rPr>
              <a:t>(n) ∈ O(max{g</a:t>
            </a:r>
            <a:r>
              <a:rPr b="1" baseline="-25000" i="1" lang="en-US" sz="2400" u="none">
                <a:solidFill>
                  <a:srgbClr val="FFFF99"/>
                </a:solidFill>
                <a:latin typeface="Times New Roman"/>
                <a:ea typeface="Times New Roman"/>
                <a:cs typeface="Times New Roman"/>
                <a:sym typeface="Times New Roman"/>
              </a:rPr>
              <a:t>1</a:t>
            </a:r>
            <a:r>
              <a:rPr b="1" i="1" lang="en-US" sz="2400" u="none">
                <a:solidFill>
                  <a:srgbClr val="FFFF99"/>
                </a:solidFill>
                <a:latin typeface="Times New Roman"/>
                <a:ea typeface="Times New Roman"/>
                <a:cs typeface="Times New Roman"/>
                <a:sym typeface="Times New Roman"/>
              </a:rPr>
              <a:t>(n), g</a:t>
            </a:r>
            <a:r>
              <a:rPr b="1" baseline="-25000" i="1" lang="en-US" sz="2400" u="none">
                <a:solidFill>
                  <a:srgbClr val="FFFF99"/>
                </a:solidFill>
                <a:latin typeface="Times New Roman"/>
                <a:ea typeface="Times New Roman"/>
                <a:cs typeface="Times New Roman"/>
                <a:sym typeface="Times New Roman"/>
              </a:rPr>
              <a:t>2</a:t>
            </a:r>
            <a:r>
              <a:rPr b="1" i="1" lang="en-US" sz="2400" u="none">
                <a:solidFill>
                  <a:srgbClr val="FFFF99"/>
                </a:solidFill>
                <a:latin typeface="Times New Roman"/>
                <a:ea typeface="Times New Roman"/>
                <a:cs typeface="Times New Roman"/>
                <a:sym typeface="Times New Roman"/>
              </a:rPr>
              <a:t>(n)}).</a:t>
            </a:r>
            <a:endParaRPr/>
          </a:p>
          <a:p>
            <a:pPr indent="-285750" lvl="1" marL="742950" marR="0" rtl="0" algn="l">
              <a:lnSpc>
                <a:spcPct val="80000"/>
              </a:lnSpc>
              <a:spcBef>
                <a:spcPts val="48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The analogous assertions are true for the Ω-notation and Θ-notation.</a:t>
            </a:r>
            <a:endParaRPr/>
          </a:p>
          <a:p>
            <a:pPr indent="-133350" lvl="1" marL="742950" marR="0" rtl="0" algn="l">
              <a:lnSpc>
                <a:spcPct val="8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80000"/>
              </a:lnSpc>
              <a:spcBef>
                <a:spcPts val="400"/>
              </a:spcBef>
              <a:spcAft>
                <a:spcPts val="0"/>
              </a:spcAft>
              <a:buClr>
                <a:srgbClr val="A50021"/>
              </a:buClr>
              <a:buSzPts val="1500"/>
              <a:buFont typeface="Arial"/>
              <a:buChar char="●"/>
            </a:pPr>
            <a:r>
              <a:rPr b="1" i="0" lang="en-US" sz="2000" u="none">
                <a:solidFill>
                  <a:srgbClr val="FF9933"/>
                </a:solidFill>
                <a:latin typeface="Times New Roman"/>
                <a:ea typeface="Times New Roman"/>
                <a:cs typeface="Times New Roman"/>
                <a:sym typeface="Times New Roman"/>
              </a:rPr>
              <a:t>Implication: The algorithm’s overall efficiency will be determined by the part with a larger order of growth, i.e., its least efficient part.</a:t>
            </a:r>
            <a:endParaRPr/>
          </a:p>
          <a:p>
            <a:pPr indent="-285750" lvl="1" marL="742950" marR="0" rtl="0" algn="l">
              <a:lnSpc>
                <a:spcPct val="80000"/>
              </a:lnSpc>
              <a:spcBef>
                <a:spcPts val="560"/>
              </a:spcBef>
              <a:spcAft>
                <a:spcPts val="0"/>
              </a:spcAft>
              <a:buClr>
                <a:srgbClr val="A50021"/>
              </a:buClr>
              <a:buSzPts val="2400"/>
              <a:buFont typeface="Times New Roman"/>
              <a:buChar char="•"/>
            </a:pPr>
            <a:r>
              <a:rPr b="1" i="0" lang="en-US" sz="2400" u="none" cap="none" strike="noStrike">
                <a:solidFill>
                  <a:srgbClr val="FFFF99"/>
                </a:solidFill>
                <a:latin typeface="Times New Roman"/>
                <a:ea typeface="Times New Roman"/>
                <a:cs typeface="Times New Roman"/>
                <a:sym typeface="Times New Roman"/>
              </a:rPr>
              <a:t>For example,   </a:t>
            </a:r>
            <a:r>
              <a:rPr b="1" i="1" lang="en-US" sz="2800" u="none" cap="none" strike="noStrike">
                <a:solidFill>
                  <a:srgbClr val="FFFF99"/>
                </a:solidFill>
                <a:latin typeface="Times New Roman"/>
                <a:ea typeface="Times New Roman"/>
                <a:cs typeface="Times New Roman"/>
                <a:sym typeface="Times New Roman"/>
              </a:rPr>
              <a:t>5n</a:t>
            </a:r>
            <a:r>
              <a:rPr b="1" baseline="30000" i="1" lang="en-US" sz="2800" u="none" cap="none" strike="noStrike">
                <a:solidFill>
                  <a:srgbClr val="FFFF99"/>
                </a:solidFill>
                <a:latin typeface="Times New Roman"/>
                <a:ea typeface="Times New Roman"/>
                <a:cs typeface="Times New Roman"/>
                <a:sym typeface="Times New Roman"/>
              </a:rPr>
              <a:t>2</a:t>
            </a:r>
            <a:r>
              <a:rPr b="1" i="1" lang="en-US" sz="2800" u="none" cap="none" strike="noStrike">
                <a:solidFill>
                  <a:srgbClr val="FFFF99"/>
                </a:solidFill>
                <a:latin typeface="Times New Roman"/>
                <a:ea typeface="Times New Roman"/>
                <a:cs typeface="Times New Roman"/>
                <a:sym typeface="Times New Roman"/>
              </a:rPr>
              <a:t> + 3nlogn ∈ O(n</a:t>
            </a:r>
            <a:r>
              <a:rPr b="1" baseline="30000" i="1" lang="en-US" sz="2800" u="none" cap="none" strike="noStrike">
                <a:solidFill>
                  <a:srgbClr val="FFFF99"/>
                </a:solidFill>
                <a:latin typeface="Times New Roman"/>
                <a:ea typeface="Times New Roman"/>
                <a:cs typeface="Times New Roman"/>
                <a:sym typeface="Times New Roman"/>
              </a:rPr>
              <a:t>2</a:t>
            </a:r>
            <a:r>
              <a:rPr b="1" i="1" lang="en-US" sz="2800" u="none" cap="none" strike="noStrike">
                <a:solidFill>
                  <a:srgbClr val="FFFF99"/>
                </a:solidFill>
                <a:latin typeface="Times New Roman"/>
                <a:ea typeface="Times New Roman"/>
                <a:cs typeface="Times New Roman"/>
                <a:sym typeface="Times New Roman"/>
              </a:rPr>
              <a:t>)</a:t>
            </a:r>
            <a:endParaRPr/>
          </a:p>
        </p:txBody>
      </p:sp>
      <p:sp>
        <p:nvSpPr>
          <p:cNvPr id="238" name="Google Shape;238;p19"/>
          <p:cNvSpPr txBox="1"/>
          <p:nvPr/>
        </p:nvSpPr>
        <p:spPr>
          <a:xfrm>
            <a:off x="838200" y="4038600"/>
            <a:ext cx="7620000" cy="2355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Proof.  There exist constants </a:t>
            </a:r>
            <a:r>
              <a:rPr b="0" i="1" lang="en-US" sz="2400" u="none">
                <a:solidFill>
                  <a:schemeClr val="dk1"/>
                </a:solidFill>
                <a:latin typeface="Times New Roman"/>
                <a:ea typeface="Times New Roman"/>
                <a:cs typeface="Times New Roman"/>
                <a:sym typeface="Times New Roman"/>
              </a:rPr>
              <a:t>c</a:t>
            </a:r>
            <a:r>
              <a:rPr b="0" i="1" lang="en-US" sz="1800" u="none">
                <a:solidFill>
                  <a:schemeClr val="dk1"/>
                </a:solidFill>
                <a:latin typeface="Times New Roman"/>
                <a:ea typeface="Times New Roman"/>
                <a:cs typeface="Times New Roman"/>
                <a:sym typeface="Times New Roman"/>
              </a:rPr>
              <a:t>1</a:t>
            </a:r>
            <a:r>
              <a:rPr b="0" i="1" lang="en-US" sz="2400" u="none">
                <a:solidFill>
                  <a:schemeClr val="dk1"/>
                </a:solidFill>
                <a:latin typeface="Times New Roman"/>
                <a:ea typeface="Times New Roman"/>
                <a:cs typeface="Times New Roman"/>
                <a:sym typeface="Times New Roman"/>
              </a:rPr>
              <a:t>, c</a:t>
            </a:r>
            <a:r>
              <a:rPr b="0" i="1" lang="en-US" sz="1800" u="none">
                <a:solidFill>
                  <a:schemeClr val="dk1"/>
                </a:solidFill>
                <a:latin typeface="Times New Roman"/>
                <a:ea typeface="Times New Roman"/>
                <a:cs typeface="Times New Roman"/>
                <a:sym typeface="Times New Roman"/>
              </a:rPr>
              <a:t>2</a:t>
            </a:r>
            <a:r>
              <a:rPr b="0" i="1" lang="en-US" sz="2400" u="none">
                <a:solidFill>
                  <a:schemeClr val="dk1"/>
                </a:solidFill>
                <a:latin typeface="Times New Roman"/>
                <a:ea typeface="Times New Roman"/>
                <a:cs typeface="Times New Roman"/>
                <a:sym typeface="Times New Roman"/>
              </a:rPr>
              <a:t>, n</a:t>
            </a:r>
            <a:r>
              <a:rPr b="0" i="1" lang="en-US" sz="1800" u="none">
                <a:solidFill>
                  <a:schemeClr val="dk1"/>
                </a:solidFill>
                <a:latin typeface="Times New Roman"/>
                <a:ea typeface="Times New Roman"/>
                <a:cs typeface="Times New Roman"/>
                <a:sym typeface="Times New Roman"/>
              </a:rPr>
              <a:t>1</a:t>
            </a:r>
            <a:r>
              <a:rPr b="0" i="1" lang="en-US" sz="2400" u="none">
                <a:solidFill>
                  <a:schemeClr val="dk1"/>
                </a:solidFill>
                <a:latin typeface="Times New Roman"/>
                <a:ea typeface="Times New Roman"/>
                <a:cs typeface="Times New Roman"/>
                <a:sym typeface="Times New Roman"/>
              </a:rPr>
              <a:t>, n</a:t>
            </a:r>
            <a:r>
              <a:rPr b="0" i="1" lang="en-US" sz="1800" u="none">
                <a:solidFill>
                  <a:schemeClr val="dk1"/>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such that </a:t>
            </a:r>
            <a:endParaRPr/>
          </a:p>
          <a:p>
            <a:pPr indent="0" lvl="0" marL="0" marR="0" rtl="0" algn="l">
              <a:lnSpc>
                <a:spcPct val="6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t</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c</a:t>
            </a:r>
            <a:r>
              <a:rPr b="1" i="1" lang="en-US" sz="1800" u="none">
                <a:solidFill>
                  <a:schemeClr val="dk1"/>
                </a:solidFill>
                <a:latin typeface="Times New Roman"/>
                <a:ea typeface="Times New Roman"/>
                <a:cs typeface="Times New Roman"/>
                <a:sym typeface="Times New Roman"/>
              </a:rPr>
              <a:t>1</a:t>
            </a:r>
            <a:r>
              <a:rPr b="1" i="0"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g</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for all</a:t>
            </a:r>
            <a:r>
              <a:rPr b="1" i="1" lang="en-US" sz="2400" u="none">
                <a:solidFill>
                  <a:schemeClr val="dk1"/>
                </a:solidFill>
                <a:latin typeface="Times New Roman"/>
                <a:ea typeface="Times New Roman"/>
                <a:cs typeface="Times New Roman"/>
                <a:sym typeface="Times New Roman"/>
              </a:rPr>
              <a:t> n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n</a:t>
            </a:r>
            <a:r>
              <a:rPr b="1" i="1" lang="en-US" sz="1800" u="none">
                <a:solidFill>
                  <a:schemeClr val="dk1"/>
                </a:solidFill>
                <a:latin typeface="Times New Roman"/>
                <a:ea typeface="Times New Roman"/>
                <a:cs typeface="Times New Roman"/>
                <a:sym typeface="Times New Roman"/>
              </a:rPr>
              <a:t>1</a:t>
            </a:r>
            <a:endParaRPr/>
          </a:p>
          <a:p>
            <a:pPr indent="0" lvl="0" marL="0" marR="0" rtl="0" algn="l">
              <a:lnSpc>
                <a:spcPct val="60000"/>
              </a:lnSpc>
              <a:spcBef>
                <a:spcPts val="120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t</a:t>
            </a:r>
            <a:r>
              <a:rPr b="1" i="1" lang="en-US" sz="1800" u="none">
                <a:solidFill>
                  <a:schemeClr val="dk1"/>
                </a:solidFill>
                <a:latin typeface="Times New Roman"/>
                <a:ea typeface="Times New Roman"/>
                <a:cs typeface="Times New Roman"/>
                <a:sym typeface="Times New Roman"/>
              </a:rPr>
              <a:t>2</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c</a:t>
            </a:r>
            <a:r>
              <a:rPr b="1" i="1" lang="en-US" sz="18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g</a:t>
            </a:r>
            <a:r>
              <a:rPr b="1" i="1" lang="en-US" sz="1800" u="none">
                <a:solidFill>
                  <a:schemeClr val="dk1"/>
                </a:solidFill>
                <a:latin typeface="Times New Roman"/>
                <a:ea typeface="Times New Roman"/>
                <a:cs typeface="Times New Roman"/>
                <a:sym typeface="Times New Roman"/>
              </a:rPr>
              <a:t>2</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for all</a:t>
            </a:r>
            <a:r>
              <a:rPr b="1" i="1" lang="en-US" sz="2400" u="none">
                <a:solidFill>
                  <a:schemeClr val="dk1"/>
                </a:solidFill>
                <a:latin typeface="Times New Roman"/>
                <a:ea typeface="Times New Roman"/>
                <a:cs typeface="Times New Roman"/>
                <a:sym typeface="Times New Roman"/>
              </a:rPr>
              <a:t> n </a:t>
            </a:r>
            <a:r>
              <a:rPr b="1" i="0" lang="en-US" sz="2400" u="none">
                <a:solidFill>
                  <a:schemeClr val="dk1"/>
                </a:solidFill>
                <a:latin typeface="Times New Roman"/>
                <a:ea typeface="Times New Roman"/>
                <a:cs typeface="Times New Roman"/>
                <a:sym typeface="Times New Roman"/>
              </a:rPr>
              <a:t>≥ </a:t>
            </a:r>
            <a:r>
              <a:rPr b="1" i="1" lang="en-US" sz="2400" u="none">
                <a:solidFill>
                  <a:schemeClr val="dk1"/>
                </a:solidFill>
                <a:latin typeface="Times New Roman"/>
                <a:ea typeface="Times New Roman"/>
                <a:cs typeface="Times New Roman"/>
                <a:sym typeface="Times New Roman"/>
              </a:rPr>
              <a:t>n</a:t>
            </a:r>
            <a:r>
              <a:rPr b="1" i="1" lang="en-US" sz="1800" u="none">
                <a:solidFill>
                  <a:schemeClr val="dk1"/>
                </a:solidFill>
                <a:latin typeface="Times New Roman"/>
                <a:ea typeface="Times New Roman"/>
                <a:cs typeface="Times New Roman"/>
                <a:sym typeface="Times New Roman"/>
              </a:rPr>
              <a:t>2</a:t>
            </a:r>
            <a:endParaRPr/>
          </a:p>
          <a:p>
            <a:pPr indent="0" lvl="0" marL="0" marR="0" rtl="0" algn="l">
              <a:lnSpc>
                <a:spcPct val="100000"/>
              </a:lnSpc>
              <a:spcBef>
                <a:spcPts val="120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Define </a:t>
            </a:r>
            <a:r>
              <a:rPr b="1" i="1" lang="en-US" sz="2400" u="none">
                <a:solidFill>
                  <a:schemeClr val="dk1"/>
                </a:solidFill>
                <a:latin typeface="Times New Roman"/>
                <a:ea typeface="Times New Roman"/>
                <a:cs typeface="Times New Roman"/>
                <a:sym typeface="Times New Roman"/>
              </a:rPr>
              <a:t>c</a:t>
            </a:r>
            <a:r>
              <a:rPr b="1" i="1" lang="en-US" sz="1800" u="none">
                <a:solidFill>
                  <a:schemeClr val="dk1"/>
                </a:solidFill>
                <a:latin typeface="Times New Roman"/>
                <a:ea typeface="Times New Roman"/>
                <a:cs typeface="Times New Roman"/>
                <a:sym typeface="Times New Roman"/>
              </a:rPr>
              <a:t>3</a:t>
            </a:r>
            <a:r>
              <a:rPr b="1" i="1" lang="en-US" sz="2400" u="none">
                <a:solidFill>
                  <a:schemeClr val="dk1"/>
                </a:solidFill>
                <a:latin typeface="Times New Roman"/>
                <a:ea typeface="Times New Roman"/>
                <a:cs typeface="Times New Roman"/>
                <a:sym typeface="Times New Roman"/>
              </a:rPr>
              <a:t> = c</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 + c</a:t>
            </a:r>
            <a:r>
              <a:rPr b="1" i="1" lang="en-US" sz="1800" u="none">
                <a:solidFill>
                  <a:schemeClr val="dk1"/>
                </a:solidFill>
                <a:latin typeface="Times New Roman"/>
                <a:ea typeface="Times New Roman"/>
                <a:cs typeface="Times New Roman"/>
                <a:sym typeface="Times New Roman"/>
              </a:rPr>
              <a:t>2</a:t>
            </a:r>
            <a:r>
              <a:rPr b="1" i="0" lang="en-US" sz="2400" u="none">
                <a:solidFill>
                  <a:schemeClr val="dk1"/>
                </a:solidFill>
                <a:latin typeface="Times New Roman"/>
                <a:ea typeface="Times New Roman"/>
                <a:cs typeface="Times New Roman"/>
                <a:sym typeface="Times New Roman"/>
              </a:rPr>
              <a:t> and </a:t>
            </a:r>
            <a:r>
              <a:rPr b="1" i="1" lang="en-US" sz="2400" u="none">
                <a:solidFill>
                  <a:schemeClr val="dk1"/>
                </a:solidFill>
                <a:latin typeface="Times New Roman"/>
                <a:ea typeface="Times New Roman"/>
                <a:cs typeface="Times New Roman"/>
                <a:sym typeface="Times New Roman"/>
              </a:rPr>
              <a:t>n</a:t>
            </a:r>
            <a:r>
              <a:rPr b="1" i="1" lang="en-US" sz="1800" u="none">
                <a:solidFill>
                  <a:schemeClr val="dk1"/>
                </a:solidFill>
                <a:latin typeface="Times New Roman"/>
                <a:ea typeface="Times New Roman"/>
                <a:cs typeface="Times New Roman"/>
                <a:sym typeface="Times New Roman"/>
              </a:rPr>
              <a:t>3 </a:t>
            </a:r>
            <a:r>
              <a:rPr b="1" i="1" lang="en-US" sz="2400" u="none">
                <a:solidFill>
                  <a:schemeClr val="dk1"/>
                </a:solidFill>
                <a:latin typeface="Times New Roman"/>
                <a:ea typeface="Times New Roman"/>
                <a:cs typeface="Times New Roman"/>
                <a:sym typeface="Times New Roman"/>
              </a:rPr>
              <a:t>= max{n</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,n</a:t>
            </a:r>
            <a:r>
              <a:rPr b="1" i="1" lang="en-US" sz="1800" u="none">
                <a:solidFill>
                  <a:schemeClr val="dk1"/>
                </a:solidFill>
                <a:latin typeface="Times New Roman"/>
                <a:ea typeface="Times New Roman"/>
                <a:cs typeface="Times New Roman"/>
                <a:sym typeface="Times New Roman"/>
              </a:rPr>
              <a:t>2</a:t>
            </a:r>
            <a:r>
              <a:rPr b="1" i="1" lang="en-US" sz="2400" u="none">
                <a:solidFill>
                  <a:schemeClr val="dk1"/>
                </a:solidFill>
                <a:latin typeface="Times New Roman"/>
                <a:ea typeface="Times New Roman"/>
                <a:cs typeface="Times New Roman"/>
                <a:sym typeface="Times New Roman"/>
              </a:rPr>
              <a:t>}. Then</a:t>
            </a:r>
            <a:endParaRPr/>
          </a:p>
          <a:p>
            <a:pPr indent="0" lvl="0" marL="0" marR="0" rtl="0" algn="l">
              <a:lnSpc>
                <a:spcPct val="100000"/>
              </a:lnSpc>
              <a:spcBef>
                <a:spcPts val="120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          t</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(n) + t</a:t>
            </a:r>
            <a:r>
              <a:rPr b="1" i="1" lang="en-US" sz="1800" u="none">
                <a:solidFill>
                  <a:schemeClr val="dk1"/>
                </a:solidFill>
                <a:latin typeface="Times New Roman"/>
                <a:ea typeface="Times New Roman"/>
                <a:cs typeface="Times New Roman"/>
                <a:sym typeface="Times New Roman"/>
              </a:rPr>
              <a:t>2</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 c</a:t>
            </a:r>
            <a:r>
              <a:rPr b="1" i="0" lang="en-US" sz="1800" u="none">
                <a:solidFill>
                  <a:schemeClr val="dk1"/>
                </a:solidFill>
                <a:latin typeface="Times New Roman"/>
                <a:ea typeface="Times New Roman"/>
                <a:cs typeface="Times New Roman"/>
                <a:sym typeface="Times New Roman"/>
              </a:rPr>
              <a:t>3</a:t>
            </a:r>
            <a:r>
              <a:rPr b="1" i="0"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max{g</a:t>
            </a:r>
            <a:r>
              <a:rPr b="1" i="1" lang="en-US" sz="1800" u="none">
                <a:solidFill>
                  <a:schemeClr val="dk1"/>
                </a:solidFill>
                <a:latin typeface="Times New Roman"/>
                <a:ea typeface="Times New Roman"/>
                <a:cs typeface="Times New Roman"/>
                <a:sym typeface="Times New Roman"/>
              </a:rPr>
              <a:t>1</a:t>
            </a:r>
            <a:r>
              <a:rPr b="1" i="1" lang="en-US" sz="2400" u="none">
                <a:solidFill>
                  <a:schemeClr val="dk1"/>
                </a:solidFill>
                <a:latin typeface="Times New Roman"/>
                <a:ea typeface="Times New Roman"/>
                <a:cs typeface="Times New Roman"/>
                <a:sym typeface="Times New Roman"/>
              </a:rPr>
              <a:t>(n), g</a:t>
            </a:r>
            <a:r>
              <a:rPr b="1" i="1" lang="en-US" sz="1800" u="none">
                <a:solidFill>
                  <a:schemeClr val="dk1"/>
                </a:solidFill>
                <a:latin typeface="Times New Roman"/>
                <a:ea typeface="Times New Roman"/>
                <a:cs typeface="Times New Roman"/>
                <a:sym typeface="Times New Roman"/>
              </a:rPr>
              <a:t>2</a:t>
            </a:r>
            <a:r>
              <a:rPr b="1" i="1" lang="en-US" sz="2400" u="none">
                <a:solidFill>
                  <a:schemeClr val="dk1"/>
                </a:solidFill>
                <a:latin typeface="Times New Roman"/>
                <a:ea typeface="Times New Roman"/>
                <a:cs typeface="Times New Roman"/>
                <a:sym typeface="Times New Roman"/>
              </a:rPr>
              <a:t>(n)}, </a:t>
            </a:r>
            <a:r>
              <a:rPr b="1" i="0" lang="en-US" sz="2400" u="none">
                <a:solidFill>
                  <a:schemeClr val="dk1"/>
                </a:solidFill>
                <a:latin typeface="Times New Roman"/>
                <a:ea typeface="Times New Roman"/>
                <a:cs typeface="Times New Roman"/>
                <a:sym typeface="Times New Roman"/>
              </a:rPr>
              <a:t>for all</a:t>
            </a:r>
            <a:r>
              <a:rPr b="1" i="1" lang="en-US" sz="2400" u="none">
                <a:solidFill>
                  <a:schemeClr val="dk1"/>
                </a:solidFill>
                <a:latin typeface="Times New Roman"/>
                <a:ea typeface="Times New Roman"/>
                <a:cs typeface="Times New Roman"/>
                <a:sym typeface="Times New Roman"/>
              </a:rPr>
              <a:t> n </a:t>
            </a:r>
            <a:r>
              <a:rPr b="1" i="0" lang="en-US" sz="2400" u="none">
                <a:solidFill>
                  <a:schemeClr val="dk1"/>
                </a:solidFill>
                <a:latin typeface="Times New Roman"/>
                <a:ea typeface="Times New Roman"/>
                <a:cs typeface="Times New Roman"/>
                <a:sym typeface="Times New Roman"/>
              </a:rPr>
              <a:t>≥</a:t>
            </a:r>
            <a:r>
              <a:rPr b="1" i="1"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n</a:t>
            </a:r>
            <a:r>
              <a:rPr b="1" i="0" lang="en-US" sz="1800" u="none">
                <a:solidFill>
                  <a:schemeClr val="dk1"/>
                </a:solidFill>
                <a:latin typeface="Times New Roman"/>
                <a:ea typeface="Times New Roman"/>
                <a:cs typeface="Times New Roman"/>
                <a:sym typeface="Times New Roman"/>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0"/>
          <p:cNvSpPr txBox="1"/>
          <p:nvPr>
            <p:ph type="title"/>
          </p:nvPr>
        </p:nvSpPr>
        <p:spPr>
          <a:xfrm>
            <a:off x="457200" y="198437"/>
            <a:ext cx="8686800" cy="5635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Some properties of asymptotic order of growth</a:t>
            </a:r>
            <a:endParaRPr/>
          </a:p>
        </p:txBody>
      </p:sp>
      <p:sp>
        <p:nvSpPr>
          <p:cNvPr id="245" name="Google Shape;245;p20"/>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500"/>
              <a:buFont typeface="Arial"/>
              <a:buChar char="●"/>
            </a:pP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a:t>
            </a:r>
            <a:br>
              <a:rPr b="1" i="0" lang="en-US" sz="20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00"/>
              </a:spcBef>
              <a:spcAft>
                <a:spcPts val="0"/>
              </a:spcAft>
              <a:buClr>
                <a:srgbClr val="A50021"/>
              </a:buClr>
              <a:buSzPts val="1500"/>
              <a:buFont typeface="Arial"/>
              <a:buChar char="●"/>
            </a:pP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iff </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∈Ω(</a:t>
            </a: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(n)) </a:t>
            </a:r>
            <a:br>
              <a:rPr b="1" i="1" lang="en-US" sz="20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00"/>
              </a:spcBef>
              <a:spcAft>
                <a:spcPts val="0"/>
              </a:spcAft>
              <a:buClr>
                <a:srgbClr val="A50021"/>
              </a:buClr>
              <a:buSzPts val="1500"/>
              <a:buFont typeface="Arial"/>
              <a:buChar char="●"/>
            </a:pPr>
            <a:r>
              <a:rPr b="1" i="0" lang="en-US" sz="2000" u="none">
                <a:solidFill>
                  <a:srgbClr val="FFFF99"/>
                </a:solidFill>
                <a:latin typeface="Times New Roman"/>
                <a:ea typeface="Times New Roman"/>
                <a:cs typeface="Times New Roman"/>
                <a:sym typeface="Times New Roman"/>
              </a:rPr>
              <a:t>If </a:t>
            </a:r>
            <a:r>
              <a:rPr b="1" i="1" lang="en-US" sz="2000" u="none">
                <a:solidFill>
                  <a:srgbClr val="FFFF99"/>
                </a:solidFill>
                <a:latin typeface="Times New Roman"/>
                <a:ea typeface="Times New Roman"/>
                <a:cs typeface="Times New Roman"/>
                <a:sym typeface="Times New Roman"/>
              </a:rPr>
              <a:t>f</a:t>
            </a:r>
            <a:r>
              <a:rPr b="1" baseline="-25000" i="0" lang="en-US" sz="2000" u="none">
                <a:solidFill>
                  <a:srgbClr val="FFFF99"/>
                </a:solidFill>
                <a:latin typeface="Times New Roman"/>
                <a:ea typeface="Times New Roman"/>
                <a:cs typeface="Times New Roman"/>
                <a:sym typeface="Times New Roman"/>
              </a:rPr>
              <a:t> </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g</a:t>
            </a:r>
            <a:r>
              <a:rPr b="1" baseline="-25000" i="0" lang="en-US" sz="2000" u="none">
                <a:solidFill>
                  <a:srgbClr val="FFFF99"/>
                </a:solidFill>
                <a:latin typeface="Times New Roman"/>
                <a:ea typeface="Times New Roman"/>
                <a:cs typeface="Times New Roman"/>
                <a:sym typeface="Times New Roman"/>
              </a:rPr>
              <a:t> </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and </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h</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then</a:t>
            </a:r>
            <a:r>
              <a:rPr b="1" i="1" lang="en-US" sz="2000" u="none">
                <a:solidFill>
                  <a:srgbClr val="FFFF99"/>
                </a:solidFill>
                <a:latin typeface="Times New Roman"/>
                <a:ea typeface="Times New Roman"/>
                <a:cs typeface="Times New Roman"/>
                <a:sym typeface="Times New Roman"/>
              </a:rPr>
              <a:t> 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h</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t>
            </a:r>
            <a:br>
              <a:rPr b="1" i="0" lang="en-US" sz="2000" u="none">
                <a:solidFill>
                  <a:srgbClr val="FFFF99"/>
                </a:solidFill>
                <a:latin typeface="Times New Roman"/>
                <a:ea typeface="Times New Roman"/>
                <a:cs typeface="Times New Roman"/>
                <a:sym typeface="Times New Roman"/>
              </a:rPr>
            </a:br>
            <a:br>
              <a:rPr b="1" i="0" lang="en-US" sz="2000" u="none">
                <a:solidFill>
                  <a:srgbClr val="FFFF99"/>
                </a:solidFill>
                <a:latin typeface="Times New Roman"/>
                <a:ea typeface="Times New Roman"/>
                <a:cs typeface="Times New Roman"/>
                <a:sym typeface="Times New Roman"/>
              </a:rPr>
            </a:br>
            <a:r>
              <a:rPr b="1" i="0" lang="en-US" sz="2000" u="none">
                <a:solidFill>
                  <a:srgbClr val="FFFF99"/>
                </a:solidFill>
                <a:latin typeface="Times New Roman"/>
                <a:ea typeface="Times New Roman"/>
                <a:cs typeface="Times New Roman"/>
                <a:sym typeface="Times New Roman"/>
              </a:rPr>
              <a:t>Note similarity with </a:t>
            </a:r>
            <a:r>
              <a:rPr b="1" i="1" lang="en-US" sz="2000" u="none">
                <a:solidFill>
                  <a:srgbClr val="FFFF99"/>
                </a:solidFill>
                <a:latin typeface="Times New Roman"/>
                <a:ea typeface="Times New Roman"/>
                <a:cs typeface="Times New Roman"/>
                <a:sym typeface="Times New Roman"/>
              </a:rPr>
              <a:t>a </a:t>
            </a:r>
            <a:r>
              <a:rPr b="1" i="1" lang="en-US" sz="2000" u="none">
                <a:solidFill>
                  <a:srgbClr val="FFFF99"/>
                </a:solidFill>
                <a:latin typeface="Merriweather Sans"/>
                <a:ea typeface="Merriweather Sans"/>
                <a:cs typeface="Merriweather Sans"/>
                <a:sym typeface="Merriweather Sans"/>
              </a:rPr>
              <a:t>≤</a:t>
            </a:r>
            <a:r>
              <a:rPr b="1" i="1" lang="en-US" sz="2000" u="none">
                <a:solidFill>
                  <a:srgbClr val="FFFF99"/>
                </a:solidFill>
                <a:latin typeface="Times New Roman"/>
                <a:ea typeface="Times New Roman"/>
                <a:cs typeface="Times New Roman"/>
                <a:sym typeface="Times New Roman"/>
              </a:rPr>
              <a:t> </a:t>
            </a:r>
            <a:r>
              <a:rPr b="1" i="0" lang="en-US" sz="2000" u="none">
                <a:solidFill>
                  <a:srgbClr val="FFFF99"/>
                </a:solidFill>
                <a:latin typeface="Times New Roman"/>
                <a:ea typeface="Times New Roman"/>
                <a:cs typeface="Times New Roman"/>
                <a:sym typeface="Times New Roman"/>
              </a:rPr>
              <a:t>b</a:t>
            </a:r>
            <a:br>
              <a:rPr b="1" i="0" lang="en-US" sz="20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00"/>
              </a:spcBef>
              <a:spcAft>
                <a:spcPts val="0"/>
              </a:spcAft>
              <a:buClr>
                <a:srgbClr val="A50021"/>
              </a:buClr>
              <a:buSzPts val="1500"/>
              <a:buFont typeface="Arial"/>
              <a:buChar char="●"/>
            </a:pPr>
            <a:r>
              <a:rPr b="1" i="0" lang="en-US" sz="2000" u="none">
                <a:solidFill>
                  <a:srgbClr val="FFFF99"/>
                </a:solidFill>
                <a:latin typeface="Times New Roman"/>
                <a:ea typeface="Times New Roman"/>
                <a:cs typeface="Times New Roman"/>
                <a:sym typeface="Times New Roman"/>
              </a:rPr>
              <a:t>If </a:t>
            </a:r>
            <a:r>
              <a:rPr b="1" i="1" lang="en-US" sz="2000" u="none">
                <a:solidFill>
                  <a:srgbClr val="FFFF99"/>
                </a:solidFill>
                <a:latin typeface="Times New Roman"/>
                <a:ea typeface="Times New Roman"/>
                <a:cs typeface="Times New Roman"/>
                <a:sym typeface="Times New Roman"/>
              </a:rPr>
              <a:t>f</a:t>
            </a:r>
            <a:r>
              <a:rPr b="1" baseline="-25000" i="0" lang="en-US" sz="2000" u="none">
                <a:solidFill>
                  <a:srgbClr val="FFFF99"/>
                </a:solidFill>
                <a:latin typeface="Times New Roman"/>
                <a:ea typeface="Times New Roman"/>
                <a:cs typeface="Times New Roman"/>
                <a:sym typeface="Times New Roman"/>
              </a:rPr>
              <a:t>1</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g</a:t>
            </a:r>
            <a:r>
              <a:rPr b="1" baseline="-25000" i="0" lang="en-US" sz="2000" u="none">
                <a:solidFill>
                  <a:srgbClr val="FFFF99"/>
                </a:solidFill>
                <a:latin typeface="Times New Roman"/>
                <a:ea typeface="Times New Roman"/>
                <a:cs typeface="Times New Roman"/>
                <a:sym typeface="Times New Roman"/>
              </a:rPr>
              <a:t>1</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and </a:t>
            </a:r>
            <a:r>
              <a:rPr b="1" i="1" lang="en-US" sz="2000" u="none">
                <a:solidFill>
                  <a:srgbClr val="FFFF99"/>
                </a:solidFill>
                <a:latin typeface="Times New Roman"/>
                <a:ea typeface="Times New Roman"/>
                <a:cs typeface="Times New Roman"/>
                <a:sym typeface="Times New Roman"/>
              </a:rPr>
              <a:t>f</a:t>
            </a:r>
            <a:r>
              <a:rPr b="1" baseline="-25000" i="0" lang="en-US" sz="2000" u="none">
                <a:solidFill>
                  <a:srgbClr val="FFFF99"/>
                </a:solidFill>
                <a:latin typeface="Times New Roman"/>
                <a:ea typeface="Times New Roman"/>
                <a:cs typeface="Times New Roman"/>
                <a:sym typeface="Times New Roman"/>
              </a:rPr>
              <a:t>2</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a:t>
            </a:r>
            <a:r>
              <a:rPr b="1" i="1" lang="en-US" sz="2000" u="none">
                <a:solidFill>
                  <a:srgbClr val="FFFF99"/>
                </a:solidFill>
                <a:latin typeface="Times New Roman"/>
                <a:ea typeface="Times New Roman"/>
                <a:cs typeface="Times New Roman"/>
                <a:sym typeface="Times New Roman"/>
              </a:rPr>
              <a:t>g</a:t>
            </a:r>
            <a:r>
              <a:rPr b="1" baseline="-25000" i="0" lang="en-US" sz="2000" u="none">
                <a:solidFill>
                  <a:srgbClr val="FFFF99"/>
                </a:solidFill>
                <a:latin typeface="Times New Roman"/>
                <a:ea typeface="Times New Roman"/>
                <a:cs typeface="Times New Roman"/>
                <a:sym typeface="Times New Roman"/>
              </a:rPr>
              <a:t>2</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then</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rPr b="1" i="0" lang="en-US" sz="2000" u="none">
                <a:solidFill>
                  <a:srgbClr val="FFFF99"/>
                </a:solidFill>
                <a:latin typeface="Times New Roman"/>
                <a:ea typeface="Times New Roman"/>
                <a:cs typeface="Times New Roman"/>
                <a:sym typeface="Times New Roman"/>
              </a:rPr>
              <a:t>                	 </a:t>
            </a:r>
            <a:r>
              <a:rPr b="1" i="1" lang="en-US" sz="2000" u="none">
                <a:solidFill>
                  <a:srgbClr val="FFFF99"/>
                </a:solidFill>
                <a:latin typeface="Times New Roman"/>
                <a:ea typeface="Times New Roman"/>
                <a:cs typeface="Times New Roman"/>
                <a:sym typeface="Times New Roman"/>
              </a:rPr>
              <a:t>f</a:t>
            </a:r>
            <a:r>
              <a:rPr b="1" baseline="-25000" i="0" lang="en-US" sz="2000" u="none">
                <a:solidFill>
                  <a:srgbClr val="FFFF99"/>
                </a:solidFill>
                <a:latin typeface="Times New Roman"/>
                <a:ea typeface="Times New Roman"/>
                <a:cs typeface="Times New Roman"/>
                <a:sym typeface="Times New Roman"/>
              </a:rPr>
              <a:t>1</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a:t>
            </a:r>
            <a:r>
              <a:rPr b="1" i="1" lang="en-US" sz="2000" u="none">
                <a:solidFill>
                  <a:srgbClr val="FFFF99"/>
                </a:solidFill>
                <a:latin typeface="Times New Roman"/>
                <a:ea typeface="Times New Roman"/>
                <a:cs typeface="Times New Roman"/>
                <a:sym typeface="Times New Roman"/>
              </a:rPr>
              <a:t>f</a:t>
            </a:r>
            <a:r>
              <a:rPr b="1" baseline="-25000" i="0" lang="en-US" sz="2000" u="none">
                <a:solidFill>
                  <a:srgbClr val="FFFF99"/>
                </a:solidFill>
                <a:latin typeface="Times New Roman"/>
                <a:ea typeface="Times New Roman"/>
                <a:cs typeface="Times New Roman"/>
                <a:sym typeface="Times New Roman"/>
              </a:rPr>
              <a:t>2</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 O(max{</a:t>
            </a:r>
            <a:r>
              <a:rPr b="1" i="1" lang="en-US" sz="2000" u="none">
                <a:solidFill>
                  <a:srgbClr val="FFFF99"/>
                </a:solidFill>
                <a:latin typeface="Times New Roman"/>
                <a:ea typeface="Times New Roman"/>
                <a:cs typeface="Times New Roman"/>
                <a:sym typeface="Times New Roman"/>
              </a:rPr>
              <a:t>g</a:t>
            </a:r>
            <a:r>
              <a:rPr b="1" baseline="-25000" i="0" lang="en-US" sz="2000" u="none">
                <a:solidFill>
                  <a:srgbClr val="FFFF99"/>
                </a:solidFill>
                <a:latin typeface="Times New Roman"/>
                <a:ea typeface="Times New Roman"/>
                <a:cs typeface="Times New Roman"/>
                <a:sym typeface="Times New Roman"/>
              </a:rPr>
              <a:t>1</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t>
            </a:r>
            <a:r>
              <a:rPr b="1" i="1" lang="en-US" sz="2000" u="none">
                <a:solidFill>
                  <a:srgbClr val="FFFF99"/>
                </a:solidFill>
                <a:latin typeface="Times New Roman"/>
                <a:ea typeface="Times New Roman"/>
                <a:cs typeface="Times New Roman"/>
                <a:sym typeface="Times New Roman"/>
              </a:rPr>
              <a:t>g</a:t>
            </a:r>
            <a:r>
              <a:rPr b="1" baseline="-25000" i="0" lang="en-US" sz="2000" u="none">
                <a:solidFill>
                  <a:srgbClr val="FFFF99"/>
                </a:solidFill>
                <a:latin typeface="Times New Roman"/>
                <a:ea typeface="Times New Roman"/>
                <a:cs typeface="Times New Roman"/>
                <a:sym typeface="Times New Roman"/>
              </a:rPr>
              <a:t>2</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t>
            </a:r>
            <a:br>
              <a:rPr b="1" i="0" lang="en-US" sz="20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00"/>
              </a:spcBef>
              <a:spcAft>
                <a:spcPts val="0"/>
              </a:spcAft>
              <a:buClr>
                <a:srgbClr val="A50021"/>
              </a:buClr>
              <a:buSzPts val="1500"/>
              <a:buFont typeface="Arial"/>
              <a:buNone/>
            </a:pPr>
            <a:r>
              <a:rPr b="1" i="0" lang="en-US" sz="2000" u="none">
                <a:solidFill>
                  <a:srgbClr val="FFFF99"/>
                </a:solidFill>
                <a:latin typeface="Times New Roman"/>
                <a:ea typeface="Times New Roman"/>
                <a:cs typeface="Times New Roman"/>
                <a:sym typeface="Times New Roman"/>
              </a:rPr>
              <a:t> Also,  Σ</a:t>
            </a:r>
            <a:r>
              <a:rPr b="1" baseline="-25000" i="0" lang="en-US" sz="2000" u="none">
                <a:solidFill>
                  <a:srgbClr val="FFFF99"/>
                </a:solidFill>
                <a:latin typeface="Times New Roman"/>
                <a:ea typeface="Times New Roman"/>
                <a:cs typeface="Times New Roman"/>
                <a:sym typeface="Times New Roman"/>
              </a:rPr>
              <a:t>1≤</a:t>
            </a:r>
            <a:r>
              <a:rPr b="1" baseline="-25000" i="1" lang="en-US" sz="2000" u="none">
                <a:solidFill>
                  <a:srgbClr val="FFFF99"/>
                </a:solidFill>
                <a:latin typeface="Times New Roman"/>
                <a:ea typeface="Times New Roman"/>
                <a:cs typeface="Times New Roman"/>
                <a:sym typeface="Times New Roman"/>
              </a:rPr>
              <a:t>i</a:t>
            </a:r>
            <a:r>
              <a:rPr b="1" baseline="-25000" i="0" lang="en-US" sz="2000" u="none">
                <a:solidFill>
                  <a:srgbClr val="FFFF99"/>
                </a:solidFill>
                <a:latin typeface="Times New Roman"/>
                <a:ea typeface="Times New Roman"/>
                <a:cs typeface="Times New Roman"/>
                <a:sym typeface="Times New Roman"/>
              </a:rPr>
              <a:t>≤</a:t>
            </a:r>
            <a:r>
              <a:rPr b="1" baseline="-25000" i="1" lang="en-US" sz="2000" u="none">
                <a:solidFill>
                  <a:srgbClr val="FFFF99"/>
                </a:solidFill>
                <a:latin typeface="Times New Roman"/>
                <a:ea typeface="Times New Roman"/>
                <a:cs typeface="Times New Roman"/>
                <a:sym typeface="Times New Roman"/>
              </a:rPr>
              <a:t>n</a:t>
            </a:r>
            <a:r>
              <a:rPr b="1" baseline="-25000" i="0" lang="en-US" sz="2000" u="none">
                <a:solidFill>
                  <a:srgbClr val="FFFF99"/>
                </a:solidFill>
                <a:latin typeface="Times New Roman"/>
                <a:ea typeface="Times New Roman"/>
                <a:cs typeface="Times New Roman"/>
                <a:sym typeface="Times New Roman"/>
              </a:rPr>
              <a:t> </a:t>
            </a:r>
            <a:r>
              <a:rPr b="1" i="0" lang="en-US" sz="2000" u="none">
                <a:solidFill>
                  <a:srgbClr val="FFFF99"/>
                </a:solidFill>
                <a:latin typeface="Times New Roman"/>
                <a:ea typeface="Times New Roman"/>
                <a:cs typeface="Times New Roman"/>
                <a:sym typeface="Times New Roman"/>
              </a:rPr>
              <a:t>Θ(</a:t>
            </a: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i</a:t>
            </a:r>
            <a:r>
              <a:rPr b="1" i="0" lang="en-US" sz="2000" u="none">
                <a:solidFill>
                  <a:srgbClr val="FFFF99"/>
                </a:solidFill>
                <a:latin typeface="Times New Roman"/>
                <a:ea typeface="Times New Roman"/>
                <a:cs typeface="Times New Roman"/>
                <a:sym typeface="Times New Roman"/>
              </a:rPr>
              <a:t>)) = Θ (Σ</a:t>
            </a:r>
            <a:r>
              <a:rPr b="1" baseline="-25000" i="0" lang="en-US" sz="2000" u="none">
                <a:solidFill>
                  <a:srgbClr val="FFFF99"/>
                </a:solidFill>
                <a:latin typeface="Times New Roman"/>
                <a:ea typeface="Times New Roman"/>
                <a:cs typeface="Times New Roman"/>
                <a:sym typeface="Times New Roman"/>
              </a:rPr>
              <a:t>1≤</a:t>
            </a:r>
            <a:r>
              <a:rPr b="1" baseline="-25000" i="1" lang="en-US" sz="2000" u="none">
                <a:solidFill>
                  <a:srgbClr val="FFFF99"/>
                </a:solidFill>
                <a:latin typeface="Times New Roman"/>
                <a:ea typeface="Times New Roman"/>
                <a:cs typeface="Times New Roman"/>
                <a:sym typeface="Times New Roman"/>
              </a:rPr>
              <a:t>i</a:t>
            </a:r>
            <a:r>
              <a:rPr b="1" baseline="-25000" i="0" lang="en-US" sz="2000" u="none">
                <a:solidFill>
                  <a:srgbClr val="FFFF99"/>
                </a:solidFill>
                <a:latin typeface="Times New Roman"/>
                <a:ea typeface="Times New Roman"/>
                <a:cs typeface="Times New Roman"/>
                <a:sym typeface="Times New Roman"/>
              </a:rPr>
              <a:t>≤</a:t>
            </a:r>
            <a:r>
              <a:rPr b="1" baseline="-25000" i="1" lang="en-US" sz="2000" u="none">
                <a:solidFill>
                  <a:srgbClr val="FFFF99"/>
                </a:solidFill>
                <a:latin typeface="Times New Roman"/>
                <a:ea typeface="Times New Roman"/>
                <a:cs typeface="Times New Roman"/>
                <a:sym typeface="Times New Roman"/>
              </a:rPr>
              <a:t>n </a:t>
            </a:r>
            <a:r>
              <a:rPr b="1" i="1" lang="en-US" sz="2000" u="none">
                <a:solidFill>
                  <a:srgbClr val="FFFF99"/>
                </a:solidFill>
                <a:latin typeface="Times New Roman"/>
                <a:ea typeface="Times New Roman"/>
                <a:cs typeface="Times New Roman"/>
                <a:sym typeface="Times New Roman"/>
              </a:rPr>
              <a:t>f</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i</a:t>
            </a:r>
            <a:r>
              <a:rPr b="1" i="0" lang="en-US" sz="20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rPr b="1" i="0" lang="en-US" sz="2000" u="none">
                <a:solidFill>
                  <a:srgbClr val="FF6600"/>
                </a:solidFill>
                <a:latin typeface="Times New Roman"/>
                <a:ea typeface="Times New Roman"/>
                <a:cs typeface="Times New Roman"/>
                <a:sym typeface="Times New Roman"/>
              </a:rPr>
              <a:t>Exercise: Can you prove these properties?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21"/>
          <p:cNvSpPr txBox="1"/>
          <p:nvPr>
            <p:ph type="title"/>
          </p:nvPr>
        </p:nvSpPr>
        <p:spPr>
          <a:xfrm>
            <a:off x="533400" y="198437"/>
            <a:ext cx="8610600" cy="4873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Establishing order of growth using limits</a:t>
            </a:r>
            <a:endParaRPr/>
          </a:p>
        </p:txBody>
      </p:sp>
      <p:sp>
        <p:nvSpPr>
          <p:cNvPr id="252" name="Google Shape;252;p21"/>
          <p:cNvSpPr txBox="1"/>
          <p:nvPr>
            <p:ph idx="1" type="body"/>
          </p:nvPr>
        </p:nvSpPr>
        <p:spPr>
          <a:xfrm>
            <a:off x="685800" y="2209800"/>
            <a:ext cx="2438400" cy="68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lim</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endParaRPr/>
          </a:p>
        </p:txBody>
      </p:sp>
      <p:grpSp>
        <p:nvGrpSpPr>
          <p:cNvPr id="253" name="Google Shape;253;p21"/>
          <p:cNvGrpSpPr/>
          <p:nvPr/>
        </p:nvGrpSpPr>
        <p:grpSpPr>
          <a:xfrm>
            <a:off x="2794000" y="1371600"/>
            <a:ext cx="6238875" cy="2133600"/>
            <a:chOff x="1728" y="864"/>
            <a:chExt cx="3930" cy="1344"/>
          </a:xfrm>
        </p:grpSpPr>
        <p:sp>
          <p:nvSpPr>
            <p:cNvPr id="254" name="Google Shape;254;p21"/>
            <p:cNvSpPr/>
            <p:nvPr/>
          </p:nvSpPr>
          <p:spPr>
            <a:xfrm>
              <a:off x="1728" y="864"/>
              <a:ext cx="336" cy="1344"/>
            </a:xfrm>
            <a:prstGeom prst="leftBrace">
              <a:avLst>
                <a:gd fmla="val 8333" name="adj1"/>
                <a:gd fmla="val 50000" name="adj2"/>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5" name="Google Shape;255;p21"/>
            <p:cNvSpPr txBox="1"/>
            <p:nvPr/>
          </p:nvSpPr>
          <p:spPr>
            <a:xfrm>
              <a:off x="1842" y="912"/>
              <a:ext cx="3806"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000"/>
                <a:buFont typeface="Times New Roman"/>
                <a:buNone/>
              </a:pPr>
              <a:r>
                <a:rPr b="1" i="0" lang="en-US" sz="2000" u="none">
                  <a:solidFill>
                    <a:schemeClr val="hlink"/>
                  </a:solidFill>
                  <a:latin typeface="Times New Roman"/>
                  <a:ea typeface="Times New Roman"/>
                  <a:cs typeface="Times New Roman"/>
                  <a:sym typeface="Times New Roman"/>
                </a:rPr>
                <a:t>    0</a:t>
              </a:r>
              <a:r>
                <a:rPr b="0" i="0" lang="en-US" sz="2000" u="none">
                  <a:solidFill>
                    <a:schemeClr val="dk1"/>
                  </a:solidFill>
                  <a:latin typeface="Times New Roman"/>
                  <a:ea typeface="Times New Roman"/>
                  <a:cs typeface="Times New Roman"/>
                  <a:sym typeface="Times New Roman"/>
                </a:rPr>
                <a:t>    order of growth of </a:t>
              </a:r>
              <a:r>
                <a:rPr b="1" i="1" lang="en-US" sz="2000" u="none">
                  <a:solidFill>
                    <a:srgbClr val="FFFF99"/>
                  </a:solidFill>
                  <a:latin typeface="Times New Roman"/>
                  <a:ea typeface="Times New Roman"/>
                  <a:cs typeface="Times New Roman"/>
                  <a:sym typeface="Times New Roman"/>
                </a:rPr>
                <a:t>T</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0" i="0" lang="en-US" sz="2000" u="none">
                  <a:solidFill>
                    <a:schemeClr val="dk1"/>
                  </a:solidFill>
                  <a:latin typeface="Times New Roman"/>
                  <a:ea typeface="Times New Roman"/>
                  <a:cs typeface="Times New Roman"/>
                  <a:sym typeface="Times New Roman"/>
                </a:rPr>
                <a:t>  &lt;  order of growth of </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a:t>
              </a:r>
              <a:r>
                <a:rPr b="0" i="0" lang="en-US" sz="2000" u="none">
                  <a:solidFill>
                    <a:schemeClr val="dk1"/>
                  </a:solidFill>
                  <a:latin typeface="Times New Roman"/>
                  <a:ea typeface="Times New Roman"/>
                  <a:cs typeface="Times New Roman"/>
                  <a:sym typeface="Times New Roman"/>
                </a:rPr>
                <a:t> </a:t>
              </a:r>
              <a:endParaRPr/>
            </a:p>
          </p:txBody>
        </p:sp>
        <p:sp>
          <p:nvSpPr>
            <p:cNvPr id="256" name="Google Shape;256;p21"/>
            <p:cNvSpPr txBox="1"/>
            <p:nvPr/>
          </p:nvSpPr>
          <p:spPr>
            <a:xfrm>
              <a:off x="1930" y="1344"/>
              <a:ext cx="3728"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000"/>
                <a:buFont typeface="Times New Roman"/>
                <a:buNone/>
              </a:pPr>
              <a:r>
                <a:rPr b="1" i="1" lang="en-US" sz="2000" u="none">
                  <a:solidFill>
                    <a:schemeClr val="hlink"/>
                  </a:solidFill>
                  <a:latin typeface="Times New Roman"/>
                  <a:ea typeface="Times New Roman"/>
                  <a:cs typeface="Times New Roman"/>
                  <a:sym typeface="Times New Roman"/>
                </a:rPr>
                <a:t>c </a:t>
              </a:r>
              <a:r>
                <a:rPr b="1" i="0" lang="en-US" sz="2000" u="none">
                  <a:solidFill>
                    <a:schemeClr val="hlink"/>
                  </a:solidFill>
                  <a:latin typeface="Times New Roman"/>
                  <a:ea typeface="Times New Roman"/>
                  <a:cs typeface="Times New Roman"/>
                  <a:sym typeface="Times New Roman"/>
                </a:rPr>
                <a:t>&gt; 0</a:t>
              </a:r>
              <a:r>
                <a:rPr b="0" i="0" lang="en-US" sz="2000" u="none">
                  <a:solidFill>
                    <a:schemeClr val="dk1"/>
                  </a:solidFill>
                  <a:latin typeface="Times New Roman"/>
                  <a:ea typeface="Times New Roman"/>
                  <a:cs typeface="Times New Roman"/>
                  <a:sym typeface="Times New Roman"/>
                </a:rPr>
                <a:t>  order of growth of </a:t>
              </a:r>
              <a:r>
                <a:rPr b="1" i="1" lang="en-US" sz="2000" u="none">
                  <a:solidFill>
                    <a:srgbClr val="FFFF99"/>
                  </a:solidFill>
                  <a:latin typeface="Times New Roman"/>
                  <a:ea typeface="Times New Roman"/>
                  <a:cs typeface="Times New Roman"/>
                  <a:sym typeface="Times New Roman"/>
                </a:rPr>
                <a:t>T</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0" i="0" lang="en-US" sz="2000" u="none">
                  <a:solidFill>
                    <a:schemeClr val="dk1"/>
                  </a:solidFill>
                  <a:latin typeface="Times New Roman"/>
                  <a:ea typeface="Times New Roman"/>
                  <a:cs typeface="Times New Roman"/>
                  <a:sym typeface="Times New Roman"/>
                </a:rPr>
                <a:t> = order of growth of </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a:t>
              </a:r>
              <a:r>
                <a:rPr b="0" i="0" lang="en-US" sz="2000" u="none">
                  <a:solidFill>
                    <a:schemeClr val="dk1"/>
                  </a:solidFill>
                  <a:latin typeface="Times New Roman"/>
                  <a:ea typeface="Times New Roman"/>
                  <a:cs typeface="Times New Roman"/>
                  <a:sym typeface="Times New Roman"/>
                </a:rPr>
                <a:t> </a:t>
              </a:r>
              <a:endParaRPr/>
            </a:p>
          </p:txBody>
        </p:sp>
        <p:sp>
          <p:nvSpPr>
            <p:cNvPr id="257" name="Google Shape;257;p21"/>
            <p:cNvSpPr txBox="1"/>
            <p:nvPr/>
          </p:nvSpPr>
          <p:spPr>
            <a:xfrm>
              <a:off x="1952" y="1824"/>
              <a:ext cx="3680"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000"/>
                <a:buFont typeface="Times New Roman"/>
                <a:buNone/>
              </a:pPr>
              <a:r>
                <a:rPr b="1" i="0" lang="en-US" sz="2000" u="none">
                  <a:solidFill>
                    <a:schemeClr val="hlink"/>
                  </a:solidFill>
                  <a:latin typeface="Times New Roman"/>
                  <a:ea typeface="Times New Roman"/>
                  <a:cs typeface="Times New Roman"/>
                  <a:sym typeface="Times New Roman"/>
                </a:rPr>
                <a:t> ∞</a:t>
              </a:r>
              <a:r>
                <a:rPr b="0" i="0" lang="en-US" sz="2000" u="none">
                  <a:solidFill>
                    <a:schemeClr val="dk1"/>
                  </a:solidFill>
                  <a:latin typeface="Times New Roman"/>
                  <a:ea typeface="Times New Roman"/>
                  <a:cs typeface="Times New Roman"/>
                  <a:sym typeface="Times New Roman"/>
                </a:rPr>
                <a:t>    order of growth of </a:t>
              </a:r>
              <a:r>
                <a:rPr b="1" i="1" lang="en-US" sz="2000" u="none">
                  <a:solidFill>
                    <a:srgbClr val="FFFF99"/>
                  </a:solidFill>
                  <a:latin typeface="Times New Roman"/>
                  <a:ea typeface="Times New Roman"/>
                  <a:cs typeface="Times New Roman"/>
                  <a:sym typeface="Times New Roman"/>
                </a:rPr>
                <a:t>T</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0" i="0" lang="en-US" sz="2000" u="none">
                  <a:solidFill>
                    <a:schemeClr val="dk1"/>
                  </a:solidFill>
                  <a:latin typeface="Times New Roman"/>
                  <a:ea typeface="Times New Roman"/>
                  <a:cs typeface="Times New Roman"/>
                  <a:sym typeface="Times New Roman"/>
                </a:rPr>
                <a:t> &gt;  order of growth of </a:t>
              </a:r>
              <a:r>
                <a:rPr b="1" i="1" lang="en-US" sz="2000" u="none">
                  <a:solidFill>
                    <a:srgbClr val="FFFF99"/>
                  </a:solidFill>
                  <a:latin typeface="Times New Roman"/>
                  <a:ea typeface="Times New Roman"/>
                  <a:cs typeface="Times New Roman"/>
                  <a:sym typeface="Times New Roman"/>
                </a:rPr>
                <a:t>g</a:t>
              </a:r>
              <a:r>
                <a:rPr b="1" i="0" lang="en-US" sz="2000" u="none">
                  <a:solidFill>
                    <a:srgbClr val="FFFF99"/>
                  </a:solidFill>
                  <a:latin typeface="Times New Roman"/>
                  <a:ea typeface="Times New Roman"/>
                  <a:cs typeface="Times New Roman"/>
                  <a:sym typeface="Times New Roman"/>
                </a:rPr>
                <a:t>(</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a:t>
              </a:r>
              <a:r>
                <a:rPr b="0" i="0" lang="en-US" sz="2000" u="none">
                  <a:solidFill>
                    <a:schemeClr val="dk1"/>
                  </a:solidFill>
                  <a:latin typeface="Times New Roman"/>
                  <a:ea typeface="Times New Roman"/>
                  <a:cs typeface="Times New Roman"/>
                  <a:sym typeface="Times New Roman"/>
                </a:rPr>
                <a:t> </a:t>
              </a:r>
              <a:endParaRPr/>
            </a:p>
          </p:txBody>
        </p:sp>
      </p:grpSp>
      <p:sp>
        <p:nvSpPr>
          <p:cNvPr id="258" name="Google Shape;258;p21"/>
          <p:cNvSpPr txBox="1"/>
          <p:nvPr/>
        </p:nvSpPr>
        <p:spPr>
          <a:xfrm>
            <a:off x="762000" y="3810000"/>
            <a:ext cx="7696200" cy="2647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a:solidFill>
                  <a:schemeClr val="hlink"/>
                </a:solidFill>
                <a:latin typeface="Times New Roman"/>
                <a:ea typeface="Times New Roman"/>
                <a:cs typeface="Times New Roman"/>
                <a:sym typeface="Times New Roman"/>
              </a:rPr>
              <a:t>Examples:</a:t>
            </a:r>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a:t>
            </a:r>
            <a:r>
              <a:rPr b="1" i="0" lang="en-US" sz="2400" u="none">
                <a:solidFill>
                  <a:schemeClr val="hlink"/>
                </a:solidFill>
                <a:latin typeface="Times New Roman"/>
                <a:ea typeface="Times New Roman"/>
                <a:cs typeface="Times New Roman"/>
                <a:sym typeface="Times New Roman"/>
              </a:rPr>
              <a:t>10</a:t>
            </a:r>
            <a:r>
              <a:rPr b="1" i="1" lang="en-US" sz="2400" u="none">
                <a:solidFill>
                  <a:schemeClr val="hlink"/>
                </a:solidFill>
                <a:latin typeface="Times New Roman"/>
                <a:ea typeface="Times New Roman"/>
                <a:cs typeface="Times New Roman"/>
                <a:sym typeface="Times New Roman"/>
              </a:rPr>
              <a:t>n</a:t>
            </a:r>
            <a:r>
              <a:rPr b="1" i="0" lang="en-US" sz="2400" u="none">
                <a:solidFill>
                  <a:schemeClr val="hlink"/>
                </a:solidFill>
                <a:latin typeface="Times New Roman"/>
                <a:ea typeface="Times New Roman"/>
                <a:cs typeface="Times New Roman"/>
                <a:sym typeface="Times New Roman"/>
              </a:rPr>
              <a:t>                vs.             </a:t>
            </a:r>
            <a:r>
              <a:rPr b="1" i="1" lang="en-US" sz="2400" u="none">
                <a:solidFill>
                  <a:schemeClr val="hlink"/>
                </a:solidFill>
                <a:latin typeface="Times New Roman"/>
                <a:ea typeface="Times New Roman"/>
                <a:cs typeface="Times New Roman"/>
                <a:sym typeface="Times New Roman"/>
              </a:rPr>
              <a:t>n</a:t>
            </a:r>
            <a:r>
              <a:rPr b="1" baseline="30000" i="0" lang="en-US" sz="2400" u="none">
                <a:solidFill>
                  <a:schemeClr val="hlink"/>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a:t>
            </a:r>
            <a:br>
              <a:rPr b="0" i="0" lang="en-US" sz="2400" u="none">
                <a:solidFill>
                  <a:schemeClr val="dk1"/>
                </a:solidFill>
                <a:latin typeface="Times New Roman"/>
                <a:ea typeface="Times New Roman"/>
                <a:cs typeface="Times New Roman"/>
                <a:sym typeface="Times New Roman"/>
              </a:rPr>
            </a:br>
            <a:br>
              <a:rPr b="0" i="0" lang="en-US" sz="2400" u="none">
                <a:solidFill>
                  <a:schemeClr val="dk1"/>
                </a:solidFill>
                <a:latin typeface="Times New Roman"/>
                <a:ea typeface="Times New Roman"/>
                <a:cs typeface="Times New Roman"/>
                <a:sym typeface="Times New Roman"/>
              </a:rPr>
            </a:br>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a:t>
            </a:r>
            <a:r>
              <a:rPr b="1" i="1" lang="en-US" sz="2400" u="none">
                <a:solidFill>
                  <a:schemeClr val="hlink"/>
                </a:solidFill>
                <a:latin typeface="Times New Roman"/>
                <a:ea typeface="Times New Roman"/>
                <a:cs typeface="Times New Roman"/>
                <a:sym typeface="Times New Roman"/>
              </a:rPr>
              <a:t>n</a:t>
            </a:r>
            <a:r>
              <a:rPr b="1" i="0" lang="en-US" sz="2400" u="none">
                <a:solidFill>
                  <a:schemeClr val="hlink"/>
                </a:solidFill>
                <a:latin typeface="Times New Roman"/>
                <a:ea typeface="Times New Roman"/>
                <a:cs typeface="Times New Roman"/>
                <a:sym typeface="Times New Roman"/>
              </a:rPr>
              <a:t>(</a:t>
            </a:r>
            <a:r>
              <a:rPr b="1" i="1" lang="en-US" sz="2400" u="none">
                <a:solidFill>
                  <a:schemeClr val="hlink"/>
                </a:solidFill>
                <a:latin typeface="Times New Roman"/>
                <a:ea typeface="Times New Roman"/>
                <a:cs typeface="Times New Roman"/>
                <a:sym typeface="Times New Roman"/>
              </a:rPr>
              <a:t>n</a:t>
            </a:r>
            <a:r>
              <a:rPr b="1" i="0" lang="en-US" sz="2400" u="none">
                <a:solidFill>
                  <a:schemeClr val="hlink"/>
                </a:solidFill>
                <a:latin typeface="Times New Roman"/>
                <a:ea typeface="Times New Roman"/>
                <a:cs typeface="Times New Roman"/>
                <a:sym typeface="Times New Roman"/>
              </a:rPr>
              <a:t>+1)/2        vs.             </a:t>
            </a:r>
            <a:r>
              <a:rPr b="1" i="1" lang="en-US" sz="2400" u="none">
                <a:solidFill>
                  <a:schemeClr val="hlink"/>
                </a:solidFill>
                <a:latin typeface="Times New Roman"/>
                <a:ea typeface="Times New Roman"/>
                <a:cs typeface="Times New Roman"/>
                <a:sym typeface="Times New Roman"/>
              </a:rPr>
              <a:t>n</a:t>
            </a:r>
            <a:r>
              <a:rPr b="1" baseline="30000" i="0" lang="en-US" sz="2400" u="none">
                <a:solidFill>
                  <a:schemeClr val="hlink"/>
                </a:solidFill>
                <a:latin typeface="Times New Roman"/>
                <a:ea typeface="Times New Roman"/>
                <a:cs typeface="Times New Roman"/>
                <a:sym typeface="Times New Roman"/>
              </a:rPr>
              <a:t>2</a:t>
            </a:r>
            <a:r>
              <a:rPr b="0" i="0" lang="en-US" sz="24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9" name="Google Shape;259;p21"/>
          <p:cNvSpPr txBox="1"/>
          <p:nvPr/>
        </p:nvSpPr>
        <p:spPr>
          <a:xfrm>
            <a:off x="457200" y="2438400"/>
            <a:ext cx="990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22"/>
          <p:cNvSpPr txBox="1"/>
          <p:nvPr>
            <p:ph type="title"/>
          </p:nvPr>
        </p:nvSpPr>
        <p:spPr>
          <a:xfrm>
            <a:off x="533400" y="152400"/>
            <a:ext cx="84582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L’Hôpital’s rule and Stirling’s formula</a:t>
            </a:r>
            <a:endParaRPr/>
          </a:p>
        </p:txBody>
      </p:sp>
      <p:sp>
        <p:nvSpPr>
          <p:cNvPr id="266" name="Google Shape;266;p22"/>
          <p:cNvSpPr txBox="1"/>
          <p:nvPr>
            <p:ph idx="1" type="body"/>
          </p:nvPr>
        </p:nvSpPr>
        <p:spPr>
          <a:xfrm>
            <a:off x="609600" y="1295400"/>
            <a:ext cx="83058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L’Hôpital’s rule:  If </a:t>
            </a:r>
            <a:r>
              <a:rPr b="1" i="1" lang="en-US" sz="2400" u="none">
                <a:solidFill>
                  <a:srgbClr val="FFFF99"/>
                </a:solidFill>
                <a:latin typeface="Times New Roman"/>
                <a:ea typeface="Times New Roman"/>
                <a:cs typeface="Times New Roman"/>
                <a:sym typeface="Times New Roman"/>
              </a:rPr>
              <a:t>lim</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lim</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g(n</a:t>
            </a:r>
            <a:r>
              <a:rPr b="1" i="0" lang="en-US" sz="2400" u="none">
                <a:solidFill>
                  <a:srgbClr val="FFFF99"/>
                </a:solidFill>
                <a:latin typeface="Times New Roman"/>
                <a:ea typeface="Times New Roman"/>
                <a:cs typeface="Times New Roman"/>
                <a:sym typeface="Times New Roman"/>
              </a:rPr>
              <a:t>) = ∞  and </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the derivatives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 exist, then																																																																		</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Stirling’s formula: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(2π</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baseline="30000" i="0" lang="en-US" sz="2400" u="none">
                <a:solidFill>
                  <a:srgbClr val="FFFF99"/>
                </a:solidFill>
                <a:latin typeface="Times New Roman"/>
                <a:ea typeface="Times New Roman"/>
                <a:cs typeface="Times New Roman"/>
                <a:sym typeface="Times New Roman"/>
              </a:rPr>
              <a:t>1/2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/e)</a:t>
            </a:r>
            <a:r>
              <a:rPr b="1" baseline="30000" i="1" lang="en-US" sz="2400" u="none">
                <a:solidFill>
                  <a:srgbClr val="FFFF99"/>
                </a:solidFill>
                <a:latin typeface="Times New Roman"/>
                <a:ea typeface="Times New Roman"/>
                <a:cs typeface="Times New Roman"/>
                <a:sym typeface="Times New Roman"/>
              </a:rPr>
              <a:t>n</a:t>
            </a:r>
            <a:endParaRPr/>
          </a:p>
          <a:p>
            <a:pPr indent="-342900" lvl="0" marL="342900" marR="0" rtl="0" algn="l">
              <a:lnSpc>
                <a:spcPct val="90000"/>
              </a:lnSpc>
              <a:spcBef>
                <a:spcPts val="480"/>
              </a:spcBef>
              <a:spcAft>
                <a:spcPts val="0"/>
              </a:spcAft>
              <a:buClr>
                <a:srgbClr val="A50021"/>
              </a:buClr>
              <a:buSzPts val="1800"/>
              <a:buFont typeface="Arial"/>
              <a:buNone/>
            </a:pPr>
            <a:r>
              <a:t/>
            </a:r>
            <a:endParaRPr b="1" baseline="30000" i="1" sz="2400" u="none">
              <a:solidFill>
                <a:srgbClr val="FFFF99"/>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endParaRPr/>
          </a:p>
        </p:txBody>
      </p:sp>
      <p:grpSp>
        <p:nvGrpSpPr>
          <p:cNvPr id="267" name="Google Shape;267;p22"/>
          <p:cNvGrpSpPr/>
          <p:nvPr/>
        </p:nvGrpSpPr>
        <p:grpSpPr>
          <a:xfrm>
            <a:off x="3429000" y="2438400"/>
            <a:ext cx="3978275" cy="841375"/>
            <a:chOff x="2806" y="2352"/>
            <a:chExt cx="2249" cy="581"/>
          </a:xfrm>
        </p:grpSpPr>
        <p:grpSp>
          <p:nvGrpSpPr>
            <p:cNvPr id="268" name="Google Shape;268;p22"/>
            <p:cNvGrpSpPr/>
            <p:nvPr/>
          </p:nvGrpSpPr>
          <p:grpSpPr>
            <a:xfrm>
              <a:off x="3264" y="2352"/>
              <a:ext cx="480" cy="568"/>
              <a:chOff x="3792" y="122"/>
              <a:chExt cx="480" cy="568"/>
            </a:xfrm>
          </p:grpSpPr>
          <p:sp>
            <p:nvSpPr>
              <p:cNvPr id="269" name="Google Shape;269;p22"/>
              <p:cNvSpPr txBox="1"/>
              <p:nvPr/>
            </p:nvSpPr>
            <p:spPr>
              <a:xfrm>
                <a:off x="3832" y="122"/>
                <a:ext cx="401" cy="5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g</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p:txBody>
          </p:sp>
          <p:cxnSp>
            <p:nvCxnSpPr>
              <p:cNvPr id="270" name="Google Shape;270;p22"/>
              <p:cNvCxnSpPr/>
              <p:nvPr/>
            </p:nvCxnSpPr>
            <p:spPr>
              <a:xfrm>
                <a:off x="3792" y="432"/>
                <a:ext cx="480" cy="0"/>
              </a:xfrm>
              <a:prstGeom prst="straightConnector1">
                <a:avLst/>
              </a:prstGeom>
              <a:noFill/>
              <a:ln cap="flat" cmpd="sng" w="28575">
                <a:solidFill>
                  <a:srgbClr val="FF0000"/>
                </a:solidFill>
                <a:prstDash val="solid"/>
                <a:miter lim="800000"/>
                <a:headEnd len="med" w="med" type="none"/>
                <a:tailEnd len="med" w="med" type="none"/>
              </a:ln>
            </p:spPr>
          </p:cxnSp>
        </p:grpSp>
        <p:sp>
          <p:nvSpPr>
            <p:cNvPr id="271" name="Google Shape;271;p22"/>
            <p:cNvSpPr txBox="1"/>
            <p:nvPr/>
          </p:nvSpPr>
          <p:spPr>
            <a:xfrm>
              <a:off x="2806" y="2448"/>
              <a:ext cx="363" cy="4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lim</a:t>
              </a:r>
              <a:endParaRPr/>
            </a:p>
            <a:p>
              <a:pPr indent="0" lvl="0" marL="0" marR="0" rtl="0" algn="ctr">
                <a:lnSpc>
                  <a:spcPct val="100000"/>
                </a:lnSpc>
                <a:spcBef>
                  <a:spcPts val="0"/>
                </a:spcBef>
                <a:spcAft>
                  <a:spcPts val="0"/>
                </a:spcAft>
                <a:buClr>
                  <a:srgbClr val="FFFF99"/>
                </a:buClr>
                <a:buSzPts val="1600"/>
                <a:buFont typeface="Times New Roman"/>
                <a:buNone/>
              </a:pPr>
              <a:r>
                <a:rPr b="1" i="1" lang="en-US" sz="1600" u="none">
                  <a:solidFill>
                    <a:srgbClr val="FFFF99"/>
                  </a:solidFill>
                  <a:latin typeface="Times New Roman"/>
                  <a:ea typeface="Times New Roman"/>
                  <a:cs typeface="Times New Roman"/>
                  <a:sym typeface="Times New Roman"/>
                </a:rPr>
                <a:t>n</a:t>
              </a:r>
              <a:r>
                <a:rPr b="1" i="0" lang="en-US" sz="1600" u="none">
                  <a:solidFill>
                    <a:srgbClr val="FFFF99"/>
                  </a:solidFill>
                  <a:latin typeface="Times New Roman"/>
                  <a:ea typeface="Times New Roman"/>
                  <a:cs typeface="Times New Roman"/>
                  <a:sym typeface="Times New Roman"/>
                </a:rPr>
                <a:t>→∞</a:t>
              </a:r>
              <a:endParaRPr/>
            </a:p>
          </p:txBody>
        </p:sp>
        <p:sp>
          <p:nvSpPr>
            <p:cNvPr id="272" name="Google Shape;272;p22"/>
            <p:cNvSpPr txBox="1"/>
            <p:nvPr/>
          </p:nvSpPr>
          <p:spPr>
            <a:xfrm>
              <a:off x="3805" y="2496"/>
              <a:ext cx="244" cy="3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a:p>
          </p:txBody>
        </p:sp>
        <p:grpSp>
          <p:nvGrpSpPr>
            <p:cNvPr id="273" name="Google Shape;273;p22"/>
            <p:cNvGrpSpPr/>
            <p:nvPr/>
          </p:nvGrpSpPr>
          <p:grpSpPr>
            <a:xfrm>
              <a:off x="4527" y="2352"/>
              <a:ext cx="528" cy="568"/>
              <a:chOff x="3792" y="122"/>
              <a:chExt cx="480" cy="568"/>
            </a:xfrm>
          </p:grpSpPr>
          <p:sp>
            <p:nvSpPr>
              <p:cNvPr id="274" name="Google Shape;274;p22"/>
              <p:cNvSpPr txBox="1"/>
              <p:nvPr/>
            </p:nvSpPr>
            <p:spPr>
              <a:xfrm>
                <a:off x="3807" y="122"/>
                <a:ext cx="456" cy="5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f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g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p:txBody>
          </p:sp>
          <p:cxnSp>
            <p:nvCxnSpPr>
              <p:cNvPr id="275" name="Google Shape;275;p22"/>
              <p:cNvCxnSpPr/>
              <p:nvPr/>
            </p:nvCxnSpPr>
            <p:spPr>
              <a:xfrm>
                <a:off x="3792" y="432"/>
                <a:ext cx="480" cy="0"/>
              </a:xfrm>
              <a:prstGeom prst="straightConnector1">
                <a:avLst/>
              </a:prstGeom>
              <a:noFill/>
              <a:ln cap="flat" cmpd="sng" w="28575">
                <a:solidFill>
                  <a:srgbClr val="FF0000"/>
                </a:solidFill>
                <a:prstDash val="solid"/>
                <a:miter lim="800000"/>
                <a:headEnd len="med" w="med" type="none"/>
                <a:tailEnd len="med" w="med" type="none"/>
              </a:ln>
            </p:spPr>
          </p:cxnSp>
        </p:grpSp>
        <p:sp>
          <p:nvSpPr>
            <p:cNvPr id="276" name="Google Shape;276;p22"/>
            <p:cNvSpPr txBox="1"/>
            <p:nvPr/>
          </p:nvSpPr>
          <p:spPr>
            <a:xfrm>
              <a:off x="4103" y="2448"/>
              <a:ext cx="362" cy="4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lim</a:t>
              </a:r>
              <a:endParaRPr/>
            </a:p>
            <a:p>
              <a:pPr indent="0" lvl="0" marL="0" marR="0" rtl="0" algn="ctr">
                <a:lnSpc>
                  <a:spcPct val="100000"/>
                </a:lnSpc>
                <a:spcBef>
                  <a:spcPts val="0"/>
                </a:spcBef>
                <a:spcAft>
                  <a:spcPts val="0"/>
                </a:spcAft>
                <a:buClr>
                  <a:srgbClr val="FFFF99"/>
                </a:buClr>
                <a:buSzPts val="1600"/>
                <a:buFont typeface="Times New Roman"/>
                <a:buNone/>
              </a:pPr>
              <a:r>
                <a:rPr b="1" i="1" lang="en-US" sz="1600" u="none">
                  <a:solidFill>
                    <a:srgbClr val="FFFF99"/>
                  </a:solidFill>
                  <a:latin typeface="Times New Roman"/>
                  <a:ea typeface="Times New Roman"/>
                  <a:cs typeface="Times New Roman"/>
                  <a:sym typeface="Times New Roman"/>
                </a:rPr>
                <a:t>n</a:t>
              </a:r>
              <a:r>
                <a:rPr b="1" i="0" lang="en-US" sz="1600" u="none">
                  <a:solidFill>
                    <a:srgbClr val="FFFF99"/>
                  </a:solidFill>
                  <a:latin typeface="Times New Roman"/>
                  <a:ea typeface="Times New Roman"/>
                  <a:cs typeface="Times New Roman"/>
                  <a:sym typeface="Times New Roman"/>
                </a:rPr>
                <a:t>→∞</a:t>
              </a:r>
              <a:endParaRPr/>
            </a:p>
          </p:txBody>
        </p:sp>
      </p:grpSp>
      <p:sp>
        <p:nvSpPr>
          <p:cNvPr id="277" name="Google Shape;277;p22"/>
          <p:cNvSpPr txBox="1"/>
          <p:nvPr/>
        </p:nvSpPr>
        <p:spPr>
          <a:xfrm>
            <a:off x="609600" y="3963988"/>
            <a:ext cx="3276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Example:  log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vs. </a:t>
            </a:r>
            <a:r>
              <a:rPr b="1" i="1" lang="en-US" sz="2400" u="none">
                <a:solidFill>
                  <a:srgbClr val="FFFF99"/>
                </a:solidFill>
                <a:latin typeface="Times New Roman"/>
                <a:ea typeface="Times New Roman"/>
                <a:cs typeface="Times New Roman"/>
                <a:sym typeface="Times New Roman"/>
              </a:rPr>
              <a:t>n</a:t>
            </a:r>
            <a:endParaRPr/>
          </a:p>
        </p:txBody>
      </p:sp>
      <p:sp>
        <p:nvSpPr>
          <p:cNvPr id="278" name="Google Shape;278;p22"/>
          <p:cNvSpPr txBox="1"/>
          <p:nvPr/>
        </p:nvSpPr>
        <p:spPr>
          <a:xfrm>
            <a:off x="609600" y="5105400"/>
            <a:ext cx="3276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Example:  2</a:t>
            </a:r>
            <a:r>
              <a:rPr b="1" baseline="30000"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vs.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23"/>
          <p:cNvSpPr txBox="1"/>
          <p:nvPr>
            <p:ph type="title"/>
          </p:nvPr>
        </p:nvSpPr>
        <p:spPr>
          <a:xfrm>
            <a:off x="457200" y="304800"/>
            <a:ext cx="8534400" cy="533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Orders of growth of some important functions</a:t>
            </a:r>
            <a:endParaRPr/>
          </a:p>
        </p:txBody>
      </p:sp>
      <p:sp>
        <p:nvSpPr>
          <p:cNvPr id="285" name="Google Shape;285;p23"/>
          <p:cNvSpPr txBox="1"/>
          <p:nvPr>
            <p:ph idx="1" type="body"/>
          </p:nvPr>
        </p:nvSpPr>
        <p:spPr>
          <a:xfrm>
            <a:off x="381000" y="1295400"/>
            <a:ext cx="87630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500"/>
              <a:buFont typeface="Arial"/>
              <a:buChar char="●"/>
            </a:pPr>
            <a:r>
              <a:rPr b="1" i="0" lang="en-US" sz="2000" u="none">
                <a:solidFill>
                  <a:schemeClr val="hlink"/>
                </a:solidFill>
                <a:latin typeface="Times New Roman"/>
                <a:ea typeface="Times New Roman"/>
                <a:cs typeface="Times New Roman"/>
                <a:sym typeface="Times New Roman"/>
              </a:rPr>
              <a:t>All logarithmic functions log</a:t>
            </a:r>
            <a:r>
              <a:rPr b="1" baseline="-25000" i="1" lang="en-US" sz="2000" u="none">
                <a:solidFill>
                  <a:schemeClr val="hlink"/>
                </a:solidFill>
                <a:latin typeface="Times New Roman"/>
                <a:ea typeface="Times New Roman"/>
                <a:cs typeface="Times New Roman"/>
                <a:sym typeface="Times New Roman"/>
              </a:rPr>
              <a:t>a </a:t>
            </a:r>
            <a:r>
              <a:rPr b="1" i="1" lang="en-US" sz="2000" u="none">
                <a:solidFill>
                  <a:schemeClr val="hlink"/>
                </a:solidFill>
                <a:latin typeface="Times New Roman"/>
                <a:ea typeface="Times New Roman"/>
                <a:cs typeface="Times New Roman"/>
                <a:sym typeface="Times New Roman"/>
              </a:rPr>
              <a:t>n</a:t>
            </a:r>
            <a:r>
              <a:rPr b="0" i="0" lang="en-US" sz="2000" u="none">
                <a:solidFill>
                  <a:schemeClr val="dk1"/>
                </a:solidFill>
                <a:latin typeface="Times New Roman"/>
                <a:ea typeface="Times New Roman"/>
                <a:cs typeface="Times New Roman"/>
                <a:sym typeface="Times New Roman"/>
              </a:rPr>
              <a:t> </a:t>
            </a:r>
            <a:r>
              <a:rPr b="1" i="0" lang="en-US" sz="2000" u="none">
                <a:solidFill>
                  <a:schemeClr val="hlink"/>
                </a:solidFill>
                <a:latin typeface="Times New Roman"/>
                <a:ea typeface="Times New Roman"/>
                <a:cs typeface="Times New Roman"/>
                <a:sym typeface="Times New Roman"/>
              </a:rPr>
              <a:t>belong to the same class</a:t>
            </a:r>
            <a:r>
              <a:rPr b="1" i="0" lang="en-US" sz="2000" u="none">
                <a:solidFill>
                  <a:srgbClr val="FFFF99"/>
                </a:solidFill>
                <a:latin typeface="Times New Roman"/>
                <a:ea typeface="Times New Roman"/>
                <a:cs typeface="Times New Roman"/>
                <a:sym typeface="Times New Roman"/>
              </a:rPr>
              <a:t> </a:t>
            </a:r>
            <a:br>
              <a:rPr b="1" i="0" lang="en-US" sz="2000" u="none">
                <a:solidFill>
                  <a:srgbClr val="FFFF99"/>
                </a:solidFill>
                <a:latin typeface="Times New Roman"/>
                <a:ea typeface="Times New Roman"/>
                <a:cs typeface="Times New Roman"/>
                <a:sym typeface="Times New Roman"/>
              </a:rPr>
            </a:br>
            <a:r>
              <a:rPr b="1" i="0" lang="en-US" sz="2000" u="none">
                <a:solidFill>
                  <a:srgbClr val="FFFF99"/>
                </a:solidFill>
                <a:latin typeface="Times New Roman"/>
                <a:ea typeface="Times New Roman"/>
                <a:cs typeface="Times New Roman"/>
                <a:sym typeface="Times New Roman"/>
              </a:rPr>
              <a:t>Θ(log </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no matter what the logarithm’s base </a:t>
            </a:r>
            <a:r>
              <a:rPr b="1" i="1" lang="en-US" sz="2000" u="none">
                <a:solidFill>
                  <a:srgbClr val="FFFF99"/>
                </a:solidFill>
                <a:latin typeface="Times New Roman"/>
                <a:ea typeface="Times New Roman"/>
                <a:cs typeface="Times New Roman"/>
                <a:sym typeface="Times New Roman"/>
              </a:rPr>
              <a:t>a </a:t>
            </a:r>
            <a:r>
              <a:rPr b="1" i="0" lang="en-US" sz="2000" u="none">
                <a:solidFill>
                  <a:srgbClr val="FFFF99"/>
                </a:solidFill>
                <a:latin typeface="Times New Roman"/>
                <a:ea typeface="Times New Roman"/>
                <a:cs typeface="Times New Roman"/>
                <a:sym typeface="Times New Roman"/>
              </a:rPr>
              <a:t>&gt; 1 is</a:t>
            </a:r>
            <a:br>
              <a:rPr b="1" i="0" lang="en-US" sz="2000" u="none">
                <a:solidFill>
                  <a:srgbClr val="FFFF99"/>
                </a:solidFill>
                <a:latin typeface="Times New Roman"/>
                <a:ea typeface="Times New Roman"/>
                <a:cs typeface="Times New Roman"/>
                <a:sym typeface="Times New Roman"/>
              </a:rPr>
            </a:br>
            <a:br>
              <a:rPr b="1" i="0" lang="en-US" sz="2000" u="none">
                <a:solidFill>
                  <a:srgbClr val="FFFF99"/>
                </a:solidFill>
                <a:latin typeface="Times New Roman"/>
                <a:ea typeface="Times New Roman"/>
                <a:cs typeface="Times New Roman"/>
                <a:sym typeface="Times New Roman"/>
              </a:rPr>
            </a:br>
            <a:r>
              <a:rPr b="1" i="0" lang="en-US" sz="2000" u="none">
                <a:solidFill>
                  <a:srgbClr val="FFFF99"/>
                </a:solidFill>
                <a:latin typeface="Times New Roman"/>
                <a:ea typeface="Times New Roman"/>
                <a:cs typeface="Times New Roman"/>
                <a:sym typeface="Times New Roman"/>
              </a:rPr>
              <a:t>because  </a:t>
            </a:r>
            <a:endParaRPr/>
          </a:p>
          <a:p>
            <a:pPr indent="-342900" lvl="0" marL="342900" marR="0" rtl="0" algn="l">
              <a:lnSpc>
                <a:spcPct val="8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400"/>
              </a:spcBef>
              <a:spcAft>
                <a:spcPts val="0"/>
              </a:spcAft>
              <a:buClr>
                <a:srgbClr val="A50021"/>
              </a:buClr>
              <a:buSzPts val="1500"/>
              <a:buFont typeface="Arial"/>
              <a:buChar char="●"/>
            </a:pPr>
            <a:r>
              <a:rPr b="1" i="0" lang="en-US" sz="2000" u="none">
                <a:solidFill>
                  <a:schemeClr val="hlink"/>
                </a:solidFill>
                <a:latin typeface="Times New Roman"/>
                <a:ea typeface="Times New Roman"/>
                <a:cs typeface="Times New Roman"/>
                <a:sym typeface="Times New Roman"/>
              </a:rPr>
              <a:t>All polynomials of the same degree </a:t>
            </a:r>
            <a:r>
              <a:rPr b="1" i="1" lang="en-US" sz="2000" u="none">
                <a:solidFill>
                  <a:schemeClr val="hlink"/>
                </a:solidFill>
                <a:latin typeface="Times New Roman"/>
                <a:ea typeface="Times New Roman"/>
                <a:cs typeface="Times New Roman"/>
                <a:sym typeface="Times New Roman"/>
              </a:rPr>
              <a:t>k </a:t>
            </a:r>
            <a:r>
              <a:rPr b="1" i="0" lang="en-US" sz="2000" u="none">
                <a:solidFill>
                  <a:schemeClr val="hlink"/>
                </a:solidFill>
                <a:latin typeface="Times New Roman"/>
                <a:ea typeface="Times New Roman"/>
                <a:cs typeface="Times New Roman"/>
                <a:sym typeface="Times New Roman"/>
              </a:rPr>
              <a:t>belong to the same class: </a:t>
            </a:r>
            <a:endParaRPr/>
          </a:p>
          <a:p>
            <a:pPr indent="-342900" lvl="0" marL="342900" marR="0" rtl="0" algn="l">
              <a:lnSpc>
                <a:spcPct val="80000"/>
              </a:lnSpc>
              <a:spcBef>
                <a:spcPts val="400"/>
              </a:spcBef>
              <a:spcAft>
                <a:spcPts val="0"/>
              </a:spcAft>
              <a:buClr>
                <a:srgbClr val="A50021"/>
              </a:buClr>
              <a:buSzPts val="1500"/>
              <a:buFont typeface="Arial"/>
              <a:buNone/>
            </a:pPr>
            <a:r>
              <a:rPr b="1" i="1" lang="en-US" sz="2000" u="none">
                <a:solidFill>
                  <a:srgbClr val="FFFF99"/>
                </a:solidFill>
                <a:latin typeface="Times New Roman"/>
                <a:ea typeface="Times New Roman"/>
                <a:cs typeface="Times New Roman"/>
                <a:sym typeface="Times New Roman"/>
              </a:rPr>
              <a:t>   </a:t>
            </a:r>
            <a:endParaRPr/>
          </a:p>
          <a:p>
            <a:pPr indent="-342900" lvl="0" marL="342900" marR="0" rtl="0" algn="l">
              <a:lnSpc>
                <a:spcPct val="80000"/>
              </a:lnSpc>
              <a:spcBef>
                <a:spcPts val="400"/>
              </a:spcBef>
              <a:spcAft>
                <a:spcPts val="0"/>
              </a:spcAft>
              <a:buClr>
                <a:srgbClr val="A50021"/>
              </a:buClr>
              <a:buSzPts val="1500"/>
              <a:buFont typeface="Arial"/>
              <a:buNone/>
            </a:pPr>
            <a:r>
              <a:rPr b="1" i="1" lang="en-US" sz="2000" u="none">
                <a:solidFill>
                  <a:srgbClr val="FFFF99"/>
                </a:solidFill>
                <a:latin typeface="Times New Roman"/>
                <a:ea typeface="Times New Roman"/>
                <a:cs typeface="Times New Roman"/>
                <a:sym typeface="Times New Roman"/>
              </a:rPr>
              <a:t>      		a</a:t>
            </a:r>
            <a:r>
              <a:rPr b="1" baseline="-25000" i="1" lang="en-US" sz="2000" u="none">
                <a:solidFill>
                  <a:srgbClr val="FFFF99"/>
                </a:solidFill>
                <a:latin typeface="Times New Roman"/>
                <a:ea typeface="Times New Roman"/>
                <a:cs typeface="Times New Roman"/>
                <a:sym typeface="Times New Roman"/>
              </a:rPr>
              <a:t>k</a:t>
            </a:r>
            <a:r>
              <a:rPr b="1" i="1" lang="en-US" sz="2000" u="none">
                <a:solidFill>
                  <a:srgbClr val="FFFF99"/>
                </a:solidFill>
                <a:latin typeface="Times New Roman"/>
                <a:ea typeface="Times New Roman"/>
                <a:cs typeface="Times New Roman"/>
                <a:sym typeface="Times New Roman"/>
              </a:rPr>
              <a:t>n</a:t>
            </a:r>
            <a:r>
              <a:rPr b="1" baseline="30000" i="1" lang="en-US" sz="2000" u="none">
                <a:solidFill>
                  <a:srgbClr val="FFFF99"/>
                </a:solidFill>
                <a:latin typeface="Times New Roman"/>
                <a:ea typeface="Times New Roman"/>
                <a:cs typeface="Times New Roman"/>
                <a:sym typeface="Times New Roman"/>
              </a:rPr>
              <a:t>k</a:t>
            </a:r>
            <a:r>
              <a:rPr b="1" i="0" lang="en-US" sz="2000" u="none">
                <a:solidFill>
                  <a:srgbClr val="FFFF99"/>
                </a:solidFill>
                <a:latin typeface="Times New Roman"/>
                <a:ea typeface="Times New Roman"/>
                <a:cs typeface="Times New Roman"/>
                <a:sym typeface="Times New Roman"/>
              </a:rPr>
              <a:t> + </a:t>
            </a:r>
            <a:r>
              <a:rPr b="1" i="1" lang="en-US" sz="2000" u="none">
                <a:solidFill>
                  <a:srgbClr val="FFFF99"/>
                </a:solidFill>
                <a:latin typeface="Times New Roman"/>
                <a:ea typeface="Times New Roman"/>
                <a:cs typeface="Times New Roman"/>
                <a:sym typeface="Times New Roman"/>
              </a:rPr>
              <a:t>a</a:t>
            </a:r>
            <a:r>
              <a:rPr b="1" baseline="-25000" i="1" lang="en-US" sz="2000" u="none">
                <a:solidFill>
                  <a:srgbClr val="FFFF99"/>
                </a:solidFill>
                <a:latin typeface="Times New Roman"/>
                <a:ea typeface="Times New Roman"/>
                <a:cs typeface="Times New Roman"/>
                <a:sym typeface="Times New Roman"/>
              </a:rPr>
              <a:t>k</a:t>
            </a:r>
            <a:r>
              <a:rPr b="1" baseline="-25000" i="0" lang="en-US" sz="2000" u="none">
                <a:solidFill>
                  <a:srgbClr val="FFFF99"/>
                </a:solidFill>
                <a:latin typeface="Times New Roman"/>
                <a:ea typeface="Times New Roman"/>
                <a:cs typeface="Times New Roman"/>
                <a:sym typeface="Times New Roman"/>
              </a:rPr>
              <a:t>-1</a:t>
            </a:r>
            <a:r>
              <a:rPr b="1" i="1" lang="en-US" sz="2000" u="none">
                <a:solidFill>
                  <a:srgbClr val="FFFF99"/>
                </a:solidFill>
                <a:latin typeface="Times New Roman"/>
                <a:ea typeface="Times New Roman"/>
                <a:cs typeface="Times New Roman"/>
                <a:sym typeface="Times New Roman"/>
              </a:rPr>
              <a:t>n</a:t>
            </a:r>
            <a:r>
              <a:rPr b="1" baseline="30000" i="1" lang="en-US" sz="2000" u="none">
                <a:solidFill>
                  <a:srgbClr val="FFFF99"/>
                </a:solidFill>
                <a:latin typeface="Times New Roman"/>
                <a:ea typeface="Times New Roman"/>
                <a:cs typeface="Times New Roman"/>
                <a:sym typeface="Times New Roman"/>
              </a:rPr>
              <a:t>k</a:t>
            </a:r>
            <a:r>
              <a:rPr b="1" baseline="30000" i="0" lang="en-US" sz="2000" u="none">
                <a:solidFill>
                  <a:srgbClr val="FFFF99"/>
                </a:solidFill>
                <a:latin typeface="Times New Roman"/>
                <a:ea typeface="Times New Roman"/>
                <a:cs typeface="Times New Roman"/>
                <a:sym typeface="Times New Roman"/>
              </a:rPr>
              <a:t>-1</a:t>
            </a:r>
            <a:r>
              <a:rPr b="1" i="0" lang="en-US" sz="2000" u="none">
                <a:solidFill>
                  <a:srgbClr val="FFFF99"/>
                </a:solidFill>
                <a:latin typeface="Times New Roman"/>
                <a:ea typeface="Times New Roman"/>
                <a:cs typeface="Times New Roman"/>
                <a:sym typeface="Times New Roman"/>
              </a:rPr>
              <a:t> + … + </a:t>
            </a:r>
            <a:r>
              <a:rPr b="1" i="1" lang="en-US" sz="2000" u="none">
                <a:solidFill>
                  <a:srgbClr val="FFFF99"/>
                </a:solidFill>
                <a:latin typeface="Times New Roman"/>
                <a:ea typeface="Times New Roman"/>
                <a:cs typeface="Times New Roman"/>
                <a:sym typeface="Times New Roman"/>
              </a:rPr>
              <a:t>a</a:t>
            </a:r>
            <a:r>
              <a:rPr b="1" baseline="-25000" i="0" lang="en-US" sz="2000" u="none">
                <a:solidFill>
                  <a:srgbClr val="FFFF99"/>
                </a:solidFill>
                <a:latin typeface="Times New Roman"/>
                <a:ea typeface="Times New Roman"/>
                <a:cs typeface="Times New Roman"/>
                <a:sym typeface="Times New Roman"/>
              </a:rPr>
              <a:t>0 </a:t>
            </a:r>
            <a:r>
              <a:rPr b="1" i="0" lang="en-US" sz="2000" u="none">
                <a:solidFill>
                  <a:srgbClr val="FFFF99"/>
                </a:solidFill>
                <a:latin typeface="Times New Roman"/>
                <a:ea typeface="Times New Roman"/>
                <a:cs typeface="Times New Roman"/>
                <a:sym typeface="Times New Roman"/>
              </a:rPr>
              <a:t>∈ Θ(</a:t>
            </a:r>
            <a:r>
              <a:rPr b="1" i="1" lang="en-US" sz="2000" u="none">
                <a:solidFill>
                  <a:srgbClr val="FFFF99"/>
                </a:solidFill>
                <a:latin typeface="Times New Roman"/>
                <a:ea typeface="Times New Roman"/>
                <a:cs typeface="Times New Roman"/>
                <a:sym typeface="Times New Roman"/>
              </a:rPr>
              <a:t>n</a:t>
            </a:r>
            <a:r>
              <a:rPr b="1" baseline="30000" i="1" lang="en-US" sz="2000" u="none">
                <a:solidFill>
                  <a:srgbClr val="FFFF99"/>
                </a:solidFill>
                <a:latin typeface="Times New Roman"/>
                <a:ea typeface="Times New Roman"/>
                <a:cs typeface="Times New Roman"/>
                <a:sym typeface="Times New Roman"/>
              </a:rPr>
              <a:t>k</a:t>
            </a:r>
            <a:r>
              <a:rPr b="1" i="0" lang="en-US" sz="2000" u="none">
                <a:solidFill>
                  <a:srgbClr val="FFFF99"/>
                </a:solidFill>
                <a:latin typeface="Times New Roman"/>
                <a:ea typeface="Times New Roman"/>
                <a:cs typeface="Times New Roman"/>
                <a:sym typeface="Times New Roman"/>
              </a:rPr>
              <a:t>) </a:t>
            </a:r>
            <a:br>
              <a:rPr b="1" i="0" lang="en-US" sz="2000" u="none">
                <a:solidFill>
                  <a:srgbClr val="FFFF99"/>
                </a:solidFill>
                <a:latin typeface="Times New Roman"/>
                <a:ea typeface="Times New Roman"/>
                <a:cs typeface="Times New Roman"/>
                <a:sym typeface="Times New Roman"/>
              </a:rPr>
            </a:br>
            <a:br>
              <a:rPr b="1" i="0" lang="en-US" sz="20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00"/>
              </a:spcBef>
              <a:spcAft>
                <a:spcPts val="0"/>
              </a:spcAft>
              <a:buClr>
                <a:srgbClr val="A50021"/>
              </a:buClr>
              <a:buSzPts val="1500"/>
              <a:buFont typeface="Arial"/>
              <a:buChar char="●"/>
            </a:pPr>
            <a:r>
              <a:rPr b="1" i="0" lang="en-US" sz="2000" u="none">
                <a:solidFill>
                  <a:srgbClr val="FFFF99"/>
                </a:solidFill>
                <a:latin typeface="Times New Roman"/>
                <a:ea typeface="Times New Roman"/>
                <a:cs typeface="Times New Roman"/>
                <a:sym typeface="Times New Roman"/>
              </a:rPr>
              <a:t>Exponential functions </a:t>
            </a:r>
            <a:r>
              <a:rPr b="1" i="1" lang="en-US" sz="2000" u="none">
                <a:solidFill>
                  <a:srgbClr val="FFFF99"/>
                </a:solidFill>
                <a:latin typeface="Times New Roman"/>
                <a:ea typeface="Times New Roman"/>
                <a:cs typeface="Times New Roman"/>
                <a:sym typeface="Times New Roman"/>
              </a:rPr>
              <a:t>a</a:t>
            </a:r>
            <a:r>
              <a:rPr b="1" baseline="30000" i="1" lang="en-US" sz="2000" u="none">
                <a:solidFill>
                  <a:srgbClr val="FFFF99"/>
                </a:solidFill>
                <a:latin typeface="Times New Roman"/>
                <a:ea typeface="Times New Roman"/>
                <a:cs typeface="Times New Roman"/>
                <a:sym typeface="Times New Roman"/>
              </a:rPr>
              <a:t>n </a:t>
            </a:r>
            <a:r>
              <a:rPr b="1" i="0" lang="en-US" sz="2000" u="none">
                <a:solidFill>
                  <a:srgbClr val="FFFF99"/>
                </a:solidFill>
                <a:latin typeface="Times New Roman"/>
                <a:ea typeface="Times New Roman"/>
                <a:cs typeface="Times New Roman"/>
                <a:sym typeface="Times New Roman"/>
              </a:rPr>
              <a:t>have different orders of growth for different </a:t>
            </a:r>
            <a:r>
              <a:rPr b="1" i="1" lang="en-US" sz="2000" u="none">
                <a:solidFill>
                  <a:srgbClr val="FFFF99"/>
                </a:solidFill>
                <a:latin typeface="Times New Roman"/>
                <a:ea typeface="Times New Roman"/>
                <a:cs typeface="Times New Roman"/>
                <a:sym typeface="Times New Roman"/>
              </a:rPr>
              <a:t>a</a:t>
            </a:r>
            <a:r>
              <a:rPr b="1" i="0" lang="en-US" sz="2000" u="none">
                <a:solidFill>
                  <a:srgbClr val="FFFF99"/>
                </a:solidFill>
                <a:latin typeface="Times New Roman"/>
                <a:ea typeface="Times New Roman"/>
                <a:cs typeface="Times New Roman"/>
                <a:sym typeface="Times New Roman"/>
              </a:rPr>
              <a:t>’s</a:t>
            </a:r>
            <a:br>
              <a:rPr b="1" i="1" lang="en-US" sz="2000" u="none">
                <a:solidFill>
                  <a:srgbClr val="FFFF99"/>
                </a:solidFill>
                <a:latin typeface="Times New Roman"/>
                <a:ea typeface="Times New Roman"/>
                <a:cs typeface="Times New Roman"/>
                <a:sym typeface="Times New Roman"/>
              </a:rPr>
            </a:br>
            <a:br>
              <a:rPr b="1" i="1" lang="en-US" sz="20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00"/>
              </a:spcBef>
              <a:spcAft>
                <a:spcPts val="0"/>
              </a:spcAft>
              <a:buClr>
                <a:srgbClr val="A50021"/>
              </a:buClr>
              <a:buSzPts val="1500"/>
              <a:buFont typeface="Arial"/>
              <a:buChar char="●"/>
            </a:pPr>
            <a:r>
              <a:rPr b="1" i="0" lang="en-US" sz="2000" u="none">
                <a:solidFill>
                  <a:srgbClr val="FFFF99"/>
                </a:solidFill>
                <a:latin typeface="Times New Roman"/>
                <a:ea typeface="Times New Roman"/>
                <a:cs typeface="Times New Roman"/>
                <a:sym typeface="Times New Roman"/>
              </a:rPr>
              <a:t>order log </a:t>
            </a:r>
            <a:r>
              <a:rPr b="1" i="1" lang="en-US" sz="2000" u="none">
                <a:solidFill>
                  <a:srgbClr val="FFFF99"/>
                </a:solidFill>
                <a:latin typeface="Times New Roman"/>
                <a:ea typeface="Times New Roman"/>
                <a:cs typeface="Times New Roman"/>
                <a:sym typeface="Times New Roman"/>
              </a:rPr>
              <a:t>n  &lt; </a:t>
            </a:r>
            <a:r>
              <a:rPr b="1" i="0" lang="en-US" sz="2000" u="none">
                <a:solidFill>
                  <a:srgbClr val="FFFF99"/>
                </a:solidFill>
                <a:latin typeface="Times New Roman"/>
                <a:ea typeface="Times New Roman"/>
                <a:cs typeface="Times New Roman"/>
                <a:sym typeface="Times New Roman"/>
              </a:rPr>
              <a:t>order </a:t>
            </a:r>
            <a:r>
              <a:rPr b="1" i="1" lang="en-US" sz="2000" u="none">
                <a:solidFill>
                  <a:srgbClr val="FFFF99"/>
                </a:solidFill>
                <a:latin typeface="Times New Roman"/>
                <a:ea typeface="Times New Roman"/>
                <a:cs typeface="Times New Roman"/>
                <a:sym typeface="Times New Roman"/>
              </a:rPr>
              <a:t>n</a:t>
            </a:r>
            <a:r>
              <a:rPr b="1" baseline="30000" i="1" lang="en-US" sz="2000" u="none">
                <a:solidFill>
                  <a:srgbClr val="FFFF99"/>
                </a:solidFill>
                <a:latin typeface="Times New Roman"/>
                <a:ea typeface="Times New Roman"/>
                <a:cs typeface="Times New Roman"/>
                <a:sym typeface="Times New Roman"/>
              </a:rPr>
              <a:t>α </a:t>
            </a:r>
            <a:r>
              <a:rPr b="1" i="1" lang="en-US" sz="2000" u="none">
                <a:solidFill>
                  <a:srgbClr val="FFFF99"/>
                </a:solidFill>
                <a:latin typeface="Times New Roman"/>
                <a:ea typeface="Times New Roman"/>
                <a:cs typeface="Times New Roman"/>
                <a:sym typeface="Times New Roman"/>
              </a:rPr>
              <a:t> </a:t>
            </a:r>
            <a:r>
              <a:rPr b="1" i="0" lang="en-US" sz="2000" u="none">
                <a:solidFill>
                  <a:srgbClr val="FFFF99"/>
                </a:solidFill>
                <a:latin typeface="Times New Roman"/>
                <a:ea typeface="Times New Roman"/>
                <a:cs typeface="Times New Roman"/>
                <a:sym typeface="Times New Roman"/>
              </a:rPr>
              <a:t>(α&gt;0)  &lt; order </a:t>
            </a:r>
            <a:r>
              <a:rPr b="1" i="1" lang="en-US" sz="2000" u="none">
                <a:solidFill>
                  <a:srgbClr val="FFFF99"/>
                </a:solidFill>
                <a:latin typeface="Times New Roman"/>
                <a:ea typeface="Times New Roman"/>
                <a:cs typeface="Times New Roman"/>
                <a:sym typeface="Times New Roman"/>
              </a:rPr>
              <a:t>a</a:t>
            </a:r>
            <a:r>
              <a:rPr b="1" baseline="30000"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&lt; order </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&lt; order </a:t>
            </a:r>
            <a:r>
              <a:rPr b="1" i="1" lang="en-US" sz="2000" u="none">
                <a:solidFill>
                  <a:srgbClr val="FFFF99"/>
                </a:solidFill>
                <a:latin typeface="Times New Roman"/>
                <a:ea typeface="Times New Roman"/>
                <a:cs typeface="Times New Roman"/>
                <a:sym typeface="Times New Roman"/>
              </a:rPr>
              <a:t>n</a:t>
            </a:r>
            <a:r>
              <a:rPr b="1" baseline="30000"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										</a:t>
            </a:r>
            <a:r>
              <a:rPr b="1" i="0" lang="en-US" sz="1400" u="none">
                <a:solidFill>
                  <a:srgbClr val="FFFF99"/>
                </a:solidFill>
                <a:latin typeface="Times New Roman"/>
                <a:ea typeface="Times New Roman"/>
                <a:cs typeface="Times New Roman"/>
                <a:sym typeface="Times New Roman"/>
              </a:rPr>
              <a:t>																	</a:t>
            </a:r>
            <a:endParaRPr b="1" baseline="30000" i="1" sz="14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rgbClr val="A50021"/>
              </a:buClr>
              <a:buSzPts val="1050"/>
              <a:buFont typeface="Arial"/>
              <a:buNone/>
            </a:pPr>
            <a:r>
              <a:rPr b="1" i="0" lang="en-US" sz="1400" u="none">
                <a:solidFill>
                  <a:srgbClr val="FFFF99"/>
                </a:solidFill>
                <a:latin typeface="Times New Roman"/>
                <a:ea typeface="Times New Roman"/>
                <a:cs typeface="Times New Roman"/>
                <a:sym typeface="Times New Roman"/>
              </a:rPr>
              <a:t>															</a:t>
            </a:r>
            <a:endParaRPr/>
          </a:p>
          <a:p>
            <a:pPr indent="-342900" lvl="0" marL="342900" marR="0" rtl="0" algn="l">
              <a:lnSpc>
                <a:spcPct val="80000"/>
              </a:lnSpc>
              <a:spcBef>
                <a:spcPts val="280"/>
              </a:spcBef>
              <a:spcAft>
                <a:spcPts val="0"/>
              </a:spcAft>
              <a:buClr>
                <a:srgbClr val="A50021"/>
              </a:buClr>
              <a:buSzPts val="1050"/>
              <a:buFont typeface="Arial"/>
              <a:buNone/>
            </a:pPr>
            <a:r>
              <a:rPr b="1" i="0" lang="en-US" sz="1400" u="none">
                <a:solidFill>
                  <a:srgbClr val="FFFF99"/>
                </a:solidFill>
                <a:latin typeface="Times New Roman"/>
                <a:ea typeface="Times New Roman"/>
                <a:cs typeface="Times New Roman"/>
                <a:sym typeface="Times New Roman"/>
              </a:rPr>
              <a:t>  </a:t>
            </a:r>
            <a:endParaRPr/>
          </a:p>
        </p:txBody>
      </p:sp>
      <p:pic>
        <p:nvPicPr>
          <p:cNvPr id="286" name="Google Shape;286;p23"/>
          <p:cNvPicPr preferRelativeResize="0"/>
          <p:nvPr/>
        </p:nvPicPr>
        <p:blipFill rotWithShape="1">
          <a:blip r:embed="rId3">
            <a:alphaModFix/>
          </a:blip>
          <a:srcRect b="0" l="0" r="0" t="0"/>
          <a:stretch/>
        </p:blipFill>
        <p:spPr>
          <a:xfrm>
            <a:off x="2286000" y="2057400"/>
            <a:ext cx="2971800" cy="495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p24"/>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Basic asymptotic efficiency classes</a:t>
            </a:r>
            <a:endParaRPr/>
          </a:p>
        </p:txBody>
      </p:sp>
      <p:graphicFrame>
        <p:nvGraphicFramePr>
          <p:cNvPr id="293" name="Google Shape;293;p24"/>
          <p:cNvGraphicFramePr/>
          <p:nvPr/>
        </p:nvGraphicFramePr>
        <p:xfrm>
          <a:off x="1295400" y="1219200"/>
          <a:ext cx="3000000" cy="3000000"/>
        </p:xfrm>
        <a:graphic>
          <a:graphicData uri="http://schemas.openxmlformats.org/drawingml/2006/table">
            <a:tbl>
              <a:tblPr>
                <a:noFill/>
                <a:tableStyleId>{136E1A14-2F24-48DC-BEAE-9538BC7F5F8A}</a:tableStyleId>
              </a:tblPr>
              <a:tblGrid>
                <a:gridCol w="3048000"/>
                <a:gridCol w="3048000"/>
              </a:tblGrid>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constant</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log </a:t>
                      </a:r>
                      <a:r>
                        <a:rPr b="1" i="1" lang="en-US" sz="2400" u="none" cap="none" strike="noStrike">
                          <a:solidFill>
                            <a:srgbClr val="FFFF99"/>
                          </a:solidFill>
                          <a:latin typeface="Times New Roman"/>
                          <a:ea typeface="Times New Roman"/>
                          <a:cs typeface="Times New Roman"/>
                          <a:sym typeface="Times New Roman"/>
                        </a:rPr>
                        <a:t>n</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logarithmic</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linear</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 </a:t>
                      </a:r>
                      <a:r>
                        <a:rPr b="1" i="0" lang="en-US" sz="2400" u="none" cap="none" strike="noStrike">
                          <a:solidFill>
                            <a:srgbClr val="FFFF99"/>
                          </a:solidFill>
                          <a:latin typeface="Times New Roman"/>
                          <a:ea typeface="Times New Roman"/>
                          <a:cs typeface="Times New Roman"/>
                          <a:sym typeface="Times New Roman"/>
                        </a:rPr>
                        <a:t>log </a:t>
                      </a:r>
                      <a:r>
                        <a:rPr b="1" i="1" lang="en-US" sz="2400" u="none" cap="none" strike="noStrike">
                          <a:solidFill>
                            <a:srgbClr val="FFFF99"/>
                          </a:solidFill>
                          <a:latin typeface="Times New Roman"/>
                          <a:ea typeface="Times New Roman"/>
                          <a:cs typeface="Times New Roman"/>
                          <a:sym typeface="Times New Roman"/>
                        </a:rPr>
                        <a:t>n</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log</a:t>
                      </a:r>
                      <a:r>
                        <a:rPr b="1" i="1" lang="en-US" sz="2400" u="none" cap="none" strike="noStrike">
                          <a:solidFill>
                            <a:srgbClr val="FFFF99"/>
                          </a:solidFill>
                          <a:latin typeface="Times New Roman"/>
                          <a:ea typeface="Times New Roman"/>
                          <a:cs typeface="Times New Roman"/>
                          <a:sym typeface="Times New Roman"/>
                        </a:rPr>
                        <a:t>-n</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quadratic</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a:t>
                      </a:r>
                      <a:r>
                        <a:rPr b="1" baseline="30000" i="0" lang="en-US" sz="2400" u="none" cap="none" strike="noStrike">
                          <a:solidFill>
                            <a:srgbClr val="FFFF99"/>
                          </a:solidFill>
                          <a:latin typeface="Times New Roman"/>
                          <a:ea typeface="Times New Roman"/>
                          <a:cs typeface="Times New Roman"/>
                          <a:sym typeface="Times New Roman"/>
                        </a:rPr>
                        <a:t>3</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cubic</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2</a:t>
                      </a:r>
                      <a:r>
                        <a:rPr b="1" baseline="30000" i="1" lang="en-US" sz="2400" u="none" cap="none" strike="noStrike">
                          <a:solidFill>
                            <a:srgbClr val="FFFF99"/>
                          </a:solidFill>
                          <a:latin typeface="Times New Roman"/>
                          <a:ea typeface="Times New Roman"/>
                          <a:cs typeface="Times New Roman"/>
                          <a:sym typeface="Times New Roman"/>
                        </a:rPr>
                        <a:t>n</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exponential</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8000">
                <a:tc>
                  <a:txBody>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factorial</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294" name="Google Shape;294;p24"/>
          <p:cNvCxnSpPr/>
          <p:nvPr/>
        </p:nvCxnSpPr>
        <p:spPr>
          <a:xfrm>
            <a:off x="1295400" y="4953000"/>
            <a:ext cx="7010400" cy="0"/>
          </a:xfrm>
          <a:prstGeom prst="straightConnector1">
            <a:avLst/>
          </a:prstGeom>
          <a:noFill/>
          <a:ln cap="flat" cmpd="sng" w="28575">
            <a:solidFill>
              <a:srgbClr val="FF0000"/>
            </a:solidFill>
            <a:prstDash val="solid"/>
            <a:miter lim="800000"/>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p25"/>
          <p:cNvSpPr txBox="1"/>
          <p:nvPr>
            <p:ph type="title"/>
          </p:nvPr>
        </p:nvSpPr>
        <p:spPr>
          <a:xfrm>
            <a:off x="457200" y="152400"/>
            <a:ext cx="86868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Time efficiency of nonrecursive algorithms</a:t>
            </a:r>
            <a:endParaRPr/>
          </a:p>
        </p:txBody>
      </p:sp>
      <p:sp>
        <p:nvSpPr>
          <p:cNvPr id="301" name="Google Shape;301;p25"/>
          <p:cNvSpPr txBox="1"/>
          <p:nvPr>
            <p:ph idx="1" type="body"/>
          </p:nvPr>
        </p:nvSpPr>
        <p:spPr>
          <a:xfrm>
            <a:off x="609600" y="1266825"/>
            <a:ext cx="8305800" cy="528637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General Plan for Analysis</a:t>
            </a:r>
            <a:endParaRPr/>
          </a:p>
          <a:p>
            <a:pPr indent="-342900" lvl="0" marL="342900" marR="0" rtl="0" algn="l">
              <a:lnSpc>
                <a:spcPct val="80000"/>
              </a:lnSpc>
              <a:spcBef>
                <a:spcPts val="360"/>
              </a:spcBef>
              <a:spcAft>
                <a:spcPts val="0"/>
              </a:spcAft>
              <a:buClr>
                <a:srgbClr val="A50021"/>
              </a:buClr>
              <a:buSzPts val="1350"/>
              <a:buFont typeface="Arial"/>
              <a:buNone/>
            </a:pPr>
            <a:r>
              <a:rPr b="1" i="0" lang="en-US" sz="1800" u="none">
                <a:solidFill>
                  <a:srgbClr val="FFFF99"/>
                </a:solidFill>
                <a:latin typeface="Times New Roman"/>
                <a:ea typeface="Times New Roman"/>
                <a:cs typeface="Times New Roman"/>
                <a:sym typeface="Times New Roman"/>
              </a:rPr>
              <a:t> </a:t>
            </a:r>
            <a:endParaRPr b="1" i="1" sz="1800" u="sng">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Decide on parameter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indicating </a:t>
            </a:r>
            <a:r>
              <a:rPr b="1" i="1" lang="en-US" sz="2400" u="sng">
                <a:solidFill>
                  <a:srgbClr val="FFFF99"/>
                </a:solidFill>
                <a:latin typeface="Times New Roman"/>
                <a:ea typeface="Times New Roman"/>
                <a:cs typeface="Times New Roman"/>
                <a:sym typeface="Times New Roman"/>
              </a:rPr>
              <a:t>input size</a:t>
            </a:r>
            <a:endParaRPr/>
          </a:p>
          <a:p>
            <a:pPr indent="-228600" lvl="0" marL="342900" marR="0" rtl="0" algn="l">
              <a:lnSpc>
                <a:spcPct val="80000"/>
              </a:lnSpc>
              <a:spcBef>
                <a:spcPts val="480"/>
              </a:spcBef>
              <a:spcAft>
                <a:spcPts val="0"/>
              </a:spcAft>
              <a:buClr>
                <a:srgbClr val="A50021"/>
              </a:buClr>
              <a:buSzPts val="1800"/>
              <a:buFont typeface="Arial"/>
              <a:buNone/>
            </a:pPr>
            <a:r>
              <a:t/>
            </a:r>
            <a:endParaRPr b="1" i="1" sz="2400" u="sng">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Identify algorithm’s </a:t>
            </a:r>
            <a:r>
              <a:rPr b="1" i="1" lang="en-US" sz="2400" u="sng">
                <a:solidFill>
                  <a:srgbClr val="FFFF99"/>
                </a:solidFill>
                <a:latin typeface="Times New Roman"/>
                <a:ea typeface="Times New Roman"/>
                <a:cs typeface="Times New Roman"/>
                <a:sym typeface="Times New Roman"/>
              </a:rPr>
              <a:t>basic operation</a:t>
            </a:r>
            <a:endParaRPr/>
          </a:p>
          <a:p>
            <a:pPr indent="-228600" lvl="0" marL="342900" marR="0" rtl="0" algn="l">
              <a:lnSpc>
                <a:spcPct val="80000"/>
              </a:lnSpc>
              <a:spcBef>
                <a:spcPts val="480"/>
              </a:spcBef>
              <a:spcAft>
                <a:spcPts val="0"/>
              </a:spcAft>
              <a:buClr>
                <a:srgbClr val="A50021"/>
              </a:buClr>
              <a:buSzPts val="1800"/>
              <a:buFont typeface="Arial"/>
              <a:buNone/>
            </a:pPr>
            <a:r>
              <a:t/>
            </a:r>
            <a:endParaRPr b="1" i="1" sz="2400" u="sng">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Determine </a:t>
            </a:r>
            <a:r>
              <a:rPr b="1" i="1" lang="en-US" sz="2400" u="sng">
                <a:solidFill>
                  <a:srgbClr val="FFFF99"/>
                </a:solidFill>
                <a:latin typeface="Times New Roman"/>
                <a:ea typeface="Times New Roman"/>
                <a:cs typeface="Times New Roman"/>
                <a:sym typeface="Times New Roman"/>
              </a:rPr>
              <a:t>worst</a:t>
            </a:r>
            <a:r>
              <a:rPr b="1" i="0" lang="en-US" sz="2400" u="none">
                <a:solidFill>
                  <a:srgbClr val="FFFF99"/>
                </a:solidFill>
                <a:latin typeface="Times New Roman"/>
                <a:ea typeface="Times New Roman"/>
                <a:cs typeface="Times New Roman"/>
                <a:sym typeface="Times New Roman"/>
              </a:rPr>
              <a:t>, </a:t>
            </a:r>
            <a:r>
              <a:rPr b="1" i="1" lang="en-US" sz="2400" u="sng">
                <a:solidFill>
                  <a:srgbClr val="FFFF99"/>
                </a:solidFill>
                <a:latin typeface="Times New Roman"/>
                <a:ea typeface="Times New Roman"/>
                <a:cs typeface="Times New Roman"/>
                <a:sym typeface="Times New Roman"/>
              </a:rPr>
              <a:t>average</a:t>
            </a:r>
            <a:r>
              <a:rPr b="1" i="0" lang="en-US" sz="2400" u="none">
                <a:solidFill>
                  <a:srgbClr val="FFFF99"/>
                </a:solidFill>
                <a:latin typeface="Times New Roman"/>
                <a:ea typeface="Times New Roman"/>
                <a:cs typeface="Times New Roman"/>
                <a:sym typeface="Times New Roman"/>
              </a:rPr>
              <a:t>, and </a:t>
            </a:r>
            <a:r>
              <a:rPr b="1" i="1" lang="en-US" sz="2400" u="sng">
                <a:solidFill>
                  <a:srgbClr val="FFFF99"/>
                </a:solidFill>
                <a:latin typeface="Times New Roman"/>
                <a:ea typeface="Times New Roman"/>
                <a:cs typeface="Times New Roman"/>
                <a:sym typeface="Times New Roman"/>
              </a:rPr>
              <a:t>best</a:t>
            </a:r>
            <a:r>
              <a:rPr b="1" i="0" lang="en-US" sz="2400" u="none">
                <a:solidFill>
                  <a:srgbClr val="FFFF99"/>
                </a:solidFill>
                <a:latin typeface="Times New Roman"/>
                <a:ea typeface="Times New Roman"/>
                <a:cs typeface="Times New Roman"/>
                <a:sym typeface="Times New Roman"/>
              </a:rPr>
              <a:t> cases for input of size </a:t>
            </a:r>
            <a:r>
              <a:rPr b="1" i="1" lang="en-US" sz="2400" u="none">
                <a:solidFill>
                  <a:srgbClr val="FFFF99"/>
                </a:solidFill>
                <a:latin typeface="Times New Roman"/>
                <a:ea typeface="Times New Roman"/>
                <a:cs typeface="Times New Roman"/>
                <a:sym typeface="Times New Roman"/>
              </a:rPr>
              <a:t>n</a:t>
            </a:r>
            <a:endParaRPr/>
          </a:p>
          <a:p>
            <a:pPr indent="-228600" lvl="0" marL="342900" marR="0" rtl="0" algn="l">
              <a:lnSpc>
                <a:spcPct val="80000"/>
              </a:lnSpc>
              <a:spcBef>
                <a:spcPts val="480"/>
              </a:spcBef>
              <a:spcAft>
                <a:spcPts val="0"/>
              </a:spcAft>
              <a:buClr>
                <a:srgbClr val="A50021"/>
              </a:buClr>
              <a:buSzPts val="1800"/>
              <a:buFont typeface="Arial"/>
              <a:buNone/>
            </a:pPr>
            <a:r>
              <a:t/>
            </a:r>
            <a:endParaRPr b="1" i="1" sz="24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Set up a sum for the number of times the basic operation is executed</a:t>
            </a:r>
            <a:endParaRPr/>
          </a:p>
          <a:p>
            <a:pPr indent="-228600" lvl="0" marL="342900" marR="0" rtl="0" algn="l">
              <a:lnSpc>
                <a:spcPct val="80000"/>
              </a:lnSpc>
              <a:spcBef>
                <a:spcPts val="480"/>
              </a:spcBef>
              <a:spcAft>
                <a:spcPts val="0"/>
              </a:spcAft>
              <a:buClr>
                <a:srgbClr val="A50021"/>
              </a:buClr>
              <a:buSzPts val="1800"/>
              <a:buFont typeface="Arial"/>
              <a:buNone/>
            </a:pPr>
            <a:r>
              <a:t/>
            </a:r>
            <a:endParaRPr b="1" i="1" sz="24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Simplify the sum using standard formulas and rules (see Appendix A)</a:t>
            </a:r>
            <a:endParaRPr/>
          </a:p>
          <a:p>
            <a:pPr indent="-342900" lvl="0" marL="342900" marR="0" rtl="0" algn="l">
              <a:lnSpc>
                <a:spcPct val="80000"/>
              </a:lnSpc>
              <a:spcBef>
                <a:spcPts val="400"/>
              </a:spcBef>
              <a:spcAft>
                <a:spcPts val="0"/>
              </a:spcAft>
              <a:buClr>
                <a:srgbClr val="A50021"/>
              </a:buClr>
              <a:buSzPts val="1500"/>
              <a:buFont typeface="Arial"/>
              <a:buNone/>
            </a:pPr>
            <a:r>
              <a:rPr b="1" i="1" lang="en-US" sz="2000" u="none">
                <a:solidFill>
                  <a:srgbClr val="FFFF99"/>
                </a:solidFill>
                <a:latin typeface="Times New Roman"/>
                <a:ea typeface="Times New Roman"/>
                <a:cs typeface="Times New Roman"/>
                <a:sym typeface="Times New Roman"/>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26"/>
          <p:cNvSpPr txBox="1"/>
          <p:nvPr>
            <p:ph type="title"/>
          </p:nvPr>
        </p:nvSpPr>
        <p:spPr>
          <a:xfrm>
            <a:off x="533400" y="152400"/>
            <a:ext cx="86106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Useful summation formulas and rules</a:t>
            </a:r>
            <a:endParaRPr/>
          </a:p>
        </p:txBody>
      </p:sp>
      <p:sp>
        <p:nvSpPr>
          <p:cNvPr id="308" name="Google Shape;308;p26"/>
          <p:cNvSpPr txBox="1"/>
          <p:nvPr>
            <p:ph idx="1" type="body"/>
          </p:nvPr>
        </p:nvSpPr>
        <p:spPr>
          <a:xfrm>
            <a:off x="533400" y="1143000"/>
            <a:ext cx="86106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Σ</a:t>
            </a:r>
            <a:r>
              <a:rPr b="1" baseline="-25000" i="1" lang="en-US" sz="2400" u="none">
                <a:solidFill>
                  <a:srgbClr val="FFFF99"/>
                </a:solidFill>
                <a:latin typeface="Times New Roman"/>
                <a:ea typeface="Times New Roman"/>
                <a:cs typeface="Times New Roman"/>
                <a:sym typeface="Times New Roman"/>
              </a:rPr>
              <a:t>l</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 1+1+…+1 = </a:t>
            </a:r>
            <a:r>
              <a:rPr b="1"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l </a:t>
            </a:r>
            <a:r>
              <a:rPr b="1" i="0" lang="en-US" sz="2400" u="none">
                <a:solidFill>
                  <a:srgbClr val="FFFF99"/>
                </a:solidFill>
                <a:latin typeface="Times New Roman"/>
                <a:ea typeface="Times New Roman"/>
                <a:cs typeface="Times New Roman"/>
                <a:sym typeface="Times New Roman"/>
              </a:rPr>
              <a:t>+ 1</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In particular, Σ</a:t>
            </a:r>
            <a:r>
              <a:rPr b="1" baseline="-25000" i="0" lang="en-US" sz="2400" u="none">
                <a:solidFill>
                  <a:srgbClr val="FFFF99"/>
                </a:solidFill>
                <a:latin typeface="Times New Roman"/>
                <a:ea typeface="Times New Roman"/>
                <a:cs typeface="Times New Roman"/>
                <a:sym typeface="Times New Roman"/>
              </a:rPr>
              <a:t>l≤</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 </a:t>
            </a:r>
            <a:r>
              <a:rPr b="1"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- 1 + 1 = </a:t>
            </a:r>
            <a:r>
              <a:rPr b="1"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 Θ(</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Σ</a:t>
            </a:r>
            <a:r>
              <a:rPr b="1" baseline="-25000" i="0" lang="en-US" sz="2400" u="none">
                <a:solidFill>
                  <a:srgbClr val="FFFF99"/>
                </a:solidFill>
                <a:latin typeface="Times New Roman"/>
                <a:ea typeface="Times New Roman"/>
                <a:cs typeface="Times New Roman"/>
                <a:sym typeface="Times New Roman"/>
              </a:rPr>
              <a:t>1≤</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i</a:t>
            </a:r>
            <a:r>
              <a:rPr b="1" i="0" lang="en-US" sz="2400" u="none">
                <a:solidFill>
                  <a:srgbClr val="FFFF99"/>
                </a:solidFill>
                <a:latin typeface="Times New Roman"/>
                <a:ea typeface="Times New Roman"/>
                <a:cs typeface="Times New Roman"/>
                <a:sym typeface="Times New Roman"/>
              </a:rPr>
              <a:t> = 1+2+…+</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+1)/2 ≈  </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/2 ∈ Θ(</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Σ</a:t>
            </a:r>
            <a:r>
              <a:rPr b="1" baseline="-25000" i="0" lang="en-US" sz="2400" u="none">
                <a:solidFill>
                  <a:srgbClr val="FFFF99"/>
                </a:solidFill>
                <a:latin typeface="Times New Roman"/>
                <a:ea typeface="Times New Roman"/>
                <a:cs typeface="Times New Roman"/>
                <a:sym typeface="Times New Roman"/>
              </a:rPr>
              <a:t>1≤</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i</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 = 1</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+2</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+1)(2</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+1)/6 ≈ </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3</a:t>
            </a:r>
            <a:r>
              <a:rPr b="1" i="0" lang="en-US" sz="2400" u="none">
                <a:solidFill>
                  <a:srgbClr val="FFFF99"/>
                </a:solidFill>
                <a:latin typeface="Times New Roman"/>
                <a:ea typeface="Times New Roman"/>
                <a:cs typeface="Times New Roman"/>
                <a:sym typeface="Times New Roman"/>
              </a:rPr>
              <a:t>/3 ∈ Θ(</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3</a:t>
            </a:r>
            <a:r>
              <a:rPr b="1" i="0"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Σ</a:t>
            </a:r>
            <a:r>
              <a:rPr b="1" baseline="-25000" i="0" lang="en-US" sz="2400" u="none">
                <a:solidFill>
                  <a:srgbClr val="FFFF99"/>
                </a:solidFill>
                <a:latin typeface="Times New Roman"/>
                <a:ea typeface="Times New Roman"/>
                <a:cs typeface="Times New Roman"/>
                <a:sym typeface="Times New Roman"/>
              </a:rPr>
              <a:t>0≤</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a:t>
            </a:r>
            <a:r>
              <a:rPr b="1" baseline="30000" i="1" lang="en-US" sz="2400" u="none">
                <a:solidFill>
                  <a:srgbClr val="FFFF99"/>
                </a:solidFill>
                <a:latin typeface="Times New Roman"/>
                <a:ea typeface="Times New Roman"/>
                <a:cs typeface="Times New Roman"/>
                <a:sym typeface="Times New Roman"/>
              </a:rPr>
              <a:t>i</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1</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 </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a:t>
            </a:r>
            <a:r>
              <a:rPr b="1" baseline="30000"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a</a:t>
            </a:r>
            <a:r>
              <a:rPr b="1" baseline="30000"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+1 </a:t>
            </a:r>
            <a:r>
              <a:rPr b="1" i="0" lang="en-US" sz="2400" u="none">
                <a:solidFill>
                  <a:srgbClr val="FFFF99"/>
                </a:solidFill>
                <a:latin typeface="Times New Roman"/>
                <a:ea typeface="Times New Roman"/>
                <a:cs typeface="Times New Roman"/>
                <a:sym typeface="Times New Roman"/>
              </a:rPr>
              <a:t>- 1)/(</a:t>
            </a:r>
            <a:r>
              <a:rPr b="1" i="1" lang="en-US" sz="2400" u="none">
                <a:solidFill>
                  <a:srgbClr val="FFFF99"/>
                </a:solidFill>
                <a:latin typeface="Times New Roman"/>
                <a:ea typeface="Times New Roman"/>
                <a:cs typeface="Times New Roman"/>
                <a:sym typeface="Times New Roman"/>
              </a:rPr>
              <a:t>a </a:t>
            </a:r>
            <a:r>
              <a:rPr b="1" i="0" lang="en-US" sz="2400" u="none">
                <a:solidFill>
                  <a:srgbClr val="FFFF99"/>
                </a:solidFill>
                <a:latin typeface="Times New Roman"/>
                <a:ea typeface="Times New Roman"/>
                <a:cs typeface="Times New Roman"/>
                <a:sym typeface="Times New Roman"/>
              </a:rPr>
              <a:t>- 1)  for any </a:t>
            </a:r>
            <a:r>
              <a:rPr b="1" i="1" lang="en-US" sz="2400" u="none">
                <a:solidFill>
                  <a:srgbClr val="FFFF99"/>
                </a:solidFill>
                <a:latin typeface="Times New Roman"/>
                <a:ea typeface="Times New Roman"/>
                <a:cs typeface="Times New Roman"/>
                <a:sym typeface="Times New Roman"/>
              </a:rPr>
              <a:t>a </a:t>
            </a:r>
            <a:r>
              <a:rPr b="1" i="0" lang="en-US" sz="2400" u="none">
                <a:solidFill>
                  <a:srgbClr val="FFFF99"/>
                </a:solidFill>
                <a:latin typeface="Times New Roman"/>
                <a:ea typeface="Times New Roman"/>
                <a:cs typeface="Times New Roman"/>
                <a:sym typeface="Times New Roman"/>
              </a:rPr>
              <a:t>≠ 1</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In particular, Σ</a:t>
            </a:r>
            <a:r>
              <a:rPr b="1" baseline="-25000" i="0" lang="en-US" sz="2400" u="none">
                <a:solidFill>
                  <a:srgbClr val="FFFF99"/>
                </a:solidFill>
                <a:latin typeface="Times New Roman"/>
                <a:ea typeface="Times New Roman"/>
                <a:cs typeface="Times New Roman"/>
                <a:sym typeface="Times New Roman"/>
              </a:rPr>
              <a:t>0≤</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n</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2</a:t>
            </a:r>
            <a:r>
              <a:rPr b="1" baseline="30000" i="1" lang="en-US" sz="2400" u="none">
                <a:solidFill>
                  <a:srgbClr val="FFFF99"/>
                </a:solidFill>
                <a:latin typeface="Times New Roman"/>
                <a:ea typeface="Times New Roman"/>
                <a:cs typeface="Times New Roman"/>
                <a:sym typeface="Times New Roman"/>
              </a:rPr>
              <a:t>i</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2</a:t>
            </a:r>
            <a:r>
              <a:rPr b="1" baseline="30000" i="0" lang="en-US" sz="2400" u="none">
                <a:solidFill>
                  <a:srgbClr val="FFFF99"/>
                </a:solidFill>
                <a:latin typeface="Times New Roman"/>
                <a:ea typeface="Times New Roman"/>
                <a:cs typeface="Times New Roman"/>
                <a:sym typeface="Times New Roman"/>
              </a:rPr>
              <a:t>0 </a:t>
            </a:r>
            <a:r>
              <a:rPr b="1" i="0" lang="en-US" sz="2400" u="none">
                <a:solidFill>
                  <a:srgbClr val="FFFF99"/>
                </a:solidFill>
                <a:latin typeface="Times New Roman"/>
                <a:ea typeface="Times New Roman"/>
                <a:cs typeface="Times New Roman"/>
                <a:sym typeface="Times New Roman"/>
              </a:rPr>
              <a:t>+ 2</a:t>
            </a:r>
            <a:r>
              <a:rPr b="1" baseline="30000" i="0" lang="en-US" sz="2400" u="none">
                <a:solidFill>
                  <a:srgbClr val="FFFF99"/>
                </a:solidFill>
                <a:latin typeface="Times New Roman"/>
                <a:ea typeface="Times New Roman"/>
                <a:cs typeface="Times New Roman"/>
                <a:sym typeface="Times New Roman"/>
              </a:rPr>
              <a:t>1 </a:t>
            </a:r>
            <a:r>
              <a:rPr b="1" i="0" lang="en-US" sz="2400" u="none">
                <a:solidFill>
                  <a:srgbClr val="FFFF99"/>
                </a:solidFill>
                <a:latin typeface="Times New Roman"/>
                <a:ea typeface="Times New Roman"/>
                <a:cs typeface="Times New Roman"/>
                <a:sym typeface="Times New Roman"/>
              </a:rPr>
              <a:t>+…+ 2</a:t>
            </a:r>
            <a:r>
              <a:rPr b="1" baseline="30000"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2</a:t>
            </a:r>
            <a:r>
              <a:rPr b="1" baseline="30000"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+1</a:t>
            </a:r>
            <a:r>
              <a:rPr b="1" i="0" lang="en-US" sz="2400" u="none">
                <a:solidFill>
                  <a:srgbClr val="FFFF99"/>
                </a:solidFill>
                <a:latin typeface="Times New Roman"/>
                <a:ea typeface="Times New Roman"/>
                <a:cs typeface="Times New Roman"/>
                <a:sym typeface="Times New Roman"/>
              </a:rPr>
              <a:t> - 1 ∈ Θ(2</a:t>
            </a:r>
            <a:r>
              <a:rPr b="1" baseline="30000"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 </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Σ(</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b</a:t>
            </a:r>
            <a:r>
              <a:rPr b="1" baseline="-25000" i="1" lang="en-US" sz="2400" u="none">
                <a:solidFill>
                  <a:srgbClr val="FFFF99"/>
                </a:solidFill>
                <a:latin typeface="Times New Roman"/>
                <a:ea typeface="Times New Roman"/>
                <a:cs typeface="Times New Roman"/>
                <a:sym typeface="Times New Roman"/>
              </a:rPr>
              <a:t>i </a:t>
            </a:r>
            <a:r>
              <a:rPr b="1" i="0" lang="en-US" sz="2400" u="none">
                <a:solidFill>
                  <a:srgbClr val="FFFF99"/>
                </a:solidFill>
                <a:latin typeface="Times New Roman"/>
                <a:ea typeface="Times New Roman"/>
                <a:cs typeface="Times New Roman"/>
                <a:sym typeface="Times New Roman"/>
              </a:rPr>
              <a:t>) = Σ</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Σ</a:t>
            </a:r>
            <a:r>
              <a:rPr b="1" i="1" lang="en-US" sz="2400" u="none">
                <a:solidFill>
                  <a:srgbClr val="FFFF99"/>
                </a:solidFill>
                <a:latin typeface="Times New Roman"/>
                <a:ea typeface="Times New Roman"/>
                <a:cs typeface="Times New Roman"/>
                <a:sym typeface="Times New Roman"/>
              </a:rPr>
              <a:t>b</a:t>
            </a:r>
            <a:r>
              <a:rPr b="1" baseline="-25000" i="1" lang="en-US" sz="2400" u="none">
                <a:solidFill>
                  <a:srgbClr val="FFFF99"/>
                </a:solidFill>
                <a:latin typeface="Times New Roman"/>
                <a:ea typeface="Times New Roman"/>
                <a:cs typeface="Times New Roman"/>
                <a:sym typeface="Times New Roman"/>
              </a:rPr>
              <a:t>i         </a:t>
            </a:r>
            <a:r>
              <a:rPr b="1" i="0" lang="en-US" sz="2400" u="none">
                <a:solidFill>
                  <a:srgbClr val="FFFF99"/>
                </a:solidFill>
                <a:latin typeface="Times New Roman"/>
                <a:ea typeface="Times New Roman"/>
                <a:cs typeface="Times New Roman"/>
                <a:sym typeface="Times New Roman"/>
              </a:rPr>
              <a:t>Σ</a:t>
            </a:r>
            <a:r>
              <a:rPr b="1" i="1" lang="en-US" sz="2400" u="none">
                <a:solidFill>
                  <a:srgbClr val="FFFF99"/>
                </a:solidFill>
                <a:latin typeface="Times New Roman"/>
                <a:ea typeface="Times New Roman"/>
                <a:cs typeface="Times New Roman"/>
                <a:sym typeface="Times New Roman"/>
              </a:rPr>
              <a:t>ca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c</a:t>
            </a:r>
            <a:r>
              <a:rPr b="1" i="0" lang="en-US" sz="2400" u="none">
                <a:solidFill>
                  <a:srgbClr val="FFFF99"/>
                </a:solidFill>
                <a:latin typeface="Times New Roman"/>
                <a:ea typeface="Times New Roman"/>
                <a:cs typeface="Times New Roman"/>
                <a:sym typeface="Times New Roman"/>
              </a:rPr>
              <a:t>Σ</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Σ</a:t>
            </a:r>
            <a:r>
              <a:rPr b="1" baseline="-25000" i="1" lang="en-US" sz="2400" u="none">
                <a:solidFill>
                  <a:srgbClr val="FFFF99"/>
                </a:solidFill>
                <a:latin typeface="Times New Roman"/>
                <a:ea typeface="Times New Roman"/>
                <a:cs typeface="Times New Roman"/>
                <a:sym typeface="Times New Roman"/>
              </a:rPr>
              <a:t>l</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u</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 Σ</a:t>
            </a:r>
            <a:r>
              <a:rPr b="1" baseline="-25000" i="1" lang="en-US" sz="2400" u="none">
                <a:solidFill>
                  <a:srgbClr val="FFFF99"/>
                </a:solidFill>
                <a:latin typeface="Times New Roman"/>
                <a:ea typeface="Times New Roman"/>
                <a:cs typeface="Times New Roman"/>
                <a:sym typeface="Times New Roman"/>
              </a:rPr>
              <a:t>l</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m</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 Σ</a:t>
            </a:r>
            <a:r>
              <a:rPr b="1" baseline="-25000" i="1" lang="en-US" sz="2400" u="none">
                <a:solidFill>
                  <a:srgbClr val="FFFF99"/>
                </a:solidFill>
                <a:latin typeface="Times New Roman"/>
                <a:ea typeface="Times New Roman"/>
                <a:cs typeface="Times New Roman"/>
                <a:sym typeface="Times New Roman"/>
              </a:rPr>
              <a:t>m</a:t>
            </a:r>
            <a:r>
              <a:rPr b="1" baseline="-25000" i="0" lang="en-US" sz="2400" u="none">
                <a:solidFill>
                  <a:srgbClr val="FFFF99"/>
                </a:solidFill>
                <a:latin typeface="Times New Roman"/>
                <a:ea typeface="Times New Roman"/>
                <a:cs typeface="Times New Roman"/>
                <a:sym typeface="Times New Roman"/>
              </a:rPr>
              <a:t>+1≤</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a:t>
            </a:r>
            <a:r>
              <a:rPr b="1" baseline="-25000" i="1" lang="en-US" sz="2400" u="none">
                <a:solidFill>
                  <a:srgbClr val="FFFF99"/>
                </a:solidFill>
                <a:latin typeface="Times New Roman"/>
                <a:ea typeface="Times New Roman"/>
                <a:cs typeface="Times New Roman"/>
                <a:sym typeface="Times New Roman"/>
              </a:rPr>
              <a:t>u</a:t>
            </a:r>
            <a:r>
              <a:rPr b="1" i="1" lang="en-US" sz="2400" u="none">
                <a:solidFill>
                  <a:srgbClr val="FFFF99"/>
                </a:solidFill>
                <a:latin typeface="Times New Roman"/>
                <a:ea typeface="Times New Roman"/>
                <a:cs typeface="Times New Roman"/>
                <a:sym typeface="Times New Roman"/>
              </a:rPr>
              <a:t>a</a:t>
            </a:r>
            <a:r>
              <a:rPr b="1" baseline="-25000" i="1" lang="en-US" sz="2400" u="none">
                <a:solidFill>
                  <a:srgbClr val="FFFF99"/>
                </a:solidFill>
                <a:latin typeface="Times New Roman"/>
                <a:ea typeface="Times New Roman"/>
                <a:cs typeface="Times New Roman"/>
                <a:sym typeface="Times New Roman"/>
              </a:rPr>
              <a:t>i</a:t>
            </a:r>
            <a:r>
              <a:rPr b="1" baseline="-25000" i="0" lang="en-US" sz="2400" u="none">
                <a:solidFill>
                  <a:srgbClr val="FFFF99"/>
                </a:solidFill>
                <a:latin typeface="Times New Roman"/>
                <a:ea typeface="Times New Roman"/>
                <a:cs typeface="Times New Roman"/>
                <a:sym typeface="Times New Roman"/>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p27"/>
          <p:cNvSpPr txBox="1"/>
          <p:nvPr>
            <p:ph idx="4294967295" type="title"/>
          </p:nvPr>
        </p:nvSpPr>
        <p:spPr>
          <a:xfrm>
            <a:off x="609600" y="228600"/>
            <a:ext cx="758825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1: Maximum element</a:t>
            </a:r>
            <a:endParaRPr/>
          </a:p>
        </p:txBody>
      </p:sp>
      <p:sp>
        <p:nvSpPr>
          <p:cNvPr id="315" name="Google Shape;315;p27"/>
          <p:cNvSpPr txBox="1"/>
          <p:nvPr>
            <p:ph idx="4294967295" type="body"/>
          </p:nvPr>
        </p:nvSpPr>
        <p:spPr>
          <a:xfrm>
            <a:off x="609600" y="1266825"/>
            <a:ext cx="40767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24765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p:txBody>
      </p:sp>
      <p:pic>
        <p:nvPicPr>
          <p:cNvPr id="316" name="Google Shape;316;p27"/>
          <p:cNvPicPr preferRelativeResize="0"/>
          <p:nvPr>
            <p:ph idx="4294967295" type="body"/>
          </p:nvPr>
        </p:nvPicPr>
        <p:blipFill rotWithShape="1">
          <a:blip r:embed="rId3">
            <a:alphaModFix/>
          </a:blip>
          <a:srcRect b="0" l="0" r="0" t="0"/>
          <a:stretch/>
        </p:blipFill>
        <p:spPr>
          <a:xfrm>
            <a:off x="685800" y="1295400"/>
            <a:ext cx="8077200" cy="3381375"/>
          </a:xfrm>
          <a:prstGeom prst="rect">
            <a:avLst/>
          </a:prstGeom>
          <a:noFill/>
          <a:ln>
            <a:noFill/>
          </a:ln>
        </p:spPr>
      </p:pic>
      <p:sp>
        <p:nvSpPr>
          <p:cNvPr id="317" name="Google Shape;317;p27"/>
          <p:cNvSpPr txBox="1"/>
          <p:nvPr/>
        </p:nvSpPr>
        <p:spPr>
          <a:xfrm>
            <a:off x="609600" y="5257800"/>
            <a:ext cx="800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T(n) = </a:t>
            </a:r>
            <a:r>
              <a:rPr b="1" i="0" lang="en-US" sz="2400" u="none">
                <a:solidFill>
                  <a:schemeClr val="dk1"/>
                </a:solidFill>
                <a:latin typeface="Times New Roman"/>
                <a:ea typeface="Times New Roman"/>
                <a:cs typeface="Times New Roman"/>
                <a:sym typeface="Times New Roman"/>
              </a:rPr>
              <a:t>Σ</a:t>
            </a:r>
            <a:r>
              <a:rPr b="1" i="1" lang="en-US" sz="1800" u="none">
                <a:solidFill>
                  <a:schemeClr val="dk1"/>
                </a:solidFill>
                <a:latin typeface="Times New Roman"/>
                <a:ea typeface="Times New Roman"/>
                <a:cs typeface="Times New Roman"/>
                <a:sym typeface="Times New Roman"/>
              </a:rPr>
              <a:t>1</a:t>
            </a:r>
            <a:r>
              <a:rPr b="1" i="0" lang="en-US" sz="1800" u="none">
                <a:solidFill>
                  <a:schemeClr val="dk1"/>
                </a:solidFill>
                <a:latin typeface="Times New Roman"/>
                <a:ea typeface="Times New Roman"/>
                <a:cs typeface="Times New Roman"/>
                <a:sym typeface="Times New Roman"/>
              </a:rPr>
              <a:t>≤</a:t>
            </a:r>
            <a:r>
              <a:rPr b="1" i="1" lang="en-US" sz="1800" u="none">
                <a:solidFill>
                  <a:schemeClr val="dk1"/>
                </a:solidFill>
                <a:latin typeface="Times New Roman"/>
                <a:ea typeface="Times New Roman"/>
                <a:cs typeface="Times New Roman"/>
                <a:sym typeface="Times New Roman"/>
              </a:rPr>
              <a:t>i</a:t>
            </a:r>
            <a:r>
              <a:rPr b="1" i="0" lang="en-US" sz="1800" u="none">
                <a:solidFill>
                  <a:schemeClr val="dk1"/>
                </a:solidFill>
                <a:latin typeface="Times New Roman"/>
                <a:ea typeface="Times New Roman"/>
                <a:cs typeface="Times New Roman"/>
                <a:sym typeface="Times New Roman"/>
              </a:rPr>
              <a:t>≤</a:t>
            </a:r>
            <a:r>
              <a:rPr b="1" i="1" lang="en-US" sz="1800" u="none">
                <a:solidFill>
                  <a:schemeClr val="dk1"/>
                </a:solidFill>
                <a:latin typeface="Times New Roman"/>
                <a:ea typeface="Times New Roman"/>
                <a:cs typeface="Times New Roman"/>
                <a:sym typeface="Times New Roman"/>
              </a:rPr>
              <a:t>n-1 </a:t>
            </a:r>
            <a:r>
              <a:rPr b="1" i="1" lang="en-US" sz="2400" u="none">
                <a:solidFill>
                  <a:schemeClr val="dk1"/>
                </a:solidFill>
                <a:latin typeface="Times New Roman"/>
                <a:ea typeface="Times New Roman"/>
                <a:cs typeface="Times New Roman"/>
                <a:sym typeface="Times New Roman"/>
              </a:rPr>
              <a:t>1 = n-1 = </a:t>
            </a:r>
            <a:r>
              <a:rPr b="1" i="0" lang="en-US" sz="2400" u="none">
                <a:solidFill>
                  <a:schemeClr val="dk1"/>
                </a:solidFill>
                <a:latin typeface="Times New Roman"/>
                <a:ea typeface="Times New Roman"/>
                <a:cs typeface="Times New Roman"/>
                <a:sym typeface="Times New Roman"/>
              </a:rPr>
              <a:t>Θ(</a:t>
            </a:r>
            <a:r>
              <a:rPr b="1" i="1" lang="en-US" sz="2400" u="none">
                <a:solidFill>
                  <a:schemeClr val="dk1"/>
                </a:solidFill>
                <a:latin typeface="Times New Roman"/>
                <a:ea typeface="Times New Roman"/>
                <a:cs typeface="Times New Roman"/>
                <a:sym typeface="Times New Roman"/>
              </a:rPr>
              <a:t>n</a:t>
            </a:r>
            <a:r>
              <a:rPr b="1" i="0" lang="en-US" sz="2400" u="none">
                <a:solidFill>
                  <a:schemeClr val="dk1"/>
                </a:solidFill>
                <a:latin typeface="Times New Roman"/>
                <a:ea typeface="Times New Roman"/>
                <a:cs typeface="Times New Roman"/>
                <a:sym typeface="Times New Roman"/>
              </a:rPr>
              <a:t>)</a:t>
            </a:r>
            <a:r>
              <a:rPr b="0" i="0" lang="en-US" sz="2400" u="none">
                <a:solidFill>
                  <a:schemeClr val="dk1"/>
                </a:solidFill>
                <a:latin typeface="Times New Roman"/>
                <a:ea typeface="Times New Roman"/>
                <a:cs typeface="Times New Roman"/>
                <a:sym typeface="Times New Roman"/>
              </a:rPr>
              <a:t>  comparisons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500"/>
                                        <p:tgtEl>
                                          <p:spTgt spid="3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p28"/>
          <p:cNvSpPr txBox="1"/>
          <p:nvPr>
            <p:ph type="title"/>
          </p:nvPr>
        </p:nvSpPr>
        <p:spPr>
          <a:xfrm>
            <a:off x="609600" y="152400"/>
            <a:ext cx="85344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2: Element uniqueness problem</a:t>
            </a:r>
            <a:endParaRPr/>
          </a:p>
        </p:txBody>
      </p:sp>
      <p:pic>
        <p:nvPicPr>
          <p:cNvPr id="324" name="Google Shape;324;p28"/>
          <p:cNvPicPr preferRelativeResize="0"/>
          <p:nvPr>
            <p:ph idx="1" type="body"/>
          </p:nvPr>
        </p:nvPicPr>
        <p:blipFill rotWithShape="1">
          <a:blip r:embed="rId3">
            <a:alphaModFix/>
          </a:blip>
          <a:srcRect b="0" l="0" r="0" t="0"/>
          <a:stretch/>
        </p:blipFill>
        <p:spPr>
          <a:xfrm>
            <a:off x="609600" y="1295400"/>
            <a:ext cx="8153400" cy="3257550"/>
          </a:xfrm>
          <a:prstGeom prst="rect">
            <a:avLst/>
          </a:prstGeom>
          <a:noFill/>
          <a:ln>
            <a:noFill/>
          </a:ln>
        </p:spPr>
      </p:pic>
      <p:grpSp>
        <p:nvGrpSpPr>
          <p:cNvPr id="325" name="Google Shape;325;p28"/>
          <p:cNvGrpSpPr/>
          <p:nvPr/>
        </p:nvGrpSpPr>
        <p:grpSpPr>
          <a:xfrm>
            <a:off x="1066800" y="4800600"/>
            <a:ext cx="8001000" cy="1600200"/>
            <a:chOff x="336" y="3024"/>
            <a:chExt cx="5040" cy="1008"/>
          </a:xfrm>
        </p:grpSpPr>
        <p:sp>
          <p:nvSpPr>
            <p:cNvPr id="326" name="Google Shape;326;p28"/>
            <p:cNvSpPr txBox="1"/>
            <p:nvPr/>
          </p:nvSpPr>
          <p:spPr>
            <a:xfrm>
              <a:off x="336" y="3024"/>
              <a:ext cx="5040" cy="9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Times New Roman"/>
                <a:buNone/>
              </a:pPr>
              <a:r>
                <a:rPr b="1" i="0" lang="en-US" sz="2400" u="none">
                  <a:solidFill>
                    <a:schemeClr val="lt2"/>
                  </a:solidFill>
                  <a:latin typeface="Times New Roman"/>
                  <a:ea typeface="Times New Roman"/>
                  <a:cs typeface="Times New Roman"/>
                  <a:sym typeface="Times New Roman"/>
                </a:rPr>
                <a:t>T(n) = Σ</a:t>
              </a:r>
              <a:r>
                <a:rPr b="1" i="1" lang="en-US" sz="1800" u="none">
                  <a:solidFill>
                    <a:schemeClr val="lt2"/>
                  </a:solidFill>
                  <a:latin typeface="Times New Roman"/>
                  <a:ea typeface="Times New Roman"/>
                  <a:cs typeface="Times New Roman"/>
                  <a:sym typeface="Times New Roman"/>
                </a:rPr>
                <a:t>0</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i</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n-2</a:t>
              </a:r>
              <a:r>
                <a:rPr b="1" i="1" lang="en-US" sz="2400" u="none">
                  <a:solidFill>
                    <a:schemeClr val="lt2"/>
                  </a:solidFill>
                  <a:latin typeface="Times New Roman"/>
                  <a:ea typeface="Times New Roman"/>
                  <a:cs typeface="Times New Roman"/>
                  <a:sym typeface="Times New Roman"/>
                </a:rPr>
                <a:t>  (</a:t>
              </a:r>
              <a:r>
                <a:rPr b="1" i="0" lang="en-US" sz="2400" u="none">
                  <a:solidFill>
                    <a:schemeClr val="lt2"/>
                  </a:solidFill>
                  <a:latin typeface="Times New Roman"/>
                  <a:ea typeface="Times New Roman"/>
                  <a:cs typeface="Times New Roman"/>
                  <a:sym typeface="Times New Roman"/>
                </a:rPr>
                <a:t>Σ</a:t>
              </a:r>
              <a:r>
                <a:rPr b="1" i="1" lang="en-US" sz="1800" u="none">
                  <a:solidFill>
                    <a:schemeClr val="lt2"/>
                  </a:solidFill>
                  <a:latin typeface="Times New Roman"/>
                  <a:ea typeface="Times New Roman"/>
                  <a:cs typeface="Times New Roman"/>
                  <a:sym typeface="Times New Roman"/>
                </a:rPr>
                <a:t>i+1</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j</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n-1 </a:t>
              </a:r>
              <a:r>
                <a:rPr b="1" i="1" lang="en-US" sz="2400" u="none">
                  <a:solidFill>
                    <a:schemeClr val="lt2"/>
                  </a:solidFill>
                  <a:latin typeface="Times New Roman"/>
                  <a:ea typeface="Times New Roman"/>
                  <a:cs typeface="Times New Roman"/>
                  <a:sym typeface="Times New Roman"/>
                </a:rPr>
                <a:t>1</a:t>
              </a:r>
              <a:r>
                <a:rPr b="1" i="0" lang="en-US" sz="2400" u="none">
                  <a:solidFill>
                    <a:schemeClr val="lt2"/>
                  </a:solidFill>
                  <a:latin typeface="Times New Roman"/>
                  <a:ea typeface="Times New Roman"/>
                  <a:cs typeface="Times New Roman"/>
                  <a:sym typeface="Times New Roman"/>
                </a:rPr>
                <a:t>)</a:t>
              </a:r>
              <a:r>
                <a:rPr b="1" i="1" lang="en-US" sz="2400" u="none">
                  <a:solidFill>
                    <a:schemeClr val="lt2"/>
                  </a:solidFill>
                  <a:latin typeface="Times New Roman"/>
                  <a:ea typeface="Times New Roman"/>
                  <a:cs typeface="Times New Roman"/>
                  <a:sym typeface="Times New Roman"/>
                </a:rPr>
                <a:t> </a:t>
              </a:r>
              <a:endParaRPr/>
            </a:p>
            <a:p>
              <a:pPr indent="0" lvl="0" marL="0" marR="0" rtl="0" algn="l">
                <a:lnSpc>
                  <a:spcPct val="100000"/>
                </a:lnSpc>
                <a:spcBef>
                  <a:spcPts val="1200"/>
                </a:spcBef>
                <a:spcAft>
                  <a:spcPts val="0"/>
                </a:spcAft>
                <a:buClr>
                  <a:schemeClr val="lt2"/>
                </a:buClr>
                <a:buSzPts val="2400"/>
                <a:buFont typeface="Times New Roman"/>
                <a:buNone/>
              </a:pPr>
              <a:r>
                <a:rPr b="1" i="1" lang="en-US" sz="2400" u="none">
                  <a:solidFill>
                    <a:schemeClr val="lt2"/>
                  </a:solidFill>
                  <a:latin typeface="Times New Roman"/>
                  <a:ea typeface="Times New Roman"/>
                  <a:cs typeface="Times New Roman"/>
                  <a:sym typeface="Times New Roman"/>
                </a:rPr>
                <a:t>        = </a:t>
              </a:r>
              <a:r>
                <a:rPr b="1" i="0" lang="en-US" sz="2400" u="none">
                  <a:solidFill>
                    <a:schemeClr val="lt2"/>
                  </a:solidFill>
                  <a:latin typeface="Times New Roman"/>
                  <a:ea typeface="Times New Roman"/>
                  <a:cs typeface="Times New Roman"/>
                  <a:sym typeface="Times New Roman"/>
                </a:rPr>
                <a:t>Σ</a:t>
              </a:r>
              <a:r>
                <a:rPr b="1" i="1" lang="en-US" sz="1800" u="none">
                  <a:solidFill>
                    <a:schemeClr val="lt2"/>
                  </a:solidFill>
                  <a:latin typeface="Times New Roman"/>
                  <a:ea typeface="Times New Roman"/>
                  <a:cs typeface="Times New Roman"/>
                  <a:sym typeface="Times New Roman"/>
                </a:rPr>
                <a:t>0</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i</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n-2</a:t>
              </a:r>
              <a:r>
                <a:rPr b="1" i="0" lang="en-US" sz="2400" u="none">
                  <a:solidFill>
                    <a:schemeClr val="lt2"/>
                  </a:solidFill>
                  <a:latin typeface="Times New Roman"/>
                  <a:ea typeface="Times New Roman"/>
                  <a:cs typeface="Times New Roman"/>
                  <a:sym typeface="Times New Roman"/>
                </a:rPr>
                <a:t> </a:t>
              </a:r>
              <a:r>
                <a:rPr b="1" i="1" lang="en-US" sz="2400" u="none">
                  <a:solidFill>
                    <a:schemeClr val="lt2"/>
                  </a:solidFill>
                  <a:latin typeface="Times New Roman"/>
                  <a:ea typeface="Times New Roman"/>
                  <a:cs typeface="Times New Roman"/>
                  <a:sym typeface="Times New Roman"/>
                </a:rPr>
                <a:t>n-i-1</a:t>
              </a:r>
              <a:r>
                <a:rPr b="1" i="0" lang="en-US" sz="2400" u="none">
                  <a:solidFill>
                    <a:schemeClr val="lt2"/>
                  </a:solidFill>
                  <a:latin typeface="Times New Roman"/>
                  <a:ea typeface="Times New Roman"/>
                  <a:cs typeface="Times New Roman"/>
                  <a:sym typeface="Times New Roman"/>
                </a:rPr>
                <a:t> = </a:t>
              </a:r>
              <a:r>
                <a:rPr b="1" i="1" lang="en-US" sz="2400" u="none">
                  <a:solidFill>
                    <a:schemeClr val="lt2"/>
                  </a:solidFill>
                  <a:latin typeface="Times New Roman"/>
                  <a:ea typeface="Times New Roman"/>
                  <a:cs typeface="Times New Roman"/>
                  <a:sym typeface="Times New Roman"/>
                </a:rPr>
                <a:t>(n-1+1)(n-1)/2</a:t>
              </a:r>
              <a:r>
                <a:rPr b="1" i="0" lang="en-US" sz="2400" u="none">
                  <a:solidFill>
                    <a:schemeClr val="lt2"/>
                  </a:solidFill>
                  <a:latin typeface="Times New Roman"/>
                  <a:ea typeface="Times New Roman"/>
                  <a:cs typeface="Times New Roman"/>
                  <a:sym typeface="Times New Roman"/>
                </a:rPr>
                <a:t> </a:t>
              </a:r>
              <a:endParaRPr/>
            </a:p>
            <a:p>
              <a:pPr indent="0" lvl="0" marL="0" marR="0" rtl="0" algn="l">
                <a:lnSpc>
                  <a:spcPct val="100000"/>
                </a:lnSpc>
                <a:spcBef>
                  <a:spcPts val="1200"/>
                </a:spcBef>
                <a:spcAft>
                  <a:spcPts val="0"/>
                </a:spcAft>
                <a:buClr>
                  <a:schemeClr val="lt2"/>
                </a:buClr>
                <a:buSzPts val="2400"/>
                <a:buFont typeface="Times New Roman"/>
                <a:buNone/>
              </a:pPr>
              <a:r>
                <a:rPr b="1" i="0" lang="en-US" sz="2400" u="none">
                  <a:solidFill>
                    <a:schemeClr val="lt2"/>
                  </a:solidFill>
                  <a:latin typeface="Times New Roman"/>
                  <a:ea typeface="Times New Roman"/>
                  <a:cs typeface="Times New Roman"/>
                  <a:sym typeface="Times New Roman"/>
                </a:rPr>
                <a:t>        = Θ(     )  comparisons</a:t>
              </a:r>
              <a:endParaRPr/>
            </a:p>
          </p:txBody>
        </p:sp>
        <p:pic>
          <p:nvPicPr>
            <p:cNvPr id="327" name="Google Shape;327;p28"/>
            <p:cNvPicPr preferRelativeResize="0"/>
            <p:nvPr/>
          </p:nvPicPr>
          <p:blipFill rotWithShape="1">
            <a:blip r:embed="rId4">
              <a:alphaModFix/>
            </a:blip>
            <a:srcRect b="0" l="0" r="0" t="0"/>
            <a:stretch/>
          </p:blipFill>
          <p:spPr>
            <a:xfrm>
              <a:off x="1152" y="3744"/>
              <a:ext cx="252" cy="288"/>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p29"/>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3: Matrix multiplication</a:t>
            </a:r>
            <a:endParaRPr/>
          </a:p>
        </p:txBody>
      </p:sp>
      <p:pic>
        <p:nvPicPr>
          <p:cNvPr id="334" name="Google Shape;334;p29"/>
          <p:cNvPicPr preferRelativeResize="0"/>
          <p:nvPr>
            <p:ph idx="1" type="body"/>
          </p:nvPr>
        </p:nvPicPr>
        <p:blipFill rotWithShape="1">
          <a:blip r:embed="rId3">
            <a:alphaModFix/>
          </a:blip>
          <a:srcRect b="0" l="0" r="0" t="0"/>
          <a:stretch/>
        </p:blipFill>
        <p:spPr>
          <a:xfrm>
            <a:off x="609600" y="1295400"/>
            <a:ext cx="8305800" cy="3252787"/>
          </a:xfrm>
          <a:prstGeom prst="rect">
            <a:avLst/>
          </a:prstGeom>
          <a:noFill/>
          <a:ln cap="flat" cmpd="sng" w="9525">
            <a:solidFill>
              <a:schemeClr val="dk1"/>
            </a:solidFill>
            <a:prstDash val="solid"/>
            <a:miter lim="800000"/>
            <a:headEnd len="sm" w="sm" type="none"/>
            <a:tailEnd len="sm" w="sm" type="none"/>
          </a:ln>
        </p:spPr>
      </p:pic>
      <p:grpSp>
        <p:nvGrpSpPr>
          <p:cNvPr id="335" name="Google Shape;335;p29"/>
          <p:cNvGrpSpPr/>
          <p:nvPr/>
        </p:nvGrpSpPr>
        <p:grpSpPr>
          <a:xfrm>
            <a:off x="990600" y="4757737"/>
            <a:ext cx="8305800" cy="2100262"/>
            <a:chOff x="432" y="2997"/>
            <a:chExt cx="5232" cy="1323"/>
          </a:xfrm>
        </p:grpSpPr>
        <p:sp>
          <p:nvSpPr>
            <p:cNvPr id="336" name="Google Shape;336;p29"/>
            <p:cNvSpPr txBox="1"/>
            <p:nvPr/>
          </p:nvSpPr>
          <p:spPr>
            <a:xfrm>
              <a:off x="432" y="2997"/>
              <a:ext cx="5232" cy="1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T(n) = </a:t>
              </a:r>
              <a:r>
                <a:rPr b="1" i="0" lang="en-US" sz="2400" u="none">
                  <a:solidFill>
                    <a:schemeClr val="lt2"/>
                  </a:solidFill>
                  <a:latin typeface="Times New Roman"/>
                  <a:ea typeface="Times New Roman"/>
                  <a:cs typeface="Times New Roman"/>
                  <a:sym typeface="Times New Roman"/>
                </a:rPr>
                <a:t>Σ</a:t>
              </a:r>
              <a:r>
                <a:rPr b="1" i="1" lang="en-US" sz="1800" u="none">
                  <a:solidFill>
                    <a:schemeClr val="lt2"/>
                  </a:solidFill>
                  <a:latin typeface="Times New Roman"/>
                  <a:ea typeface="Times New Roman"/>
                  <a:cs typeface="Times New Roman"/>
                  <a:sym typeface="Times New Roman"/>
                </a:rPr>
                <a:t>0</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i</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n-1</a:t>
              </a:r>
              <a:r>
                <a:rPr b="0" i="0" lang="en-US" sz="2400" u="none">
                  <a:solidFill>
                    <a:schemeClr val="lt2"/>
                  </a:solidFill>
                  <a:latin typeface="Times New Roman"/>
                  <a:ea typeface="Times New Roman"/>
                  <a:cs typeface="Times New Roman"/>
                  <a:sym typeface="Times New Roman"/>
                </a:rPr>
                <a:t> </a:t>
              </a:r>
              <a:r>
                <a:rPr b="1" i="0" lang="en-US" sz="2400" u="none">
                  <a:solidFill>
                    <a:schemeClr val="lt2"/>
                  </a:solidFill>
                  <a:latin typeface="Times New Roman"/>
                  <a:ea typeface="Times New Roman"/>
                  <a:cs typeface="Times New Roman"/>
                  <a:sym typeface="Times New Roman"/>
                </a:rPr>
                <a:t>Σ</a:t>
              </a:r>
              <a:r>
                <a:rPr b="1" i="1" lang="en-US" sz="1800" u="none">
                  <a:solidFill>
                    <a:schemeClr val="lt2"/>
                  </a:solidFill>
                  <a:latin typeface="Times New Roman"/>
                  <a:ea typeface="Times New Roman"/>
                  <a:cs typeface="Times New Roman"/>
                  <a:sym typeface="Times New Roman"/>
                </a:rPr>
                <a:t>0</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i</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n-1</a:t>
              </a:r>
              <a:r>
                <a:rPr b="0" i="0" lang="en-US" sz="2400" u="none">
                  <a:solidFill>
                    <a:schemeClr val="lt2"/>
                  </a:solidFill>
                  <a:latin typeface="Times New Roman"/>
                  <a:ea typeface="Times New Roman"/>
                  <a:cs typeface="Times New Roman"/>
                  <a:sym typeface="Times New Roman"/>
                </a:rPr>
                <a:t>  </a:t>
              </a:r>
              <a:r>
                <a:rPr b="1" i="1" lang="en-US" sz="2400" u="none">
                  <a:solidFill>
                    <a:schemeClr val="lt2"/>
                  </a:solidFill>
                  <a:latin typeface="Times New Roman"/>
                  <a:ea typeface="Times New Roman"/>
                  <a:cs typeface="Times New Roman"/>
                  <a:sym typeface="Times New Roman"/>
                </a:rPr>
                <a:t>n</a:t>
              </a:r>
              <a:endParaRPr/>
            </a:p>
            <a:p>
              <a:pPr indent="0" lvl="0" marL="0" marR="0" rtl="0" algn="l">
                <a:lnSpc>
                  <a:spcPct val="100000"/>
                </a:lnSpc>
                <a:spcBef>
                  <a:spcPts val="1200"/>
                </a:spcBef>
                <a:spcAft>
                  <a:spcPts val="0"/>
                </a:spcAft>
                <a:buClr>
                  <a:schemeClr val="lt2"/>
                </a:buClr>
                <a:buSzPts val="2400"/>
                <a:buFont typeface="Times New Roman"/>
                <a:buNone/>
              </a:pPr>
              <a:r>
                <a:rPr b="0" i="1" lang="en-US" sz="2400" u="none">
                  <a:solidFill>
                    <a:schemeClr val="lt2"/>
                  </a:solidFill>
                  <a:latin typeface="Times New Roman"/>
                  <a:ea typeface="Times New Roman"/>
                  <a:cs typeface="Times New Roman"/>
                  <a:sym typeface="Times New Roman"/>
                </a:rPr>
                <a:t>        = </a:t>
              </a:r>
              <a:r>
                <a:rPr b="1" i="0" lang="en-US" sz="2400" u="none">
                  <a:solidFill>
                    <a:schemeClr val="lt2"/>
                  </a:solidFill>
                  <a:latin typeface="Times New Roman"/>
                  <a:ea typeface="Times New Roman"/>
                  <a:cs typeface="Times New Roman"/>
                  <a:sym typeface="Times New Roman"/>
                </a:rPr>
                <a:t>Σ</a:t>
              </a:r>
              <a:r>
                <a:rPr b="1" i="1" lang="en-US" sz="1800" u="none">
                  <a:solidFill>
                    <a:schemeClr val="lt2"/>
                  </a:solidFill>
                  <a:latin typeface="Times New Roman"/>
                  <a:ea typeface="Times New Roman"/>
                  <a:cs typeface="Times New Roman"/>
                  <a:sym typeface="Times New Roman"/>
                </a:rPr>
                <a:t>0</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i</a:t>
              </a:r>
              <a:r>
                <a:rPr b="1" i="0" lang="en-US" sz="1800" u="none">
                  <a:solidFill>
                    <a:schemeClr val="lt2"/>
                  </a:solidFill>
                  <a:latin typeface="Times New Roman"/>
                  <a:ea typeface="Times New Roman"/>
                  <a:cs typeface="Times New Roman"/>
                  <a:sym typeface="Times New Roman"/>
                </a:rPr>
                <a:t>≤</a:t>
              </a:r>
              <a:r>
                <a:rPr b="1" i="1" lang="en-US" sz="1800" u="none">
                  <a:solidFill>
                    <a:schemeClr val="lt2"/>
                  </a:solidFill>
                  <a:latin typeface="Times New Roman"/>
                  <a:ea typeface="Times New Roman"/>
                  <a:cs typeface="Times New Roman"/>
                  <a:sym typeface="Times New Roman"/>
                </a:rPr>
                <a:t>n-1</a:t>
              </a:r>
              <a:r>
                <a:rPr b="0" i="0" lang="en-US" sz="2400" u="none">
                  <a:solidFill>
                    <a:schemeClr val="lt2"/>
                  </a:solidFill>
                  <a:latin typeface="Times New Roman"/>
                  <a:ea typeface="Times New Roman"/>
                  <a:cs typeface="Times New Roman"/>
                  <a:sym typeface="Times New Roman"/>
                </a:rPr>
                <a:t> </a:t>
              </a:r>
              <a:r>
                <a:rPr b="1" i="0" lang="en-US" sz="2400" u="none">
                  <a:solidFill>
                    <a:schemeClr val="lt2"/>
                  </a:solidFill>
                  <a:latin typeface="Times New Roman"/>
                  <a:ea typeface="Times New Roman"/>
                  <a:cs typeface="Times New Roman"/>
                  <a:sym typeface="Times New Roman"/>
                </a:rPr>
                <a:t>Θ(</a:t>
              </a:r>
              <a:r>
                <a:rPr b="0" i="0" lang="en-US" sz="2400" u="none">
                  <a:solidFill>
                    <a:schemeClr val="lt2"/>
                  </a:solidFill>
                  <a:latin typeface="Times New Roman"/>
                  <a:ea typeface="Times New Roman"/>
                  <a:cs typeface="Times New Roman"/>
                  <a:sym typeface="Times New Roman"/>
                </a:rPr>
                <a:t>      </a:t>
              </a:r>
              <a:r>
                <a:rPr b="1" i="0" lang="en-US" sz="2400" u="none">
                  <a:solidFill>
                    <a:schemeClr val="lt2"/>
                  </a:solidFill>
                  <a:latin typeface="Times New Roman"/>
                  <a:ea typeface="Times New Roman"/>
                  <a:cs typeface="Times New Roman"/>
                  <a:sym typeface="Times New Roman"/>
                </a:rPr>
                <a:t>)</a:t>
              </a:r>
              <a:endParaRPr/>
            </a:p>
            <a:p>
              <a:pPr indent="0" lvl="0" marL="0" marR="0" rtl="0" algn="l">
                <a:lnSpc>
                  <a:spcPct val="100000"/>
                </a:lnSpc>
                <a:spcBef>
                  <a:spcPts val="120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        =  </a:t>
              </a:r>
              <a:r>
                <a:rPr b="1" i="0" lang="en-US" sz="2400" u="none">
                  <a:solidFill>
                    <a:schemeClr val="lt2"/>
                  </a:solidFill>
                  <a:latin typeface="Times New Roman"/>
                  <a:ea typeface="Times New Roman"/>
                  <a:cs typeface="Times New Roman"/>
                  <a:sym typeface="Times New Roman"/>
                </a:rPr>
                <a:t>Θ(</a:t>
              </a:r>
              <a:r>
                <a:rPr b="0" i="0" lang="en-US" sz="2400" u="none">
                  <a:solidFill>
                    <a:schemeClr val="lt2"/>
                  </a:solidFill>
                  <a:latin typeface="Times New Roman"/>
                  <a:ea typeface="Times New Roman"/>
                  <a:cs typeface="Times New Roman"/>
                  <a:sym typeface="Times New Roman"/>
                </a:rPr>
                <a:t>      </a:t>
              </a:r>
              <a:r>
                <a:rPr b="1" i="0" lang="en-US" sz="2400" u="none">
                  <a:solidFill>
                    <a:schemeClr val="lt2"/>
                  </a:solidFill>
                  <a:latin typeface="Times New Roman"/>
                  <a:ea typeface="Times New Roman"/>
                  <a:cs typeface="Times New Roman"/>
                  <a:sym typeface="Times New Roman"/>
                </a:rPr>
                <a:t>)   </a:t>
              </a:r>
              <a:r>
                <a:rPr b="0" i="0" lang="en-US" sz="2400" u="none">
                  <a:solidFill>
                    <a:schemeClr val="lt2"/>
                  </a:solidFill>
                  <a:latin typeface="Times New Roman"/>
                  <a:ea typeface="Times New Roman"/>
                  <a:cs typeface="Times New Roman"/>
                  <a:sym typeface="Times New Roman"/>
                </a:rPr>
                <a:t>multiplications</a:t>
              </a:r>
              <a:endParaRPr/>
            </a:p>
            <a:p>
              <a:pPr indent="0" lvl="0" marL="0" marR="0" rtl="0" algn="l">
                <a:lnSpc>
                  <a:spcPct val="100000"/>
                </a:lnSpc>
                <a:spcBef>
                  <a:spcPts val="0"/>
                </a:spcBef>
                <a:spcAft>
                  <a:spcPts val="0"/>
                </a:spcAft>
                <a:buNone/>
              </a:pPr>
              <a:r>
                <a:t/>
              </a:r>
              <a:endParaRPr b="0" i="0" sz="2400" u="none">
                <a:solidFill>
                  <a:schemeClr val="lt2"/>
                </a:solidFill>
                <a:latin typeface="Times New Roman"/>
                <a:ea typeface="Times New Roman"/>
                <a:cs typeface="Times New Roman"/>
                <a:sym typeface="Times New Roman"/>
              </a:endParaRPr>
            </a:p>
          </p:txBody>
        </p:sp>
        <p:pic>
          <p:nvPicPr>
            <p:cNvPr id="337" name="Google Shape;337;p29"/>
            <p:cNvPicPr preferRelativeResize="0"/>
            <p:nvPr/>
          </p:nvPicPr>
          <p:blipFill rotWithShape="1">
            <a:blip r:embed="rId4">
              <a:alphaModFix/>
            </a:blip>
            <a:srcRect b="0" l="0" r="0" t="0"/>
            <a:stretch/>
          </p:blipFill>
          <p:spPr>
            <a:xfrm>
              <a:off x="1920" y="3333"/>
              <a:ext cx="266" cy="304"/>
            </a:xfrm>
            <a:prstGeom prst="rect">
              <a:avLst/>
            </a:prstGeom>
            <a:noFill/>
            <a:ln>
              <a:noFill/>
            </a:ln>
          </p:spPr>
        </p:pic>
        <p:pic>
          <p:nvPicPr>
            <p:cNvPr id="338" name="Google Shape;338;p29"/>
            <p:cNvPicPr preferRelativeResize="0"/>
            <p:nvPr/>
          </p:nvPicPr>
          <p:blipFill rotWithShape="1">
            <a:blip r:embed="rId5">
              <a:alphaModFix/>
            </a:blip>
            <a:srcRect b="0" l="0" r="0" t="0"/>
            <a:stretch/>
          </p:blipFill>
          <p:spPr>
            <a:xfrm>
              <a:off x="1296" y="3696"/>
              <a:ext cx="266" cy="304"/>
            </a:xfrm>
            <a:prstGeom prst="rect">
              <a:avLst/>
            </a:prstGeom>
            <a:noFill/>
            <a:ln>
              <a:noFill/>
            </a:ln>
          </p:spPr>
        </p:pic>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30"/>
          <p:cNvSpPr txBox="1"/>
          <p:nvPr>
            <p:ph type="title"/>
          </p:nvPr>
        </p:nvSpPr>
        <p:spPr>
          <a:xfrm>
            <a:off x="4572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4:  Gaussian elimination</a:t>
            </a:r>
            <a:endParaRPr/>
          </a:p>
        </p:txBody>
      </p:sp>
      <p:sp>
        <p:nvSpPr>
          <p:cNvPr id="345" name="Google Shape;345;p30"/>
          <p:cNvSpPr txBox="1"/>
          <p:nvPr>
            <p:ph idx="1" type="body"/>
          </p:nvPr>
        </p:nvSpPr>
        <p:spPr>
          <a:xfrm>
            <a:off x="533400" y="1219200"/>
            <a:ext cx="8167687"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Algorithm</a:t>
            </a:r>
            <a:r>
              <a:rPr b="1" i="1"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GaussianElimination</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A</a:t>
            </a:r>
            <a:r>
              <a:rPr b="0" i="0" lang="en-US" sz="2400" u="none">
                <a:solidFill>
                  <a:srgbClr val="FFFF99"/>
                </a:solidFill>
                <a:latin typeface="Times New Roman"/>
                <a:ea typeface="Times New Roman"/>
                <a:cs typeface="Times New Roman"/>
                <a:sym typeface="Times New Roman"/>
              </a:rPr>
              <a:t>[0..</a:t>
            </a:r>
            <a:r>
              <a:rPr b="0"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1,0..</a:t>
            </a:r>
            <a:r>
              <a:rPr b="0" i="1" lang="en-US" sz="2400" u="none">
                <a:solidFill>
                  <a:srgbClr val="FFFF99"/>
                </a:solidFill>
                <a:latin typeface="Times New Roman"/>
                <a:ea typeface="Times New Roman"/>
                <a:cs typeface="Times New Roman"/>
                <a:sym typeface="Times New Roman"/>
              </a:rPr>
              <a:t>n</a:t>
            </a:r>
            <a:r>
              <a:rPr b="0" i="0" lang="en-US" sz="2400" u="none">
                <a:solidFill>
                  <a:srgbClr val="FFFF99"/>
                </a:solidFill>
                <a:latin typeface="Times New Roman"/>
                <a:ea typeface="Times New Roman"/>
                <a:cs typeface="Times New Roman"/>
                <a:sym typeface="Times New Roman"/>
              </a:rPr>
              <a:t>])</a:t>
            </a:r>
            <a:endParaRPr/>
          </a:p>
          <a:p>
            <a:pPr indent="-342900" lvl="0" marL="342900" marR="0" rtl="0" algn="l">
              <a:lnSpc>
                <a:spcPct val="100000"/>
              </a:lnSpc>
              <a:spcBef>
                <a:spcPts val="480"/>
              </a:spcBef>
              <a:spcAft>
                <a:spcPts val="0"/>
              </a:spcAft>
              <a:buClr>
                <a:srgbClr val="A50021"/>
              </a:buClr>
              <a:buSzPts val="1800"/>
              <a:buFont typeface="Arial"/>
              <a:buNone/>
            </a:pPr>
            <a:r>
              <a:rPr b="0" i="0" lang="en-US" sz="2400" u="none">
                <a:solidFill>
                  <a:srgbClr val="FFFF99"/>
                </a:solidFill>
                <a:latin typeface="Times New Roman"/>
                <a:ea typeface="Times New Roman"/>
                <a:cs typeface="Times New Roman"/>
                <a:sym typeface="Times New Roman"/>
              </a:rPr>
              <a:t>//Implements Gaussian elimination on an </a:t>
            </a:r>
            <a:r>
              <a:rPr b="0" i="1" lang="en-US" sz="2400" u="none">
                <a:solidFill>
                  <a:srgbClr val="FFFF99"/>
                </a:solidFill>
                <a:latin typeface="Times New Roman"/>
                <a:ea typeface="Times New Roman"/>
                <a:cs typeface="Times New Roman"/>
                <a:sym typeface="Times New Roman"/>
              </a:rPr>
              <a:t>n-</a:t>
            </a:r>
            <a:r>
              <a:rPr b="0" i="0" lang="en-US" sz="2400" u="none">
                <a:solidFill>
                  <a:srgbClr val="FFFF99"/>
                </a:solidFill>
                <a:latin typeface="Times New Roman"/>
                <a:ea typeface="Times New Roman"/>
                <a:cs typeface="Times New Roman"/>
                <a:sym typeface="Times New Roman"/>
              </a:rPr>
              <a:t>by</a:t>
            </a:r>
            <a:r>
              <a:rPr b="0" i="1"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n</a:t>
            </a:r>
            <a:r>
              <a:rPr b="0" i="0" lang="en-US" sz="2400" u="none">
                <a:solidFill>
                  <a:srgbClr val="FFFF99"/>
                </a:solidFill>
                <a:latin typeface="Times New Roman"/>
                <a:ea typeface="Times New Roman"/>
                <a:cs typeface="Times New Roman"/>
                <a:sym typeface="Times New Roman"/>
              </a:rPr>
              <a:t>+1) matrix</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for</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i</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  </a:t>
            </a:r>
            <a:r>
              <a:rPr b="0" i="0" lang="en-US" sz="2400" u="none">
                <a:solidFill>
                  <a:srgbClr val="FFFF99"/>
                </a:solidFill>
                <a:latin typeface="Times New Roman"/>
                <a:ea typeface="Times New Roman"/>
                <a:cs typeface="Times New Roman"/>
                <a:sym typeface="Times New Roman"/>
              </a:rPr>
              <a:t>0</a:t>
            </a:r>
            <a:r>
              <a:rPr b="1" i="0" lang="en-US" sz="2400" u="none">
                <a:solidFill>
                  <a:srgbClr val="FFFF99"/>
                </a:solidFill>
                <a:latin typeface="Times New Roman"/>
                <a:ea typeface="Times New Roman"/>
                <a:cs typeface="Times New Roman"/>
                <a:sym typeface="Times New Roman"/>
              </a:rPr>
              <a:t> to</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 </a:t>
            </a:r>
            <a:r>
              <a:rPr b="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 do</a:t>
            </a:r>
            <a:br>
              <a:rPr b="0" i="0" lang="en-US" sz="2400" u="none">
                <a:solidFill>
                  <a:srgbClr val="FFFF99"/>
                </a:solidFill>
                <a:latin typeface="Times New Roman"/>
                <a:ea typeface="Times New Roman"/>
                <a:cs typeface="Times New Roman"/>
                <a:sym typeface="Times New Roman"/>
              </a:rPr>
            </a:br>
            <a:r>
              <a:rPr b="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for </a:t>
            </a:r>
            <a:r>
              <a:rPr b="0" i="1" lang="en-US" sz="2400" u="none">
                <a:solidFill>
                  <a:srgbClr val="FFFF99"/>
                </a:solidFill>
                <a:latin typeface="Times New Roman"/>
                <a:ea typeface="Times New Roman"/>
                <a:cs typeface="Times New Roman"/>
                <a:sym typeface="Times New Roman"/>
              </a:rPr>
              <a:t>j</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  i </a:t>
            </a:r>
            <a:r>
              <a:rPr b="0" i="0" lang="en-US" sz="2400" u="none">
                <a:solidFill>
                  <a:srgbClr val="FFFF99"/>
                </a:solidFill>
                <a:latin typeface="Times New Roman"/>
                <a:ea typeface="Times New Roman"/>
                <a:cs typeface="Times New Roman"/>
                <a:sym typeface="Times New Roman"/>
              </a:rPr>
              <a:t>+ 1</a:t>
            </a:r>
            <a:r>
              <a:rPr b="1" i="0" lang="en-US" sz="2400" u="none">
                <a:solidFill>
                  <a:srgbClr val="FFFF99"/>
                </a:solidFill>
                <a:latin typeface="Times New Roman"/>
                <a:ea typeface="Times New Roman"/>
                <a:cs typeface="Times New Roman"/>
                <a:sym typeface="Times New Roman"/>
              </a:rPr>
              <a:t> to </a:t>
            </a:r>
            <a:r>
              <a:rPr b="0"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 1</a:t>
            </a:r>
            <a:r>
              <a:rPr b="1" i="0" lang="en-US" sz="2400" u="none">
                <a:solidFill>
                  <a:srgbClr val="FFFF99"/>
                </a:solidFill>
                <a:latin typeface="Times New Roman"/>
                <a:ea typeface="Times New Roman"/>
                <a:cs typeface="Times New Roman"/>
                <a:sym typeface="Times New Roman"/>
              </a:rPr>
              <a:t> do </a:t>
            </a:r>
            <a:br>
              <a:rPr b="0" i="0" lang="en-US" sz="2400" u="none">
                <a:solidFill>
                  <a:srgbClr val="FFFF99"/>
                </a:solidFill>
                <a:latin typeface="Times New Roman"/>
                <a:ea typeface="Times New Roman"/>
                <a:cs typeface="Times New Roman"/>
                <a:sym typeface="Times New Roman"/>
              </a:rPr>
            </a:br>
            <a:r>
              <a:rPr b="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for</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k</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  i</a:t>
            </a:r>
            <a:r>
              <a:rPr b="1" i="0" lang="en-US" sz="2400" u="none">
                <a:solidFill>
                  <a:srgbClr val="FFFF99"/>
                </a:solidFill>
                <a:latin typeface="Times New Roman"/>
                <a:ea typeface="Times New Roman"/>
                <a:cs typeface="Times New Roman"/>
                <a:sym typeface="Times New Roman"/>
              </a:rPr>
              <a:t> to</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do</a:t>
            </a:r>
            <a:endParaRPr/>
          </a:p>
          <a:p>
            <a:pPr indent="-342900" lvl="0" marL="342900" marR="0" rtl="0" algn="l">
              <a:lnSpc>
                <a:spcPct val="100000"/>
              </a:lnSpc>
              <a:spcBef>
                <a:spcPts val="480"/>
              </a:spcBef>
              <a:spcAft>
                <a:spcPts val="0"/>
              </a:spcAft>
              <a:buClr>
                <a:srgbClr val="A50021"/>
              </a:buClr>
              <a:buSzPts val="1800"/>
              <a:buFont typeface="Arial"/>
              <a:buNone/>
            </a:pP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A</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j</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k</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 A</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j</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k</a:t>
            </a:r>
            <a:r>
              <a:rPr b="0"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a:t>
            </a:r>
            <a:r>
              <a:rPr b="0" i="0" lang="en-US" sz="2400" u="none">
                <a:solidFill>
                  <a:srgbClr val="FFFF99"/>
                </a:solidFill>
                <a:latin typeface="Times New Roman"/>
                <a:ea typeface="Times New Roman"/>
                <a:cs typeface="Times New Roman"/>
                <a:sym typeface="Times New Roman"/>
              </a:rPr>
              <a:t> </a:t>
            </a:r>
            <a:r>
              <a:rPr b="0" i="1" lang="en-US" sz="2400" u="none">
                <a:solidFill>
                  <a:srgbClr val="FFFF99"/>
                </a:solidFill>
                <a:latin typeface="Times New Roman"/>
                <a:ea typeface="Times New Roman"/>
                <a:cs typeface="Times New Roman"/>
                <a:sym typeface="Times New Roman"/>
              </a:rPr>
              <a:t>A</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i</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k</a:t>
            </a:r>
            <a:r>
              <a:rPr b="0" i="0" lang="en-US" sz="2400" u="none">
                <a:solidFill>
                  <a:srgbClr val="FFFF99"/>
                </a:solidFill>
                <a:latin typeface="Times New Roman"/>
                <a:ea typeface="Times New Roman"/>
                <a:cs typeface="Times New Roman"/>
                <a:sym typeface="Times New Roman"/>
              </a:rPr>
              <a:t>] * </a:t>
            </a:r>
            <a:r>
              <a:rPr b="0" i="1" lang="en-US" sz="2400" u="none">
                <a:solidFill>
                  <a:srgbClr val="FFFF99"/>
                </a:solidFill>
                <a:latin typeface="Times New Roman"/>
                <a:ea typeface="Times New Roman"/>
                <a:cs typeface="Times New Roman"/>
                <a:sym typeface="Times New Roman"/>
              </a:rPr>
              <a:t>A</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j</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i</a:t>
            </a:r>
            <a:r>
              <a:rPr b="0" i="0" lang="en-US" sz="2400" u="none">
                <a:solidFill>
                  <a:srgbClr val="FFFF99"/>
                </a:solidFill>
                <a:latin typeface="Times New Roman"/>
                <a:ea typeface="Times New Roman"/>
                <a:cs typeface="Times New Roman"/>
                <a:sym typeface="Times New Roman"/>
              </a:rPr>
              <a:t>] / </a:t>
            </a:r>
            <a:r>
              <a:rPr b="0" i="1" lang="en-US" sz="2400" u="none">
                <a:solidFill>
                  <a:srgbClr val="FFFF99"/>
                </a:solidFill>
                <a:latin typeface="Times New Roman"/>
                <a:ea typeface="Times New Roman"/>
                <a:cs typeface="Times New Roman"/>
                <a:sym typeface="Times New Roman"/>
              </a:rPr>
              <a:t>A</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i</a:t>
            </a:r>
            <a:r>
              <a:rPr b="0" i="0" lang="en-US" sz="2400" u="none">
                <a:solidFill>
                  <a:srgbClr val="FFFF99"/>
                </a:solidFill>
                <a:latin typeface="Times New Roman"/>
                <a:ea typeface="Times New Roman"/>
                <a:cs typeface="Times New Roman"/>
                <a:sym typeface="Times New Roman"/>
              </a:rPr>
              <a:t>,</a:t>
            </a:r>
            <a:r>
              <a:rPr b="0" i="1" lang="en-US" sz="2400" u="none">
                <a:solidFill>
                  <a:srgbClr val="FFFF99"/>
                </a:solidFill>
                <a:latin typeface="Times New Roman"/>
                <a:ea typeface="Times New Roman"/>
                <a:cs typeface="Times New Roman"/>
                <a:sym typeface="Times New Roman"/>
              </a:rPr>
              <a:t>i</a:t>
            </a:r>
            <a:r>
              <a:rPr b="0" i="0" lang="en-US" sz="2400" u="none">
                <a:solidFill>
                  <a:srgbClr val="FFFF99"/>
                </a:solidFill>
                <a:latin typeface="Times New Roman"/>
                <a:ea typeface="Times New Roman"/>
                <a:cs typeface="Times New Roman"/>
                <a:sym typeface="Times New Roman"/>
              </a:rPr>
              <a:t>]</a:t>
            </a:r>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Find the efficiency class and a constant factor improvement.</a:t>
            </a:r>
            <a:endParaRPr b="0"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0" i="0" sz="2400" u="none">
              <a:solidFill>
                <a:srgbClr val="FFFF99"/>
              </a:solidFill>
              <a:latin typeface="Times New Roman"/>
              <a:ea typeface="Times New Roman"/>
              <a:cs typeface="Times New Roman"/>
              <a:sym typeface="Times New Roman"/>
            </a:endParaRPr>
          </a:p>
        </p:txBody>
      </p:sp>
      <p:sp>
        <p:nvSpPr>
          <p:cNvPr id="346" name="Google Shape;346;p30"/>
          <p:cNvSpPr txBox="1"/>
          <p:nvPr/>
        </p:nvSpPr>
        <p:spPr>
          <a:xfrm>
            <a:off x="2514600" y="4648200"/>
            <a:ext cx="6019800" cy="213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6600"/>
              </a:buClr>
              <a:buSzPts val="2000"/>
              <a:buFont typeface="Times New Roman"/>
              <a:buNone/>
            </a:pPr>
            <a:r>
              <a:rPr b="1" i="0" lang="en-US" sz="2000" u="none">
                <a:solidFill>
                  <a:srgbClr val="FF6600"/>
                </a:solidFill>
                <a:latin typeface="Times New Roman"/>
                <a:ea typeface="Times New Roman"/>
                <a:cs typeface="Times New Roman"/>
                <a:sym typeface="Times New Roman"/>
              </a:rPr>
              <a:t>for</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i</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  </a:t>
            </a:r>
            <a:r>
              <a:rPr b="0" i="0" lang="en-US" sz="2000" u="none">
                <a:solidFill>
                  <a:srgbClr val="FF6600"/>
                </a:solidFill>
                <a:latin typeface="Times New Roman"/>
                <a:ea typeface="Times New Roman"/>
                <a:cs typeface="Times New Roman"/>
                <a:sym typeface="Times New Roman"/>
              </a:rPr>
              <a:t>0</a:t>
            </a:r>
            <a:r>
              <a:rPr b="1" i="0" lang="en-US" sz="2000" u="none">
                <a:solidFill>
                  <a:srgbClr val="FF6600"/>
                </a:solidFill>
                <a:latin typeface="Times New Roman"/>
                <a:ea typeface="Times New Roman"/>
                <a:cs typeface="Times New Roman"/>
                <a:sym typeface="Times New Roman"/>
              </a:rPr>
              <a:t> to</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n </a:t>
            </a:r>
            <a:r>
              <a:rPr b="1"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 </a:t>
            </a:r>
            <a:r>
              <a:rPr b="0" i="0" lang="en-US" sz="2000" u="none">
                <a:solidFill>
                  <a:srgbClr val="FF6600"/>
                </a:solidFill>
                <a:latin typeface="Times New Roman"/>
                <a:ea typeface="Times New Roman"/>
                <a:cs typeface="Times New Roman"/>
                <a:sym typeface="Times New Roman"/>
              </a:rPr>
              <a:t>2</a:t>
            </a:r>
            <a:r>
              <a:rPr b="1" i="0" lang="en-US" sz="2000" u="none">
                <a:solidFill>
                  <a:srgbClr val="FF6600"/>
                </a:solidFill>
                <a:latin typeface="Times New Roman"/>
                <a:ea typeface="Times New Roman"/>
                <a:cs typeface="Times New Roman"/>
                <a:sym typeface="Times New Roman"/>
              </a:rPr>
              <a:t> do</a:t>
            </a:r>
            <a:br>
              <a:rPr b="0" i="0" lang="en-US" sz="2000" u="none">
                <a:solidFill>
                  <a:srgbClr val="FF6600"/>
                </a:solidFill>
                <a:latin typeface="Times New Roman"/>
                <a:ea typeface="Times New Roman"/>
                <a:cs typeface="Times New Roman"/>
                <a:sym typeface="Times New Roman"/>
              </a:rPr>
            </a:br>
            <a:r>
              <a:rPr b="0" i="0" lang="en-US" sz="2000" u="none">
                <a:solidFill>
                  <a:srgbClr val="FF6600"/>
                </a:solidFill>
                <a:latin typeface="Times New Roman"/>
                <a:ea typeface="Times New Roman"/>
                <a:cs typeface="Times New Roman"/>
                <a:sym typeface="Times New Roman"/>
              </a:rPr>
              <a:t>      </a:t>
            </a:r>
            <a:r>
              <a:rPr b="1" i="0" lang="en-US" sz="2000" u="none">
                <a:solidFill>
                  <a:srgbClr val="FF6600"/>
                </a:solidFill>
                <a:latin typeface="Times New Roman"/>
                <a:ea typeface="Times New Roman"/>
                <a:cs typeface="Times New Roman"/>
                <a:sym typeface="Times New Roman"/>
              </a:rPr>
              <a:t>for </a:t>
            </a:r>
            <a:r>
              <a:rPr b="0" i="1" lang="en-US" sz="2000" u="none">
                <a:solidFill>
                  <a:srgbClr val="FF6600"/>
                </a:solidFill>
                <a:latin typeface="Times New Roman"/>
                <a:ea typeface="Times New Roman"/>
                <a:cs typeface="Times New Roman"/>
                <a:sym typeface="Times New Roman"/>
              </a:rPr>
              <a:t>j</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  i </a:t>
            </a:r>
            <a:r>
              <a:rPr b="0" i="0" lang="en-US" sz="2000" u="none">
                <a:solidFill>
                  <a:srgbClr val="FF6600"/>
                </a:solidFill>
                <a:latin typeface="Times New Roman"/>
                <a:ea typeface="Times New Roman"/>
                <a:cs typeface="Times New Roman"/>
                <a:sym typeface="Times New Roman"/>
              </a:rPr>
              <a:t>+ 1</a:t>
            </a:r>
            <a:r>
              <a:rPr b="1" i="0" lang="en-US" sz="2000" u="none">
                <a:solidFill>
                  <a:srgbClr val="FF6600"/>
                </a:solidFill>
                <a:latin typeface="Times New Roman"/>
                <a:ea typeface="Times New Roman"/>
                <a:cs typeface="Times New Roman"/>
                <a:sym typeface="Times New Roman"/>
              </a:rPr>
              <a:t> to </a:t>
            </a:r>
            <a:r>
              <a:rPr b="0" i="1" lang="en-US" sz="2000" u="none">
                <a:solidFill>
                  <a:srgbClr val="FF6600"/>
                </a:solidFill>
                <a:latin typeface="Times New Roman"/>
                <a:ea typeface="Times New Roman"/>
                <a:cs typeface="Times New Roman"/>
                <a:sym typeface="Times New Roman"/>
              </a:rPr>
              <a:t>n </a:t>
            </a:r>
            <a:r>
              <a:rPr b="1" i="0" lang="en-US" sz="2000" u="none">
                <a:solidFill>
                  <a:srgbClr val="FF6600"/>
                </a:solidFill>
                <a:latin typeface="Times New Roman"/>
                <a:ea typeface="Times New Roman"/>
                <a:cs typeface="Times New Roman"/>
                <a:sym typeface="Times New Roman"/>
              </a:rPr>
              <a:t>-</a:t>
            </a:r>
            <a:r>
              <a:rPr b="0" i="0" lang="en-US" sz="2000" u="none">
                <a:solidFill>
                  <a:srgbClr val="FF6600"/>
                </a:solidFill>
                <a:latin typeface="Times New Roman"/>
                <a:ea typeface="Times New Roman"/>
                <a:cs typeface="Times New Roman"/>
                <a:sym typeface="Times New Roman"/>
              </a:rPr>
              <a:t> 1</a:t>
            </a:r>
            <a:r>
              <a:rPr b="1" i="0" lang="en-US" sz="2000" u="none">
                <a:solidFill>
                  <a:srgbClr val="FF6600"/>
                </a:solidFill>
                <a:latin typeface="Times New Roman"/>
                <a:ea typeface="Times New Roman"/>
                <a:cs typeface="Times New Roman"/>
                <a:sym typeface="Times New Roman"/>
              </a:rPr>
              <a:t> do </a:t>
            </a:r>
            <a:br>
              <a:rPr b="0" i="0" lang="en-US" sz="2000" u="none">
                <a:solidFill>
                  <a:srgbClr val="FF6600"/>
                </a:solidFill>
                <a:latin typeface="Times New Roman"/>
                <a:ea typeface="Times New Roman"/>
                <a:cs typeface="Times New Roman"/>
                <a:sym typeface="Times New Roman"/>
              </a:rPr>
            </a:b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B</a:t>
            </a:r>
            <a:r>
              <a:rPr b="0" i="0" lang="en-US" sz="2000" u="none">
                <a:solidFill>
                  <a:srgbClr val="FF6600"/>
                </a:solidFill>
                <a:latin typeface="Times New Roman"/>
                <a:ea typeface="Times New Roman"/>
                <a:cs typeface="Times New Roman"/>
                <a:sym typeface="Times New Roman"/>
              </a:rPr>
              <a:t> </a:t>
            </a:r>
            <a:r>
              <a:rPr b="0" i="0" lang="en-US" sz="2400" u="none">
                <a:solidFill>
                  <a:srgbClr val="FF6600"/>
                </a:solidFill>
                <a:latin typeface="Times New Roman"/>
                <a:ea typeface="Times New Roman"/>
                <a:cs typeface="Times New Roman"/>
                <a:sym typeface="Times New Roman"/>
              </a:rPr>
              <a:t>←</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A</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j,i</a:t>
            </a:r>
            <a:r>
              <a:rPr b="0" i="0" lang="en-US" sz="2000" u="none">
                <a:solidFill>
                  <a:srgbClr val="FF6600"/>
                </a:solidFill>
                <a:latin typeface="Times New Roman"/>
                <a:ea typeface="Times New Roman"/>
                <a:cs typeface="Times New Roman"/>
                <a:sym typeface="Times New Roman"/>
              </a:rPr>
              <a:t>] / </a:t>
            </a:r>
            <a:r>
              <a:rPr b="0" i="1" lang="en-US" sz="2000" u="none">
                <a:solidFill>
                  <a:srgbClr val="FF6600"/>
                </a:solidFill>
                <a:latin typeface="Times New Roman"/>
                <a:ea typeface="Times New Roman"/>
                <a:cs typeface="Times New Roman"/>
                <a:sym typeface="Times New Roman"/>
              </a:rPr>
              <a:t>A</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i</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i</a:t>
            </a:r>
            <a:r>
              <a:rPr b="0" i="0" lang="en-US" sz="2000" u="none">
                <a:solidFill>
                  <a:srgbClr val="FF66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6600"/>
              </a:buClr>
              <a:buSzPts val="2000"/>
              <a:buFont typeface="Times New Roman"/>
              <a:buNone/>
            </a:pPr>
            <a:r>
              <a:rPr b="0" i="0" lang="en-US" sz="2000" u="none">
                <a:solidFill>
                  <a:srgbClr val="FF6600"/>
                </a:solidFill>
                <a:latin typeface="Times New Roman"/>
                <a:ea typeface="Times New Roman"/>
                <a:cs typeface="Times New Roman"/>
                <a:sym typeface="Times New Roman"/>
              </a:rPr>
              <a:t>            </a:t>
            </a:r>
            <a:r>
              <a:rPr b="1" i="0" lang="en-US" sz="2000" u="none">
                <a:solidFill>
                  <a:srgbClr val="FF6600"/>
                </a:solidFill>
                <a:latin typeface="Times New Roman"/>
                <a:ea typeface="Times New Roman"/>
                <a:cs typeface="Times New Roman"/>
                <a:sym typeface="Times New Roman"/>
              </a:rPr>
              <a:t>for</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k</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  i</a:t>
            </a:r>
            <a:r>
              <a:rPr b="1" i="0" lang="en-US" sz="2000" u="none">
                <a:solidFill>
                  <a:srgbClr val="FF6600"/>
                </a:solidFill>
                <a:latin typeface="Times New Roman"/>
                <a:ea typeface="Times New Roman"/>
                <a:cs typeface="Times New Roman"/>
                <a:sym typeface="Times New Roman"/>
              </a:rPr>
              <a:t> to</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n </a:t>
            </a:r>
            <a:r>
              <a:rPr b="1" i="0" lang="en-US" sz="2000" u="none">
                <a:solidFill>
                  <a:srgbClr val="FF6600"/>
                </a:solidFill>
                <a:latin typeface="Times New Roman"/>
                <a:ea typeface="Times New Roman"/>
                <a:cs typeface="Times New Roman"/>
                <a:sym typeface="Times New Roman"/>
              </a:rPr>
              <a:t>do</a:t>
            </a:r>
            <a:endParaRPr/>
          </a:p>
          <a:p>
            <a:pPr indent="0" lvl="0" marL="0" marR="0" rtl="0" algn="l">
              <a:lnSpc>
                <a:spcPct val="100000"/>
              </a:lnSpc>
              <a:spcBef>
                <a:spcPts val="0"/>
              </a:spcBef>
              <a:spcAft>
                <a:spcPts val="0"/>
              </a:spcAft>
              <a:buClr>
                <a:srgbClr val="FF6600"/>
              </a:buClr>
              <a:buSzPts val="2000"/>
              <a:buFont typeface="Times New Roman"/>
              <a:buNone/>
            </a:pP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A</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j</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k</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 A</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j</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k</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 – A</a:t>
            </a:r>
            <a:r>
              <a:rPr b="0" i="0" lang="en-US" sz="2000" u="none">
                <a:solidFill>
                  <a:srgbClr val="FF6600"/>
                </a:solidFill>
                <a:latin typeface="Times New Roman"/>
                <a:ea typeface="Times New Roman"/>
                <a:cs typeface="Times New Roman"/>
                <a:sym typeface="Times New Roman"/>
              </a:rPr>
              <a:t>[</a:t>
            </a:r>
            <a:r>
              <a:rPr b="0" i="1" lang="en-US" sz="2000" u="none">
                <a:solidFill>
                  <a:srgbClr val="FF6600"/>
                </a:solidFill>
                <a:latin typeface="Times New Roman"/>
                <a:ea typeface="Times New Roman"/>
                <a:cs typeface="Times New Roman"/>
                <a:sym typeface="Times New Roman"/>
              </a:rPr>
              <a:t>i,k</a:t>
            </a:r>
            <a:r>
              <a:rPr b="0" i="0" lang="en-US" sz="2000" u="none">
                <a:solidFill>
                  <a:srgbClr val="FF6600"/>
                </a:solidFill>
                <a:latin typeface="Times New Roman"/>
                <a:ea typeface="Times New Roman"/>
                <a:cs typeface="Times New Roman"/>
                <a:sym typeface="Times New Roman"/>
              </a:rPr>
              <a:t>] </a:t>
            </a:r>
            <a:r>
              <a:rPr b="0" i="1" lang="en-US" sz="2000" u="none">
                <a:solidFill>
                  <a:srgbClr val="FF6600"/>
                </a:solidFill>
                <a:latin typeface="Times New Roman"/>
                <a:ea typeface="Times New Roman"/>
                <a:cs typeface="Times New Roman"/>
                <a:sym typeface="Times New Roman"/>
              </a:rPr>
              <a:t>* B </a:t>
            </a:r>
            <a:endParaRPr b="1" i="0" sz="2000" u="none">
              <a:solidFill>
                <a:srgbClr val="FF66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000" u="none">
              <a:solidFill>
                <a:srgbClr val="FF66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500"/>
                                        <p:tgtEl>
                                          <p:spTgt spid="3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 name="Shape 351"/>
        <p:cNvGrpSpPr/>
        <p:nvPr/>
      </p:nvGrpSpPr>
      <p:grpSpPr>
        <a:xfrm>
          <a:off x="0" y="0"/>
          <a:ext cx="0" cy="0"/>
          <a:chOff x="0" y="0"/>
          <a:chExt cx="0" cy="0"/>
        </a:xfrm>
      </p:grpSpPr>
      <p:sp>
        <p:nvSpPr>
          <p:cNvPr id="352" name="Google Shape;352;p31"/>
          <p:cNvSpPr txBox="1"/>
          <p:nvPr>
            <p:ph idx="4294967295" type="title"/>
          </p:nvPr>
        </p:nvSpPr>
        <p:spPr>
          <a:xfrm>
            <a:off x="609600" y="228600"/>
            <a:ext cx="758825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5: Counting binary digits  </a:t>
            </a:r>
            <a:endParaRPr/>
          </a:p>
        </p:txBody>
      </p:sp>
      <p:sp>
        <p:nvSpPr>
          <p:cNvPr id="353" name="Google Shape;353;p31"/>
          <p:cNvSpPr txBox="1"/>
          <p:nvPr>
            <p:ph idx="4294967295" type="body"/>
          </p:nvPr>
        </p:nvSpPr>
        <p:spPr>
          <a:xfrm>
            <a:off x="609600" y="1266825"/>
            <a:ext cx="83820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500"/>
              <a:buFont typeface="Arial"/>
              <a:buNone/>
            </a:pPr>
            <a:r>
              <a:t/>
            </a:r>
            <a:endParaRPr b="0" i="1"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It cannot be investigated the way the previous examples are.</a:t>
            </a:r>
            <a:r>
              <a:rPr b="0" i="0" lang="en-US" sz="2000" u="none">
                <a:solidFill>
                  <a:srgbClr val="FFFF99"/>
                </a:solidFill>
                <a:latin typeface="Times New Roman"/>
                <a:ea typeface="Times New Roman"/>
                <a:cs typeface="Times New Roman"/>
                <a:sym typeface="Times New Roman"/>
              </a:rPr>
              <a:t> </a:t>
            </a:r>
            <a:endParaRPr/>
          </a:p>
        </p:txBody>
      </p:sp>
      <p:pic>
        <p:nvPicPr>
          <p:cNvPr id="354" name="Google Shape;354;p31"/>
          <p:cNvPicPr preferRelativeResize="0"/>
          <p:nvPr>
            <p:ph idx="4294967295" type="body"/>
          </p:nvPr>
        </p:nvPicPr>
        <p:blipFill rotWithShape="1">
          <a:blip r:embed="rId3">
            <a:alphaModFix/>
          </a:blip>
          <a:srcRect b="0" l="0" r="0" t="0"/>
          <a:stretch/>
        </p:blipFill>
        <p:spPr>
          <a:xfrm>
            <a:off x="609600" y="1295400"/>
            <a:ext cx="8382000" cy="2955925"/>
          </a:xfrm>
          <a:prstGeom prst="rect">
            <a:avLst/>
          </a:prstGeom>
          <a:noFill/>
          <a:ln>
            <a:noFill/>
          </a:ln>
        </p:spPr>
      </p:pic>
      <p:grpSp>
        <p:nvGrpSpPr>
          <p:cNvPr id="355" name="Google Shape;355;p31"/>
          <p:cNvGrpSpPr/>
          <p:nvPr/>
        </p:nvGrpSpPr>
        <p:grpSpPr>
          <a:xfrm>
            <a:off x="990600" y="5086350"/>
            <a:ext cx="7696200" cy="1390650"/>
            <a:chOff x="384" y="3204"/>
            <a:chExt cx="4848" cy="876"/>
          </a:xfrm>
        </p:grpSpPr>
        <p:sp>
          <p:nvSpPr>
            <p:cNvPr id="356" name="Google Shape;356;p31"/>
            <p:cNvSpPr txBox="1"/>
            <p:nvPr/>
          </p:nvSpPr>
          <p:spPr>
            <a:xfrm>
              <a:off x="384" y="3240"/>
              <a:ext cx="4848" cy="84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9933"/>
                </a:buClr>
                <a:buSzPts val="2400"/>
                <a:buFont typeface="Times New Roman"/>
                <a:buNone/>
              </a:pPr>
              <a:r>
                <a:rPr b="0" i="0" lang="en-US" sz="2400" u="none">
                  <a:solidFill>
                    <a:srgbClr val="FF9933"/>
                  </a:solidFill>
                  <a:latin typeface="Times New Roman"/>
                  <a:ea typeface="Times New Roman"/>
                  <a:cs typeface="Times New Roman"/>
                  <a:sym typeface="Times New Roman"/>
                </a:rPr>
                <a:t>The halving game</a:t>
              </a:r>
              <a:r>
                <a:rPr b="0" i="0" lang="en-US" sz="2400" u="none">
                  <a:solidFill>
                    <a:schemeClr val="lt2"/>
                  </a:solidFill>
                  <a:latin typeface="Times New Roman"/>
                  <a:ea typeface="Times New Roman"/>
                  <a:cs typeface="Times New Roman"/>
                  <a:sym typeface="Times New Roman"/>
                </a:rPr>
                <a:t>: Find integer </a:t>
              </a:r>
              <a:r>
                <a:rPr b="0" i="1" lang="en-US" sz="2400" u="none">
                  <a:solidFill>
                    <a:schemeClr val="lt2"/>
                  </a:solidFill>
                  <a:latin typeface="Times New Roman"/>
                  <a:ea typeface="Times New Roman"/>
                  <a:cs typeface="Times New Roman"/>
                  <a:sym typeface="Times New Roman"/>
                </a:rPr>
                <a:t>i</a:t>
              </a:r>
              <a:r>
                <a:rPr b="0" i="0" lang="en-US" sz="2400" u="none">
                  <a:solidFill>
                    <a:schemeClr val="lt2"/>
                  </a:solidFill>
                  <a:latin typeface="Times New Roman"/>
                  <a:ea typeface="Times New Roman"/>
                  <a:cs typeface="Times New Roman"/>
                  <a:sym typeface="Times New Roman"/>
                </a:rPr>
                <a:t> such that </a:t>
              </a:r>
              <a:r>
                <a:rPr b="0" i="1" lang="en-US" sz="2400" u="none">
                  <a:solidFill>
                    <a:schemeClr val="lt2"/>
                  </a:solidFill>
                  <a:latin typeface="Times New Roman"/>
                  <a:ea typeface="Times New Roman"/>
                  <a:cs typeface="Times New Roman"/>
                  <a:sym typeface="Times New Roman"/>
                </a:rPr>
                <a:t>n</a:t>
              </a:r>
              <a:r>
                <a:rPr b="0" i="0" lang="en-US" sz="2400" u="none">
                  <a:solidFill>
                    <a:schemeClr val="lt2"/>
                  </a:solidFill>
                  <a:latin typeface="Times New Roman"/>
                  <a:ea typeface="Times New Roman"/>
                  <a:cs typeface="Times New Roman"/>
                  <a:sym typeface="Times New Roman"/>
                </a:rPr>
                <a:t>/    </a:t>
              </a:r>
              <a:r>
                <a:rPr b="1" i="1" lang="en-US" sz="2400" u="none">
                  <a:solidFill>
                    <a:schemeClr val="lt2"/>
                  </a:solidFill>
                  <a:latin typeface="Times New Roman"/>
                  <a:ea typeface="Times New Roman"/>
                  <a:cs typeface="Times New Roman"/>
                  <a:sym typeface="Times New Roman"/>
                </a:rPr>
                <a:t>≤ </a:t>
              </a:r>
              <a:r>
                <a:rPr b="0" i="1" lang="en-US" sz="2400" u="none">
                  <a:solidFill>
                    <a:schemeClr val="lt2"/>
                  </a:solidFill>
                  <a:latin typeface="Times New Roman"/>
                  <a:ea typeface="Times New Roman"/>
                  <a:cs typeface="Times New Roman"/>
                  <a:sym typeface="Times New Roman"/>
                </a:rPr>
                <a:t>1.</a:t>
              </a:r>
              <a:endParaRPr/>
            </a:p>
            <a:p>
              <a:pPr indent="0" lvl="0" marL="0" marR="0" rtl="0" algn="l">
                <a:lnSpc>
                  <a:spcPct val="80000"/>
                </a:lnSpc>
                <a:spcBef>
                  <a:spcPts val="1200"/>
                </a:spcBef>
                <a:spcAft>
                  <a:spcPts val="0"/>
                </a:spcAft>
                <a:buClr>
                  <a:schemeClr val="lt2"/>
                </a:buClr>
                <a:buSzPts val="2400"/>
                <a:buFont typeface="Times New Roman"/>
                <a:buNone/>
              </a:pPr>
              <a:r>
                <a:rPr b="1" i="1" lang="en-US" sz="2400" u="none">
                  <a:solidFill>
                    <a:schemeClr val="lt2"/>
                  </a:solidFill>
                  <a:latin typeface="Times New Roman"/>
                  <a:ea typeface="Times New Roman"/>
                  <a:cs typeface="Times New Roman"/>
                  <a:sym typeface="Times New Roman"/>
                </a:rPr>
                <a:t>Answer:  i ≤ log n.     So, T(n) = </a:t>
              </a:r>
              <a:r>
                <a:rPr b="1" i="0" lang="en-US" sz="2400" u="none">
                  <a:solidFill>
                    <a:schemeClr val="lt2"/>
                  </a:solidFill>
                  <a:latin typeface="Times New Roman"/>
                  <a:ea typeface="Times New Roman"/>
                  <a:cs typeface="Times New Roman"/>
                  <a:sym typeface="Times New Roman"/>
                </a:rPr>
                <a:t>Θ(</a:t>
              </a:r>
              <a:r>
                <a:rPr b="1" i="1" lang="en-US" sz="2400" u="none">
                  <a:solidFill>
                    <a:schemeClr val="lt2"/>
                  </a:solidFill>
                  <a:latin typeface="Times New Roman"/>
                  <a:ea typeface="Times New Roman"/>
                  <a:cs typeface="Times New Roman"/>
                  <a:sym typeface="Times New Roman"/>
                </a:rPr>
                <a:t>log n</a:t>
              </a:r>
              <a:r>
                <a:rPr b="1" i="0" lang="en-US" sz="2400" u="none">
                  <a:solidFill>
                    <a:schemeClr val="lt2"/>
                  </a:solidFill>
                  <a:latin typeface="Times New Roman"/>
                  <a:ea typeface="Times New Roman"/>
                  <a:cs typeface="Times New Roman"/>
                  <a:sym typeface="Times New Roman"/>
                </a:rPr>
                <a:t>)</a:t>
              </a:r>
              <a:r>
                <a:rPr b="0" i="0" lang="en-US" sz="2400" u="none">
                  <a:solidFill>
                    <a:schemeClr val="lt2"/>
                  </a:solidFill>
                  <a:latin typeface="Times New Roman"/>
                  <a:ea typeface="Times New Roman"/>
                  <a:cs typeface="Times New Roman"/>
                  <a:sym typeface="Times New Roman"/>
                </a:rPr>
                <a:t> divisions.</a:t>
              </a:r>
              <a:endParaRPr/>
            </a:p>
            <a:p>
              <a:pPr indent="0" lvl="0" marL="0" marR="0" rtl="0" algn="l">
                <a:lnSpc>
                  <a:spcPct val="8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Another solution: Using recurrence relations.</a:t>
              </a:r>
              <a:endParaRPr/>
            </a:p>
          </p:txBody>
        </p:sp>
        <p:pic>
          <p:nvPicPr>
            <p:cNvPr id="357" name="Google Shape;357;p31"/>
            <p:cNvPicPr preferRelativeResize="0"/>
            <p:nvPr/>
          </p:nvPicPr>
          <p:blipFill rotWithShape="1">
            <a:blip r:embed="rId4">
              <a:alphaModFix/>
            </a:blip>
            <a:srcRect b="0" l="0" r="0" t="0"/>
            <a:stretch/>
          </p:blipFill>
          <p:spPr>
            <a:xfrm>
              <a:off x="3840" y="3204"/>
              <a:ext cx="203" cy="252"/>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
        <p:nvSpPr>
          <p:cNvPr id="363" name="Google Shape;363;p32"/>
          <p:cNvSpPr txBox="1"/>
          <p:nvPr>
            <p:ph type="title"/>
          </p:nvPr>
        </p:nvSpPr>
        <p:spPr>
          <a:xfrm>
            <a:off x="457200" y="152400"/>
            <a:ext cx="8686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Plan for Analysis of Recursive Algorithms</a:t>
            </a:r>
            <a:endParaRPr/>
          </a:p>
        </p:txBody>
      </p:sp>
      <p:sp>
        <p:nvSpPr>
          <p:cNvPr id="364" name="Google Shape;364;p32"/>
          <p:cNvSpPr txBox="1"/>
          <p:nvPr>
            <p:ph idx="1" type="body"/>
          </p:nvPr>
        </p:nvSpPr>
        <p:spPr>
          <a:xfrm>
            <a:off x="609600" y="1266825"/>
            <a:ext cx="85344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Decide on  a parameter indicating an input’s size.</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Identify the algorithm’s basic operation. </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Check whether the number of times the basic op. is executed may vary on different inputs of the same size.  (If it may, the worst, average, and best cases must be investigated separately.)</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Set up a recurrence relation with an appropriate initial condition expressing the number of times the basic op. is executed.</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8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Solve the recurrence (or, at the very least, establish its solution’s order of growth) by backward substitutions or another method.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 name="Shape 369"/>
        <p:cNvGrpSpPr/>
        <p:nvPr/>
      </p:nvGrpSpPr>
      <p:grpSpPr>
        <a:xfrm>
          <a:off x="0" y="0"/>
          <a:ext cx="0" cy="0"/>
          <a:chOff x="0" y="0"/>
          <a:chExt cx="0" cy="0"/>
        </a:xfrm>
      </p:grpSpPr>
      <p:sp>
        <p:nvSpPr>
          <p:cNvPr id="370" name="Google Shape;370;p33"/>
          <p:cNvSpPr txBox="1"/>
          <p:nvPr>
            <p:ph idx="4294967295" type="title"/>
          </p:nvPr>
        </p:nvSpPr>
        <p:spPr>
          <a:xfrm>
            <a:off x="609600" y="228600"/>
            <a:ext cx="83058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1: Recursive evaluation of </a:t>
            </a:r>
            <a:r>
              <a:rPr b="1" i="1" lang="en-US" sz="3600" u="none">
                <a:solidFill>
                  <a:schemeClr val="dk2"/>
                </a:solidFill>
                <a:latin typeface="Times New Roman"/>
                <a:ea typeface="Times New Roman"/>
                <a:cs typeface="Times New Roman"/>
                <a:sym typeface="Times New Roman"/>
              </a:rPr>
              <a:t>n</a:t>
            </a:r>
            <a:r>
              <a:rPr b="1" i="0" lang="en-US" sz="3600" u="none">
                <a:solidFill>
                  <a:schemeClr val="dk2"/>
                </a:solidFill>
                <a:latin typeface="Times New Roman"/>
                <a:ea typeface="Times New Roman"/>
                <a:cs typeface="Times New Roman"/>
                <a:sym typeface="Times New Roman"/>
              </a:rPr>
              <a:t>!</a:t>
            </a:r>
            <a:endParaRPr/>
          </a:p>
        </p:txBody>
      </p:sp>
      <p:sp>
        <p:nvSpPr>
          <p:cNvPr id="371" name="Google Shape;371;p33"/>
          <p:cNvSpPr txBox="1"/>
          <p:nvPr>
            <p:ph idx="4294967295" type="body"/>
          </p:nvPr>
        </p:nvSpPr>
        <p:spPr>
          <a:xfrm>
            <a:off x="609600" y="1343025"/>
            <a:ext cx="8534400" cy="5286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Definition:</a:t>
            </a:r>
            <a:r>
              <a:rPr b="1" i="1" lang="en-US" sz="2400" u="none">
                <a:solidFill>
                  <a:srgbClr val="FFFF99"/>
                </a:solidFill>
                <a:latin typeface="Times New Roman"/>
                <a:ea typeface="Times New Roman"/>
                <a:cs typeface="Times New Roman"/>
                <a:sym typeface="Times New Roman"/>
              </a:rPr>
              <a:t> n </a:t>
            </a:r>
            <a:r>
              <a:rPr b="1" i="0" lang="en-US" sz="2400" u="none">
                <a:solidFill>
                  <a:srgbClr val="FFFF99"/>
                </a:solidFill>
                <a:latin typeface="Times New Roman"/>
                <a:ea typeface="Times New Roman"/>
                <a:cs typeface="Times New Roman"/>
                <a:sym typeface="Times New Roman"/>
              </a:rPr>
              <a:t>! = 1 </a:t>
            </a:r>
            <a:r>
              <a:rPr b="0" i="0" lang="en-US" sz="2400" u="none">
                <a:solidFill>
                  <a:srgbClr val="FFFF99"/>
                </a:solidFill>
                <a:latin typeface="Times New Roman"/>
                <a:ea typeface="Times New Roman"/>
                <a:cs typeface="Times New Roman"/>
                <a:sym typeface="Times New Roman"/>
              </a:rPr>
              <a:t>*</a:t>
            </a:r>
            <a:r>
              <a:rPr b="1" i="0" lang="en-US" sz="2400" u="none">
                <a:solidFill>
                  <a:srgbClr val="FFFF99"/>
                </a:solidFill>
                <a:latin typeface="Times New Roman"/>
                <a:ea typeface="Times New Roman"/>
                <a:cs typeface="Times New Roman"/>
                <a:sym typeface="Times New Roman"/>
              </a:rPr>
              <a:t> 2 </a:t>
            </a:r>
            <a:r>
              <a:rPr b="0"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 </a:t>
            </a:r>
            <a:r>
              <a:rPr b="0" i="0" lang="en-US" sz="2400" u="none">
                <a:solidFill>
                  <a:srgbClr val="FFFF99"/>
                </a:solidFill>
                <a:latin typeface="Times New Roman"/>
                <a:ea typeface="Times New Roman"/>
                <a:cs typeface="Times New Roman"/>
                <a:sym typeface="Times New Roman"/>
              </a:rPr>
              <a: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a:t>
            </a:r>
            <a:r>
              <a:rPr b="0" i="0" lang="en-US" sz="2400" u="none">
                <a:solidFill>
                  <a:srgbClr val="FFFF99"/>
                </a:solidFill>
                <a:latin typeface="Times New Roman"/>
                <a:ea typeface="Times New Roman"/>
                <a:cs typeface="Times New Roman"/>
                <a:sym typeface="Times New Roman"/>
              </a:rPr>
              <a:t>*</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for </a:t>
            </a:r>
            <a:r>
              <a:rPr b="1" i="1" lang="en-US" sz="2400" u="none">
                <a:solidFill>
                  <a:srgbClr val="FFFF99"/>
                </a:solidFill>
                <a:latin typeface="Times New Roman"/>
                <a:ea typeface="Times New Roman"/>
                <a:cs typeface="Times New Roman"/>
                <a:sym typeface="Times New Roman"/>
              </a:rPr>
              <a:t>n </a:t>
            </a:r>
            <a:r>
              <a:rPr b="1" i="1" lang="en-US" sz="2400" u="none">
                <a:solidFill>
                  <a:srgbClr val="FFFF99"/>
                </a:solidFill>
                <a:latin typeface="Merriweather Sans"/>
                <a:ea typeface="Merriweather Sans"/>
                <a:cs typeface="Merriweather Sans"/>
                <a:sym typeface="Merriweather Sans"/>
              </a:rPr>
              <a:t>≥</a:t>
            </a:r>
            <a:r>
              <a:rPr b="1" i="1"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1  and  0! = 1</a:t>
            </a:r>
            <a:endParaRPr/>
          </a:p>
          <a:p>
            <a:pPr indent="-228600" lvl="0" marL="342900" marR="0" rtl="0" algn="l">
              <a:lnSpc>
                <a:spcPct val="80000"/>
              </a:lnSpc>
              <a:spcBef>
                <a:spcPts val="480"/>
              </a:spcBef>
              <a:spcAft>
                <a:spcPts val="0"/>
              </a:spcAft>
              <a:buClr>
                <a:srgbClr val="A50021"/>
              </a:buClr>
              <a:buSzPts val="1800"/>
              <a:buFont typeface="Arial"/>
              <a:buNone/>
            </a:pPr>
            <a:r>
              <a:t/>
            </a:r>
            <a:endParaRPr b="1" i="0" sz="2400" u="sng">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Recursive definition of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a:t>
            </a:r>
            <a:r>
              <a:rPr b="0" i="0" lang="en-US" sz="2400" u="none">
                <a:solidFill>
                  <a:srgbClr val="FFFF99"/>
                </a:solidFill>
                <a:latin typeface="Times New Roman"/>
                <a:ea typeface="Times New Roman"/>
                <a:cs typeface="Times New Roman"/>
                <a:sym typeface="Times New Roman"/>
              </a:rPr>
              <a:t>*</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for </a:t>
            </a:r>
            <a:r>
              <a:rPr b="1" i="1" lang="en-US" sz="2400" u="none">
                <a:solidFill>
                  <a:srgbClr val="FFFF99"/>
                </a:solidFill>
                <a:latin typeface="Times New Roman"/>
                <a:ea typeface="Times New Roman"/>
                <a:cs typeface="Times New Roman"/>
                <a:sym typeface="Times New Roman"/>
              </a:rPr>
              <a:t>n </a:t>
            </a:r>
            <a:r>
              <a:rPr b="1" i="1" lang="en-US" sz="2400" u="none">
                <a:solidFill>
                  <a:srgbClr val="FFFF99"/>
                </a:solidFill>
                <a:latin typeface="Merriweather Sans"/>
                <a:ea typeface="Merriweather Sans"/>
                <a:cs typeface="Merriweather Sans"/>
                <a:sym typeface="Merriweather Sans"/>
              </a:rPr>
              <a:t>≥</a:t>
            </a:r>
            <a:r>
              <a:rPr b="1" i="1"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1  and  </a:t>
            </a:r>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(0) = 1</a:t>
            </a:r>
            <a:endParaRPr b="1" i="0" sz="2400" u="sng">
              <a:solidFill>
                <a:srgbClr val="FFFF99"/>
              </a:solidFill>
              <a:latin typeface="Times New Roman"/>
              <a:ea typeface="Times New Roman"/>
              <a:cs typeface="Times New Roman"/>
              <a:sym typeface="Times New Roman"/>
            </a:endParaRPr>
          </a:p>
          <a:p>
            <a:pPr indent="-342900" lvl="0" marL="342900" marR="0" rtl="0" algn="l">
              <a:lnSpc>
                <a:spcPct val="80000"/>
              </a:lnSpc>
              <a:spcBef>
                <a:spcPts val="400"/>
              </a:spcBef>
              <a:spcAft>
                <a:spcPts val="0"/>
              </a:spcAft>
              <a:buClr>
                <a:srgbClr val="A50021"/>
              </a:buClr>
              <a:buSzPts val="1500"/>
              <a:buFont typeface="Arial"/>
              <a:buNone/>
            </a:pPr>
            <a:r>
              <a:t/>
            </a:r>
            <a:endParaRPr b="0" i="0" sz="2000" u="none">
              <a:solidFill>
                <a:srgbClr val="FFFF99"/>
              </a:solidFill>
              <a:latin typeface="Times New Roman"/>
              <a:ea typeface="Times New Roman"/>
              <a:cs typeface="Times New Roman"/>
              <a:sym typeface="Times New Roman"/>
            </a:endParaRPr>
          </a:p>
          <a:p>
            <a:pPr indent="-285750" lvl="1" marL="742950" marR="0" rtl="0" algn="l">
              <a:lnSpc>
                <a:spcPct val="80000"/>
              </a:lnSpc>
              <a:spcBef>
                <a:spcPts val="360"/>
              </a:spcBef>
              <a:spcAft>
                <a:spcPts val="0"/>
              </a:spcAft>
              <a:buClr>
                <a:srgbClr val="A50021"/>
              </a:buClr>
              <a:buSzPts val="1800"/>
              <a:buFont typeface="Times New Roman"/>
              <a:buNone/>
            </a:pPr>
            <a:r>
              <a:t/>
            </a:r>
            <a:endParaRPr b="1" i="0" sz="1800" u="none" cap="none" strike="noStrike">
              <a:solidFill>
                <a:srgbClr val="FFFF99"/>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rgbClr val="A50021"/>
              </a:buClr>
              <a:buSzPts val="1350"/>
              <a:buFont typeface="Arial"/>
              <a:buNone/>
            </a:pPr>
            <a:r>
              <a:t/>
            </a:r>
            <a:endParaRPr b="1" i="0" sz="18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rgbClr val="A50021"/>
              </a:buClr>
              <a:buSzPts val="1350"/>
              <a:buFont typeface="Arial"/>
              <a:buNone/>
            </a:pPr>
            <a:r>
              <a:t/>
            </a:r>
            <a:endParaRPr b="1" i="0" sz="18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rgbClr val="A50021"/>
              </a:buClr>
              <a:buSzPts val="1350"/>
              <a:buFont typeface="Arial"/>
              <a:buNone/>
            </a:pPr>
            <a:r>
              <a:t/>
            </a:r>
            <a:endParaRPr b="1" i="0" sz="18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rgbClr val="A50021"/>
              </a:buClr>
              <a:buSzPts val="1350"/>
              <a:buFont typeface="Arial"/>
              <a:buNone/>
            </a:pPr>
            <a:r>
              <a:t/>
            </a:r>
            <a:endParaRPr b="1" i="0" sz="18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rgbClr val="A50021"/>
              </a:buClr>
              <a:buSzPts val="1350"/>
              <a:buFont typeface="Arial"/>
              <a:buNone/>
            </a:pPr>
            <a:r>
              <a:t/>
            </a:r>
            <a:endParaRPr b="1" i="0" sz="18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400"/>
              </a:spcBef>
              <a:spcAft>
                <a:spcPts val="0"/>
              </a:spcAft>
              <a:buClr>
                <a:srgbClr val="A50021"/>
              </a:buClr>
              <a:buSzPts val="1500"/>
              <a:buFont typeface="Arial"/>
              <a:buNone/>
            </a:pPr>
            <a:r>
              <a:t/>
            </a:r>
            <a:endParaRPr b="1" i="0" sz="2000" u="none">
              <a:solidFill>
                <a:srgbClr val="FFFF99"/>
              </a:solidFill>
              <a:latin typeface="Times New Roman"/>
              <a:ea typeface="Times New Roman"/>
              <a:cs typeface="Times New Roman"/>
              <a:sym typeface="Times New Roman"/>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Size:</a:t>
            </a:r>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Basic operation:</a:t>
            </a:r>
            <a:endParaRPr/>
          </a:p>
          <a:p>
            <a:pPr indent="-342900" lvl="0" marL="342900" marR="0" rtl="0" algn="l">
              <a:lnSpc>
                <a:spcPct val="8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Recurrence relation:</a:t>
            </a:r>
            <a:endParaRPr/>
          </a:p>
        </p:txBody>
      </p:sp>
      <p:pic>
        <p:nvPicPr>
          <p:cNvPr id="372" name="Google Shape;372;p33"/>
          <p:cNvPicPr preferRelativeResize="0"/>
          <p:nvPr>
            <p:ph idx="4294967295" type="body"/>
          </p:nvPr>
        </p:nvPicPr>
        <p:blipFill rotWithShape="1">
          <a:blip r:embed="rId3">
            <a:alphaModFix/>
          </a:blip>
          <a:srcRect b="0" l="0" r="0" t="0"/>
          <a:stretch/>
        </p:blipFill>
        <p:spPr>
          <a:xfrm>
            <a:off x="609600" y="2819400"/>
            <a:ext cx="4572000" cy="2274887"/>
          </a:xfrm>
          <a:prstGeom prst="rect">
            <a:avLst/>
          </a:prstGeom>
          <a:noFill/>
          <a:ln>
            <a:noFill/>
          </a:ln>
        </p:spPr>
      </p:pic>
      <p:sp>
        <p:nvSpPr>
          <p:cNvPr id="373" name="Google Shape;373;p33"/>
          <p:cNvSpPr txBox="1"/>
          <p:nvPr/>
        </p:nvSpPr>
        <p:spPr>
          <a:xfrm>
            <a:off x="5105400" y="4953000"/>
            <a:ext cx="25146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a:t>
            </a:r>
            <a:endParaRPr/>
          </a:p>
        </p:txBody>
      </p:sp>
      <p:sp>
        <p:nvSpPr>
          <p:cNvPr id="374" name="Google Shape;374;p33"/>
          <p:cNvSpPr txBox="1"/>
          <p:nvPr/>
        </p:nvSpPr>
        <p:spPr>
          <a:xfrm>
            <a:off x="5715000" y="5334000"/>
            <a:ext cx="28194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multiplication</a:t>
            </a:r>
            <a:endParaRPr/>
          </a:p>
        </p:txBody>
      </p:sp>
      <p:sp>
        <p:nvSpPr>
          <p:cNvPr id="375" name="Google Shape;375;p33"/>
          <p:cNvSpPr txBox="1"/>
          <p:nvPr/>
        </p:nvSpPr>
        <p:spPr>
          <a:xfrm>
            <a:off x="6019800" y="5715000"/>
            <a:ext cx="2743200"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M(n) = M(n-1) + 1</a:t>
            </a:r>
            <a:endParaRPr/>
          </a:p>
          <a:p>
            <a:pPr indent="0" lvl="0" marL="0" marR="0" rtl="0" algn="l">
              <a:lnSpc>
                <a:spcPct val="30000"/>
              </a:lnSpc>
              <a:spcBef>
                <a:spcPts val="16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M(0) = 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3"/>
                                        </p:tgtEl>
                                        <p:attrNameLst>
                                          <p:attrName>style.visibility</p:attrName>
                                        </p:attrNameLst>
                                      </p:cBhvr>
                                      <p:to>
                                        <p:strVal val="visible"/>
                                      </p:to>
                                    </p:set>
                                    <p:anim calcmode="lin" valueType="num">
                                      <p:cBhvr additive="base">
                                        <p:cTn dur="500"/>
                                        <p:tgtEl>
                                          <p:spTgt spid="3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4"/>
                                        </p:tgtEl>
                                        <p:attrNameLst>
                                          <p:attrName>style.visibility</p:attrName>
                                        </p:attrNameLst>
                                      </p:cBhvr>
                                      <p:to>
                                        <p:strVal val="visible"/>
                                      </p:to>
                                    </p:set>
                                    <p:anim calcmode="lin" valueType="num">
                                      <p:cBhvr additive="base">
                                        <p:cTn dur="500"/>
                                        <p:tgtEl>
                                          <p:spTgt spid="37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 name="Shape 380"/>
        <p:cNvGrpSpPr/>
        <p:nvPr/>
      </p:nvGrpSpPr>
      <p:grpSpPr>
        <a:xfrm>
          <a:off x="0" y="0"/>
          <a:ext cx="0" cy="0"/>
          <a:chOff x="0" y="0"/>
          <a:chExt cx="0" cy="0"/>
        </a:xfrm>
      </p:grpSpPr>
      <p:sp>
        <p:nvSpPr>
          <p:cNvPr id="381" name="Google Shape;381;p34"/>
          <p:cNvSpPr txBox="1"/>
          <p:nvPr>
            <p:ph type="title"/>
          </p:nvPr>
        </p:nvSpPr>
        <p:spPr>
          <a:xfrm>
            <a:off x="457200" y="152400"/>
            <a:ext cx="8686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Solving the recurrence for M(</a:t>
            </a:r>
            <a:r>
              <a:rPr b="1" i="1" lang="en-US" sz="3600" u="none">
                <a:solidFill>
                  <a:schemeClr val="dk2"/>
                </a:solidFill>
                <a:latin typeface="Times New Roman"/>
                <a:ea typeface="Times New Roman"/>
                <a:cs typeface="Times New Roman"/>
                <a:sym typeface="Times New Roman"/>
              </a:rPr>
              <a:t>n</a:t>
            </a:r>
            <a:r>
              <a:rPr b="1" i="0" lang="en-US" sz="3600" u="none">
                <a:solidFill>
                  <a:schemeClr val="dk2"/>
                </a:solidFill>
                <a:latin typeface="Times New Roman"/>
                <a:ea typeface="Times New Roman"/>
                <a:cs typeface="Times New Roman"/>
                <a:sym typeface="Times New Roman"/>
              </a:rPr>
              <a:t>)</a:t>
            </a:r>
            <a:endParaRPr/>
          </a:p>
        </p:txBody>
      </p:sp>
      <p:sp>
        <p:nvSpPr>
          <p:cNvPr id="382" name="Google Shape;382;p34"/>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2100"/>
              <a:buFont typeface="Arial"/>
              <a:buNone/>
            </a:pPr>
            <a:r>
              <a:rPr b="1" i="0" lang="en-US" sz="2800" u="none">
                <a:solidFill>
                  <a:srgbClr val="FFFF99"/>
                </a:solidFill>
                <a:latin typeface="Times New Roman"/>
                <a:ea typeface="Times New Roman"/>
                <a:cs typeface="Times New Roman"/>
                <a:sym typeface="Times New Roman"/>
              </a:rPr>
              <a:t>M(</a:t>
            </a:r>
            <a:r>
              <a:rPr b="1" i="1" lang="en-US" sz="2800" u="none">
                <a:solidFill>
                  <a:srgbClr val="FFFF99"/>
                </a:solidFill>
                <a:latin typeface="Times New Roman"/>
                <a:ea typeface="Times New Roman"/>
                <a:cs typeface="Times New Roman"/>
                <a:sym typeface="Times New Roman"/>
              </a:rPr>
              <a:t>n</a:t>
            </a:r>
            <a:r>
              <a:rPr b="1" i="0" lang="en-US" sz="2800" u="none">
                <a:solidFill>
                  <a:srgbClr val="FFFF99"/>
                </a:solidFill>
                <a:latin typeface="Times New Roman"/>
                <a:ea typeface="Times New Roman"/>
                <a:cs typeface="Times New Roman"/>
                <a:sym typeface="Times New Roman"/>
              </a:rPr>
              <a:t>) = M(</a:t>
            </a:r>
            <a:r>
              <a:rPr b="1" i="1" lang="en-US" sz="2800" u="none">
                <a:solidFill>
                  <a:srgbClr val="FFFF99"/>
                </a:solidFill>
                <a:latin typeface="Times New Roman"/>
                <a:ea typeface="Times New Roman"/>
                <a:cs typeface="Times New Roman"/>
                <a:sym typeface="Times New Roman"/>
              </a:rPr>
              <a:t>n</a:t>
            </a:r>
            <a:r>
              <a:rPr b="1" i="0" lang="en-US" sz="2800" u="none">
                <a:solidFill>
                  <a:srgbClr val="FFFF99"/>
                </a:solidFill>
                <a:latin typeface="Times New Roman"/>
                <a:ea typeface="Times New Roman"/>
                <a:cs typeface="Times New Roman"/>
                <a:sym typeface="Times New Roman"/>
              </a:rPr>
              <a:t>-1) + 1,  M(0) = 0</a:t>
            </a:r>
            <a:endParaRPr/>
          </a:p>
        </p:txBody>
      </p:sp>
      <p:sp>
        <p:nvSpPr>
          <p:cNvPr id="383" name="Google Shape;383;p34"/>
          <p:cNvSpPr txBox="1"/>
          <p:nvPr/>
        </p:nvSpPr>
        <p:spPr>
          <a:xfrm>
            <a:off x="609600" y="2057400"/>
            <a:ext cx="7086600" cy="4291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M(n) = M(n-1) + 1</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(M(n-2) + 1) + 1   =   M(n-2) + 2</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(M(n-3) + 1) + 2   =   M(n-3) + 3</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M(n-i) + i</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M(0) + n</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n</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method is called </a:t>
            </a:r>
            <a:r>
              <a:rPr b="0" i="0" lang="en-US" sz="2400" u="none">
                <a:solidFill>
                  <a:srgbClr val="FF6600"/>
                </a:solidFill>
                <a:latin typeface="Times New Roman"/>
                <a:ea typeface="Times New Roman"/>
                <a:cs typeface="Times New Roman"/>
                <a:sym typeface="Times New Roman"/>
              </a:rPr>
              <a:t>backward substitution</a:t>
            </a:r>
            <a:r>
              <a:rPr b="0" i="0" lang="en-US" sz="2400" u="none">
                <a:solidFill>
                  <a:schemeClr val="dk1"/>
                </a:solidFill>
                <a:latin typeface="Times New Roman"/>
                <a:ea typeface="Times New Roman"/>
                <a:cs typeface="Times New Roman"/>
                <a:sym typeface="Times New Roman"/>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83"/>
                                        </p:tgtEl>
                                        <p:attrNameLst>
                                          <p:attrName>style.visibility</p:attrName>
                                        </p:attrNameLst>
                                      </p:cBhvr>
                                      <p:to>
                                        <p:strVal val="visible"/>
                                      </p:to>
                                    </p:set>
                                    <p:anim calcmode="lin" valueType="num">
                                      <p:cBhvr additive="base">
                                        <p:cTn dur="1000"/>
                                        <p:tgtEl>
                                          <p:spTgt spid="38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35"/>
          <p:cNvSpPr txBox="1"/>
          <p:nvPr>
            <p:ph type="title"/>
          </p:nvPr>
        </p:nvSpPr>
        <p:spPr>
          <a:xfrm>
            <a:off x="533400" y="228600"/>
            <a:ext cx="86106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2: The Tower of Hanoi Puzzle</a:t>
            </a:r>
            <a:endParaRPr/>
          </a:p>
        </p:txBody>
      </p:sp>
      <p:sp>
        <p:nvSpPr>
          <p:cNvPr id="390" name="Google Shape;390;p35"/>
          <p:cNvSpPr txBox="1"/>
          <p:nvPr>
            <p:ph idx="1" type="body"/>
          </p:nvPr>
        </p:nvSpPr>
        <p:spPr>
          <a:xfrm>
            <a:off x="609600" y="1219200"/>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endParaRPr/>
          </a:p>
        </p:txBody>
      </p:sp>
      <p:pic>
        <p:nvPicPr>
          <p:cNvPr id="391" name="Google Shape;391;p35"/>
          <p:cNvPicPr preferRelativeResize="0"/>
          <p:nvPr/>
        </p:nvPicPr>
        <p:blipFill rotWithShape="1">
          <a:blip r:embed="rId3">
            <a:alphaModFix/>
          </a:blip>
          <a:srcRect b="0" l="0" r="0" t="0"/>
          <a:stretch/>
        </p:blipFill>
        <p:spPr>
          <a:xfrm>
            <a:off x="685800" y="1371600"/>
            <a:ext cx="6858000" cy="1828800"/>
          </a:xfrm>
          <a:prstGeom prst="rect">
            <a:avLst/>
          </a:prstGeom>
          <a:noFill/>
          <a:ln>
            <a:noFill/>
          </a:ln>
        </p:spPr>
      </p:pic>
      <p:pic>
        <p:nvPicPr>
          <p:cNvPr id="392" name="Google Shape;392;p35"/>
          <p:cNvPicPr preferRelativeResize="0"/>
          <p:nvPr/>
        </p:nvPicPr>
        <p:blipFill rotWithShape="1">
          <a:blip r:embed="rId4">
            <a:alphaModFix/>
          </a:blip>
          <a:srcRect b="0" l="0" r="0" t="0"/>
          <a:stretch/>
        </p:blipFill>
        <p:spPr>
          <a:xfrm>
            <a:off x="762000" y="3276600"/>
            <a:ext cx="7772400" cy="2133600"/>
          </a:xfrm>
          <a:prstGeom prst="rect">
            <a:avLst/>
          </a:prstGeom>
          <a:noFill/>
          <a:ln>
            <a:noFill/>
          </a:ln>
        </p:spPr>
      </p:pic>
      <p:sp>
        <p:nvSpPr>
          <p:cNvPr id="393" name="Google Shape;393;p35"/>
          <p:cNvSpPr txBox="1"/>
          <p:nvPr/>
        </p:nvSpPr>
        <p:spPr>
          <a:xfrm>
            <a:off x="685800" y="5638800"/>
            <a:ext cx="4648200" cy="854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Recurrence for number of moves:</a:t>
            </a:r>
            <a:r>
              <a:rPr b="0" i="0" lang="en-US" sz="2400" u="none">
                <a:solidFill>
                  <a:schemeClr val="dk1"/>
                </a:solidFill>
                <a:latin typeface="Times New Roman"/>
                <a:ea typeface="Times New Roman"/>
                <a:cs typeface="Times New Roman"/>
                <a:sym typeface="Times New Roman"/>
              </a:rPr>
              <a:t> </a:t>
            </a:r>
            <a:endParaRPr/>
          </a:p>
        </p:txBody>
      </p:sp>
      <p:sp>
        <p:nvSpPr>
          <p:cNvPr id="394" name="Google Shape;394;p35"/>
          <p:cNvSpPr txBox="1"/>
          <p:nvPr/>
        </p:nvSpPr>
        <p:spPr>
          <a:xfrm>
            <a:off x="4648200" y="5943600"/>
            <a:ext cx="41910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M(n) = 2M(n-1) + 1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9" name="Shape 399"/>
        <p:cNvGrpSpPr/>
        <p:nvPr/>
      </p:nvGrpSpPr>
      <p:grpSpPr>
        <a:xfrm>
          <a:off x="0" y="0"/>
          <a:ext cx="0" cy="0"/>
          <a:chOff x="0" y="0"/>
          <a:chExt cx="0" cy="0"/>
        </a:xfrm>
      </p:grpSpPr>
      <p:sp>
        <p:nvSpPr>
          <p:cNvPr id="400" name="Google Shape;400;p36"/>
          <p:cNvSpPr txBox="1"/>
          <p:nvPr>
            <p:ph type="title"/>
          </p:nvPr>
        </p:nvSpPr>
        <p:spPr>
          <a:xfrm>
            <a:off x="457200" y="152400"/>
            <a:ext cx="8686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Solving recurrence for number of moves</a:t>
            </a:r>
            <a:endParaRPr/>
          </a:p>
        </p:txBody>
      </p:sp>
      <p:sp>
        <p:nvSpPr>
          <p:cNvPr id="401" name="Google Shape;401;p36"/>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2100"/>
              <a:buFont typeface="Arial"/>
              <a:buNone/>
            </a:pPr>
            <a:r>
              <a:rPr b="1" i="0" lang="en-US" sz="2800" u="none">
                <a:solidFill>
                  <a:srgbClr val="FFFF99"/>
                </a:solidFill>
                <a:latin typeface="Times New Roman"/>
                <a:ea typeface="Times New Roman"/>
                <a:cs typeface="Times New Roman"/>
                <a:sym typeface="Times New Roman"/>
              </a:rPr>
              <a:t>M(</a:t>
            </a:r>
            <a:r>
              <a:rPr b="1" i="1" lang="en-US" sz="2800" u="none">
                <a:solidFill>
                  <a:srgbClr val="FFFF99"/>
                </a:solidFill>
                <a:latin typeface="Times New Roman"/>
                <a:ea typeface="Times New Roman"/>
                <a:cs typeface="Times New Roman"/>
                <a:sym typeface="Times New Roman"/>
              </a:rPr>
              <a:t>n</a:t>
            </a:r>
            <a:r>
              <a:rPr b="1" i="0" lang="en-US" sz="2800" u="none">
                <a:solidFill>
                  <a:srgbClr val="FFFF99"/>
                </a:solidFill>
                <a:latin typeface="Times New Roman"/>
                <a:ea typeface="Times New Roman"/>
                <a:cs typeface="Times New Roman"/>
                <a:sym typeface="Times New Roman"/>
              </a:rPr>
              <a:t>) = 2M(</a:t>
            </a:r>
            <a:r>
              <a:rPr b="1" i="1" lang="en-US" sz="2800" u="none">
                <a:solidFill>
                  <a:srgbClr val="FFFF99"/>
                </a:solidFill>
                <a:latin typeface="Times New Roman"/>
                <a:ea typeface="Times New Roman"/>
                <a:cs typeface="Times New Roman"/>
                <a:sym typeface="Times New Roman"/>
              </a:rPr>
              <a:t>n</a:t>
            </a:r>
            <a:r>
              <a:rPr b="1" i="0" lang="en-US" sz="2800" u="none">
                <a:solidFill>
                  <a:srgbClr val="FFFF99"/>
                </a:solidFill>
                <a:latin typeface="Times New Roman"/>
                <a:ea typeface="Times New Roman"/>
                <a:cs typeface="Times New Roman"/>
                <a:sym typeface="Times New Roman"/>
              </a:rPr>
              <a:t>-1) + 1,  M(1) = 1</a:t>
            </a:r>
            <a:endParaRPr/>
          </a:p>
        </p:txBody>
      </p:sp>
      <p:sp>
        <p:nvSpPr>
          <p:cNvPr id="402" name="Google Shape;402;p36"/>
          <p:cNvSpPr txBox="1"/>
          <p:nvPr/>
        </p:nvSpPr>
        <p:spPr>
          <a:xfrm>
            <a:off x="685800" y="2057400"/>
            <a:ext cx="7543800" cy="4291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M(n) = 2M(n-1) + 1</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2(2M(n-2) + 1) + 1 = 2^2*M(n-2) + 2^1 + 2^0</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2^2*(2M(n-3) + 1) + 2^1 + 2^0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2^3*M(n-3) + 2^2 + 2^1 + 2^0</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2^(n-1)*M(1) + 2^(n-2) + … + 2^1 + 2^0</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2^(n-1) + 2^(n-2) + … + 2^1 + 2^0</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 2^n    - 1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7" name="Shape 407"/>
        <p:cNvGrpSpPr/>
        <p:nvPr/>
      </p:nvGrpSpPr>
      <p:grpSpPr>
        <a:xfrm>
          <a:off x="0" y="0"/>
          <a:ext cx="0" cy="0"/>
          <a:chOff x="0" y="0"/>
          <a:chExt cx="0" cy="0"/>
        </a:xfrm>
      </p:grpSpPr>
      <p:sp>
        <p:nvSpPr>
          <p:cNvPr id="408" name="Google Shape;408;p37"/>
          <p:cNvSpPr/>
          <p:nvPr/>
        </p:nvSpPr>
        <p:spPr>
          <a:xfrm>
            <a:off x="990600" y="1295400"/>
            <a:ext cx="7391400" cy="2895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9" name="Google Shape;409;p37"/>
          <p:cNvSpPr txBox="1"/>
          <p:nvPr>
            <p:ph type="title"/>
          </p:nvPr>
        </p:nvSpPr>
        <p:spPr>
          <a:xfrm>
            <a:off x="457200" y="152400"/>
            <a:ext cx="86868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Tree of calls for the Tower of Hanoi Puzzle</a:t>
            </a:r>
            <a:endParaRPr/>
          </a:p>
        </p:txBody>
      </p:sp>
      <p:sp>
        <p:nvSpPr>
          <p:cNvPr id="410" name="Google Shape;410;p37"/>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endParaRPr/>
          </a:p>
        </p:txBody>
      </p:sp>
      <p:sp>
        <p:nvSpPr>
          <p:cNvPr id="411" name="Google Shape;411;p37"/>
          <p:cNvSpPr txBox="1"/>
          <p:nvPr/>
        </p:nvSpPr>
        <p:spPr>
          <a:xfrm>
            <a:off x="0" y="0"/>
            <a:ext cx="8839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12" name="Google Shape;412;p37"/>
          <p:cNvPicPr preferRelativeResize="0"/>
          <p:nvPr/>
        </p:nvPicPr>
        <p:blipFill rotWithShape="1">
          <a:blip r:embed="rId3">
            <a:alphaModFix/>
          </a:blip>
          <a:srcRect b="0" l="0" r="0" t="0"/>
          <a:stretch/>
        </p:blipFill>
        <p:spPr>
          <a:xfrm>
            <a:off x="304800" y="1295400"/>
            <a:ext cx="8686800" cy="2540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7" name="Shape 417"/>
        <p:cNvGrpSpPr/>
        <p:nvPr/>
      </p:nvGrpSpPr>
      <p:grpSpPr>
        <a:xfrm>
          <a:off x="0" y="0"/>
          <a:ext cx="0" cy="0"/>
          <a:chOff x="0" y="0"/>
          <a:chExt cx="0" cy="0"/>
        </a:xfrm>
      </p:grpSpPr>
      <p:sp>
        <p:nvSpPr>
          <p:cNvPr id="418" name="Google Shape;418;p38"/>
          <p:cNvSpPr txBox="1"/>
          <p:nvPr>
            <p:ph idx="4294967295" type="title"/>
          </p:nvPr>
        </p:nvSpPr>
        <p:spPr>
          <a:xfrm>
            <a:off x="609600" y="228600"/>
            <a:ext cx="758825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Example 3: Counting #bits</a:t>
            </a:r>
            <a:endParaRPr/>
          </a:p>
        </p:txBody>
      </p:sp>
      <p:pic>
        <p:nvPicPr>
          <p:cNvPr id="419" name="Google Shape;419;p38"/>
          <p:cNvPicPr preferRelativeResize="0"/>
          <p:nvPr>
            <p:ph idx="4294967295" type="body"/>
          </p:nvPr>
        </p:nvPicPr>
        <p:blipFill rotWithShape="1">
          <a:blip r:embed="rId3">
            <a:alphaModFix/>
          </a:blip>
          <a:srcRect b="0" l="0" r="0" t="0"/>
          <a:stretch/>
        </p:blipFill>
        <p:spPr>
          <a:xfrm>
            <a:off x="685800" y="1295400"/>
            <a:ext cx="7162800" cy="1636712"/>
          </a:xfrm>
          <a:prstGeom prst="rect">
            <a:avLst/>
          </a:prstGeom>
          <a:noFill/>
          <a:ln>
            <a:noFill/>
          </a:ln>
        </p:spPr>
      </p:pic>
      <p:sp>
        <p:nvSpPr>
          <p:cNvPr id="420" name="Google Shape;420;p38"/>
          <p:cNvSpPr txBox="1"/>
          <p:nvPr/>
        </p:nvSpPr>
        <p:spPr>
          <a:xfrm>
            <a:off x="685800" y="3809999"/>
            <a:ext cx="8763000" cy="2647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A(     ) = A(        ) + 1,   A(    ) = 1    (using the Smoothness Rule)</a:t>
            </a:r>
            <a:endParaRPr/>
          </a:p>
          <a:p>
            <a:pPr indent="0" lvl="0" marL="0" marR="0" rtl="0" algn="l">
              <a:lnSpc>
                <a:spcPct val="100000"/>
              </a:lnSpc>
              <a:spcBef>
                <a:spcPts val="120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             = (A(         ) + 1) + 1  = A(         ) + 2</a:t>
            </a:r>
            <a:endParaRPr/>
          </a:p>
          <a:p>
            <a:pPr indent="0" lvl="0" marL="0" marR="0" rtl="0" algn="l">
              <a:lnSpc>
                <a:spcPct val="100000"/>
              </a:lnSpc>
              <a:spcBef>
                <a:spcPts val="120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             = A(        ) + </a:t>
            </a:r>
            <a:r>
              <a:rPr b="0" i="1" lang="en-US" sz="2400" u="none">
                <a:solidFill>
                  <a:schemeClr val="lt2"/>
                </a:solidFill>
                <a:latin typeface="Times New Roman"/>
                <a:ea typeface="Times New Roman"/>
                <a:cs typeface="Times New Roman"/>
                <a:sym typeface="Times New Roman"/>
              </a:rPr>
              <a:t>i</a:t>
            </a:r>
            <a:endParaRPr/>
          </a:p>
          <a:p>
            <a:pPr indent="0" lvl="0" marL="0" marR="0" rtl="0" algn="l">
              <a:lnSpc>
                <a:spcPct val="100000"/>
              </a:lnSpc>
              <a:spcBef>
                <a:spcPts val="120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             = A(         ) + </a:t>
            </a:r>
            <a:r>
              <a:rPr b="0" i="1" lang="en-US" sz="2400" u="none">
                <a:solidFill>
                  <a:schemeClr val="lt2"/>
                </a:solidFill>
                <a:latin typeface="Times New Roman"/>
                <a:ea typeface="Times New Roman"/>
                <a:cs typeface="Times New Roman"/>
                <a:sym typeface="Times New Roman"/>
              </a:rPr>
              <a:t>k = k + 0</a:t>
            </a:r>
            <a:endParaRPr/>
          </a:p>
          <a:p>
            <a:pPr indent="0" lvl="0" marL="0" marR="0" rtl="0" algn="l">
              <a:lnSpc>
                <a:spcPct val="100000"/>
              </a:lnSpc>
              <a:spcBef>
                <a:spcPts val="120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             = </a:t>
            </a:r>
            <a:endParaRPr/>
          </a:p>
        </p:txBody>
      </p:sp>
      <p:sp>
        <p:nvSpPr>
          <p:cNvPr id="421" name="Google Shape;421;p38"/>
          <p:cNvSpPr txBox="1"/>
          <p:nvPr/>
        </p:nvSpPr>
        <p:spPr>
          <a:xfrm>
            <a:off x="2286000" y="5181599"/>
            <a:ext cx="1511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22" name="Google Shape;422;p38"/>
          <p:cNvPicPr preferRelativeResize="0"/>
          <p:nvPr>
            <p:ph idx="4294967295" type="body"/>
          </p:nvPr>
        </p:nvPicPr>
        <p:blipFill rotWithShape="1">
          <a:blip r:embed="rId4">
            <a:alphaModFix/>
          </a:blip>
          <a:srcRect b="0" l="0" r="0" t="0"/>
          <a:stretch/>
        </p:blipFill>
        <p:spPr>
          <a:xfrm>
            <a:off x="990600" y="3763962"/>
            <a:ext cx="625475" cy="731837"/>
          </a:xfrm>
          <a:prstGeom prst="rect">
            <a:avLst/>
          </a:prstGeom>
          <a:noFill/>
          <a:ln>
            <a:noFill/>
          </a:ln>
        </p:spPr>
      </p:pic>
      <p:pic>
        <p:nvPicPr>
          <p:cNvPr id="423" name="Google Shape;423;p38"/>
          <p:cNvPicPr preferRelativeResize="0"/>
          <p:nvPr/>
        </p:nvPicPr>
        <p:blipFill rotWithShape="1">
          <a:blip r:embed="rId5">
            <a:alphaModFix/>
          </a:blip>
          <a:srcRect b="0" l="0" r="0" t="0"/>
          <a:stretch/>
        </p:blipFill>
        <p:spPr>
          <a:xfrm>
            <a:off x="2133600" y="3763962"/>
            <a:ext cx="911225" cy="731837"/>
          </a:xfrm>
          <a:prstGeom prst="rect">
            <a:avLst/>
          </a:prstGeom>
          <a:noFill/>
          <a:ln>
            <a:noFill/>
          </a:ln>
        </p:spPr>
      </p:pic>
      <p:pic>
        <p:nvPicPr>
          <p:cNvPr id="424" name="Google Shape;424;p38"/>
          <p:cNvPicPr preferRelativeResize="0"/>
          <p:nvPr/>
        </p:nvPicPr>
        <p:blipFill rotWithShape="1">
          <a:blip r:embed="rId6">
            <a:alphaModFix/>
          </a:blip>
          <a:srcRect b="0" l="0" r="0" t="0"/>
          <a:stretch/>
        </p:blipFill>
        <p:spPr>
          <a:xfrm>
            <a:off x="3946525" y="3763962"/>
            <a:ext cx="625475" cy="731837"/>
          </a:xfrm>
          <a:prstGeom prst="rect">
            <a:avLst/>
          </a:prstGeom>
          <a:noFill/>
          <a:ln>
            <a:noFill/>
          </a:ln>
        </p:spPr>
      </p:pic>
      <p:pic>
        <p:nvPicPr>
          <p:cNvPr id="425" name="Google Shape;425;p38"/>
          <p:cNvPicPr preferRelativeResize="0"/>
          <p:nvPr/>
        </p:nvPicPr>
        <p:blipFill rotWithShape="1">
          <a:blip r:embed="rId7">
            <a:alphaModFix/>
          </a:blip>
          <a:srcRect b="0" l="0" r="0" t="0"/>
          <a:stretch/>
        </p:blipFill>
        <p:spPr>
          <a:xfrm>
            <a:off x="2362200" y="4343399"/>
            <a:ext cx="965200" cy="731837"/>
          </a:xfrm>
          <a:prstGeom prst="rect">
            <a:avLst/>
          </a:prstGeom>
          <a:noFill/>
          <a:ln>
            <a:noFill/>
          </a:ln>
        </p:spPr>
      </p:pic>
      <p:pic>
        <p:nvPicPr>
          <p:cNvPr id="426" name="Google Shape;426;p38"/>
          <p:cNvPicPr preferRelativeResize="0"/>
          <p:nvPr/>
        </p:nvPicPr>
        <p:blipFill rotWithShape="1">
          <a:blip r:embed="rId8">
            <a:alphaModFix/>
          </a:blip>
          <a:srcRect b="0" l="0" r="0" t="0"/>
          <a:stretch/>
        </p:blipFill>
        <p:spPr>
          <a:xfrm>
            <a:off x="2057400" y="5943599"/>
            <a:ext cx="1209675" cy="487362"/>
          </a:xfrm>
          <a:prstGeom prst="rect">
            <a:avLst/>
          </a:prstGeom>
          <a:noFill/>
          <a:ln>
            <a:noFill/>
          </a:ln>
        </p:spPr>
      </p:pic>
      <p:pic>
        <p:nvPicPr>
          <p:cNvPr id="427" name="Google Shape;427;p38"/>
          <p:cNvPicPr preferRelativeResize="0"/>
          <p:nvPr/>
        </p:nvPicPr>
        <p:blipFill rotWithShape="1">
          <a:blip r:embed="rId7">
            <a:alphaModFix/>
          </a:blip>
          <a:srcRect b="0" l="0" r="0" t="0"/>
          <a:stretch/>
        </p:blipFill>
        <p:spPr>
          <a:xfrm>
            <a:off x="4902200" y="4297362"/>
            <a:ext cx="965200" cy="731837"/>
          </a:xfrm>
          <a:prstGeom prst="rect">
            <a:avLst/>
          </a:prstGeom>
          <a:noFill/>
          <a:ln>
            <a:noFill/>
          </a:ln>
        </p:spPr>
      </p:pic>
      <p:pic>
        <p:nvPicPr>
          <p:cNvPr id="428" name="Google Shape;428;p38"/>
          <p:cNvPicPr preferRelativeResize="0"/>
          <p:nvPr/>
        </p:nvPicPr>
        <p:blipFill rotWithShape="1">
          <a:blip r:embed="rId9">
            <a:alphaModFix/>
          </a:blip>
          <a:srcRect b="0" l="0" r="0" t="0"/>
          <a:stretch/>
        </p:blipFill>
        <p:spPr>
          <a:xfrm>
            <a:off x="2209800" y="4830762"/>
            <a:ext cx="909638" cy="731837"/>
          </a:xfrm>
          <a:prstGeom prst="rect">
            <a:avLst/>
          </a:prstGeom>
          <a:noFill/>
          <a:ln>
            <a:noFill/>
          </a:ln>
        </p:spPr>
      </p:pic>
      <p:pic>
        <p:nvPicPr>
          <p:cNvPr id="429" name="Google Shape;429;p38"/>
          <p:cNvPicPr preferRelativeResize="0"/>
          <p:nvPr/>
        </p:nvPicPr>
        <p:blipFill rotWithShape="1">
          <a:blip r:embed="rId10">
            <a:alphaModFix/>
          </a:blip>
          <a:srcRect b="0" l="0" r="0" t="0"/>
          <a:stretch/>
        </p:blipFill>
        <p:spPr>
          <a:xfrm>
            <a:off x="2235200" y="5440362"/>
            <a:ext cx="965200" cy="731837"/>
          </a:xfrm>
          <a:prstGeom prst="rect">
            <a:avLst/>
          </a:prstGeom>
          <a:noFill/>
          <a:ln>
            <a:noFill/>
          </a:ln>
        </p:spPr>
      </p:pic>
      <p:grpSp>
        <p:nvGrpSpPr>
          <p:cNvPr id="430" name="Google Shape;430;p38"/>
          <p:cNvGrpSpPr/>
          <p:nvPr/>
        </p:nvGrpSpPr>
        <p:grpSpPr>
          <a:xfrm>
            <a:off x="685800" y="3200400"/>
            <a:ext cx="4419600" cy="512762"/>
            <a:chOff x="432" y="2016"/>
            <a:chExt cx="2784" cy="323"/>
          </a:xfrm>
        </p:grpSpPr>
        <p:sp>
          <p:nvSpPr>
            <p:cNvPr id="431" name="Google Shape;431;p38"/>
            <p:cNvSpPr txBox="1"/>
            <p:nvPr/>
          </p:nvSpPr>
          <p:spPr>
            <a:xfrm>
              <a:off x="432" y="2016"/>
              <a:ext cx="278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2400"/>
                <a:buFont typeface="Times New Roman"/>
                <a:buNone/>
              </a:pPr>
              <a:r>
                <a:rPr b="0" i="0" lang="en-US" sz="2400" u="none">
                  <a:solidFill>
                    <a:schemeClr val="lt2"/>
                  </a:solidFill>
                  <a:latin typeface="Times New Roman"/>
                  <a:ea typeface="Times New Roman"/>
                  <a:cs typeface="Times New Roman"/>
                  <a:sym typeface="Times New Roman"/>
                </a:rPr>
                <a:t>A(</a:t>
              </a:r>
              <a:r>
                <a:rPr b="0" i="1" lang="en-US" sz="2400" u="none">
                  <a:solidFill>
                    <a:schemeClr val="lt2"/>
                  </a:solidFill>
                  <a:latin typeface="Times New Roman"/>
                  <a:ea typeface="Times New Roman"/>
                  <a:cs typeface="Times New Roman"/>
                  <a:sym typeface="Times New Roman"/>
                </a:rPr>
                <a:t>n</a:t>
              </a:r>
              <a:r>
                <a:rPr b="0" i="0" lang="en-US" sz="2400" u="none">
                  <a:solidFill>
                    <a:schemeClr val="lt2"/>
                  </a:solidFill>
                  <a:latin typeface="Times New Roman"/>
                  <a:ea typeface="Times New Roman"/>
                  <a:cs typeface="Times New Roman"/>
                  <a:sym typeface="Times New Roman"/>
                </a:rPr>
                <a:t>) = A(            ) + 1,   A(1) = 0</a:t>
              </a:r>
              <a:endParaRPr/>
            </a:p>
          </p:txBody>
        </p:sp>
        <p:pic>
          <p:nvPicPr>
            <p:cNvPr id="432" name="Google Shape;432;p38"/>
            <p:cNvPicPr preferRelativeResize="0"/>
            <p:nvPr/>
          </p:nvPicPr>
          <p:blipFill rotWithShape="1">
            <a:blip r:embed="rId11">
              <a:alphaModFix/>
            </a:blip>
            <a:srcRect b="0" l="0" r="0" t="0"/>
            <a:stretch/>
          </p:blipFill>
          <p:spPr>
            <a:xfrm>
              <a:off x="1248" y="2016"/>
              <a:ext cx="576" cy="323"/>
            </a:xfrm>
            <a:prstGeom prst="rect">
              <a:avLst/>
            </a:prstGeom>
            <a:noFill/>
            <a:ln>
              <a:noFill/>
            </a:ln>
          </p:spPr>
        </p:pic>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7" name="Shape 437"/>
        <p:cNvGrpSpPr/>
        <p:nvPr/>
      </p:nvGrpSpPr>
      <p:grpSpPr>
        <a:xfrm>
          <a:off x="0" y="0"/>
          <a:ext cx="0" cy="0"/>
          <a:chOff x="0" y="0"/>
          <a:chExt cx="0" cy="0"/>
        </a:xfrm>
      </p:grpSpPr>
      <p:sp>
        <p:nvSpPr>
          <p:cNvPr id="438" name="Google Shape;438;p39"/>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Smoothness Rule</a:t>
            </a:r>
            <a:endParaRPr/>
          </a:p>
        </p:txBody>
      </p:sp>
      <p:sp>
        <p:nvSpPr>
          <p:cNvPr id="439" name="Google Shape;439;p39"/>
          <p:cNvSpPr txBox="1"/>
          <p:nvPr>
            <p:ph idx="1" type="body"/>
          </p:nvPr>
        </p:nvSpPr>
        <p:spPr>
          <a:xfrm>
            <a:off x="381000" y="1676400"/>
            <a:ext cx="8574087"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Let f(n) be a </a:t>
            </a:r>
            <a:r>
              <a:rPr b="1" i="0" lang="en-US" sz="2400" u="sng">
                <a:solidFill>
                  <a:srgbClr val="FFFF99"/>
                </a:solidFill>
                <a:latin typeface="Times New Roman"/>
                <a:ea typeface="Times New Roman"/>
                <a:cs typeface="Times New Roman"/>
                <a:sym typeface="Times New Roman"/>
              </a:rPr>
              <a:t>nonnegative</a:t>
            </a:r>
            <a:r>
              <a:rPr b="1" i="0" lang="en-US" sz="2400" u="none">
                <a:solidFill>
                  <a:srgbClr val="FFFF99"/>
                </a:solidFill>
                <a:latin typeface="Times New Roman"/>
                <a:ea typeface="Times New Roman"/>
                <a:cs typeface="Times New Roman"/>
                <a:sym typeface="Times New Roman"/>
              </a:rPr>
              <a:t> function defined on the set of natural numbers. f(n) is call </a:t>
            </a:r>
            <a:r>
              <a:rPr b="1" i="0" lang="en-US" sz="2400" u="none">
                <a:solidFill>
                  <a:schemeClr val="hlink"/>
                </a:solidFill>
                <a:latin typeface="Times New Roman"/>
                <a:ea typeface="Times New Roman"/>
                <a:cs typeface="Times New Roman"/>
                <a:sym typeface="Times New Roman"/>
              </a:rPr>
              <a:t>smooth</a:t>
            </a:r>
            <a:r>
              <a:rPr b="1" i="0" lang="en-US" sz="2400" u="none">
                <a:solidFill>
                  <a:srgbClr val="FFFF99"/>
                </a:solidFill>
                <a:latin typeface="Times New Roman"/>
                <a:ea typeface="Times New Roman"/>
                <a:cs typeface="Times New Roman"/>
                <a:sym typeface="Times New Roman"/>
              </a:rPr>
              <a:t> if it is </a:t>
            </a:r>
            <a:r>
              <a:rPr b="1" i="0" lang="en-US" sz="2400" u="sng">
                <a:solidFill>
                  <a:srgbClr val="FFFF99"/>
                </a:solidFill>
                <a:latin typeface="Times New Roman"/>
                <a:ea typeface="Times New Roman"/>
                <a:cs typeface="Times New Roman"/>
                <a:sym typeface="Times New Roman"/>
              </a:rPr>
              <a:t>eventually</a:t>
            </a:r>
            <a:r>
              <a:rPr b="1" i="0" lang="en-US" sz="2400" u="none">
                <a:solidFill>
                  <a:srgbClr val="FFFF99"/>
                </a:solidFill>
                <a:latin typeface="Times New Roman"/>
                <a:ea typeface="Times New Roman"/>
                <a:cs typeface="Times New Roman"/>
                <a:sym typeface="Times New Roman"/>
              </a:rPr>
              <a:t> </a:t>
            </a:r>
            <a:r>
              <a:rPr b="1" i="0" lang="en-US" sz="2400" u="sng">
                <a:solidFill>
                  <a:srgbClr val="FFFF99"/>
                </a:solidFill>
                <a:latin typeface="Times New Roman"/>
                <a:ea typeface="Times New Roman"/>
                <a:cs typeface="Times New Roman"/>
                <a:sym typeface="Times New Roman"/>
              </a:rPr>
              <a:t>nondecreasing</a:t>
            </a:r>
            <a:r>
              <a:rPr b="1" i="0" lang="en-US" sz="2400" u="none">
                <a:solidFill>
                  <a:srgbClr val="FFFF99"/>
                </a:solidFill>
                <a:latin typeface="Times New Roman"/>
                <a:ea typeface="Times New Roman"/>
                <a:cs typeface="Times New Roman"/>
                <a:sym typeface="Times New Roman"/>
              </a:rPr>
              <a:t> and</a:t>
            </a:r>
            <a:endParaRPr/>
          </a:p>
          <a:p>
            <a:pPr indent="-285750" lvl="1" marL="742950" marR="0" rtl="0" algn="l">
              <a:lnSpc>
                <a:spcPct val="9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f(2n) </a:t>
            </a:r>
            <a:r>
              <a:rPr b="1" i="0" lang="en-US" sz="2400" u="none" cap="none" strike="noStrike">
                <a:solidFill>
                  <a:srgbClr val="FFFF99"/>
                </a:solidFill>
                <a:latin typeface="Arimo"/>
                <a:ea typeface="Arimo"/>
                <a:cs typeface="Arimo"/>
                <a:sym typeface="Arimo"/>
              </a:rPr>
              <a:t>∈</a:t>
            </a:r>
            <a:r>
              <a:rPr b="1" i="0" lang="en-US" sz="2400" u="none" cap="none" strike="noStrike">
                <a:solidFill>
                  <a:srgbClr val="FFFF99"/>
                </a:solidFill>
                <a:latin typeface="Times New Roman"/>
                <a:ea typeface="Times New Roman"/>
                <a:cs typeface="Times New Roman"/>
                <a:sym typeface="Times New Roman"/>
              </a:rPr>
              <a:t> Θ (f(n))</a:t>
            </a:r>
            <a:endParaRPr/>
          </a:p>
          <a:p>
            <a:pPr indent="-285750" lvl="1" marL="742950" marR="0" rtl="0" algn="l">
              <a:lnSpc>
                <a:spcPct val="90000"/>
              </a:lnSpc>
              <a:spcBef>
                <a:spcPts val="480"/>
              </a:spcBef>
              <a:spcAft>
                <a:spcPts val="0"/>
              </a:spcAft>
              <a:buClr>
                <a:srgbClr val="A50021"/>
              </a:buClr>
              <a:buSzPts val="2400"/>
              <a:buFont typeface="Times New Roman"/>
              <a:buChar char="•"/>
            </a:pPr>
            <a:r>
              <a:rPr b="0" i="0" lang="en-US" sz="2400" u="none" cap="none" strike="noStrike">
                <a:solidFill>
                  <a:srgbClr val="FFFF99"/>
                </a:solidFill>
                <a:latin typeface="Times New Roman"/>
                <a:ea typeface="Times New Roman"/>
                <a:cs typeface="Times New Roman"/>
                <a:sym typeface="Times New Roman"/>
              </a:rPr>
              <a:t>Functions that do not grow too fast, including </a:t>
            </a:r>
            <a:r>
              <a:rPr b="0" i="1" lang="en-US" sz="2400" u="none" cap="none" strike="noStrike">
                <a:solidFill>
                  <a:srgbClr val="FFFF99"/>
                </a:solidFill>
                <a:latin typeface="Times New Roman"/>
                <a:ea typeface="Times New Roman"/>
                <a:cs typeface="Times New Roman"/>
                <a:sym typeface="Times New Roman"/>
              </a:rPr>
              <a:t>logn</a:t>
            </a:r>
            <a:r>
              <a:rPr b="0" i="0" lang="en-US" sz="2400" u="none" cap="none" strike="noStrike">
                <a:solidFill>
                  <a:srgbClr val="FFFF99"/>
                </a:solidFill>
                <a:latin typeface="Times New Roman"/>
                <a:ea typeface="Times New Roman"/>
                <a:cs typeface="Times New Roman"/>
                <a:sym typeface="Times New Roman"/>
              </a:rPr>
              <a:t>, </a:t>
            </a:r>
            <a:r>
              <a:rPr b="0" i="1" lang="en-US" sz="2400" u="none" cap="none" strike="noStrike">
                <a:solidFill>
                  <a:srgbClr val="FFFF99"/>
                </a:solidFill>
                <a:latin typeface="Times New Roman"/>
                <a:ea typeface="Times New Roman"/>
                <a:cs typeface="Times New Roman"/>
                <a:sym typeface="Times New Roman"/>
              </a:rPr>
              <a:t>n</a:t>
            </a:r>
            <a:r>
              <a:rPr b="0" i="0" lang="en-US" sz="2400" u="none" cap="none" strike="noStrike">
                <a:solidFill>
                  <a:srgbClr val="FFFF99"/>
                </a:solidFill>
                <a:latin typeface="Times New Roman"/>
                <a:ea typeface="Times New Roman"/>
                <a:cs typeface="Times New Roman"/>
                <a:sym typeface="Times New Roman"/>
              </a:rPr>
              <a:t>, </a:t>
            </a:r>
            <a:r>
              <a:rPr b="0" i="1" lang="en-US" sz="2400" u="none" cap="none" strike="noStrike">
                <a:solidFill>
                  <a:srgbClr val="FFFF99"/>
                </a:solidFill>
                <a:latin typeface="Times New Roman"/>
                <a:ea typeface="Times New Roman"/>
                <a:cs typeface="Times New Roman"/>
                <a:sym typeface="Times New Roman"/>
              </a:rPr>
              <a:t>nlogn</a:t>
            </a:r>
            <a:r>
              <a:rPr b="0" i="0" lang="en-US" sz="2400" u="none" cap="none" strike="noStrike">
                <a:solidFill>
                  <a:srgbClr val="FFFF99"/>
                </a:solidFill>
                <a:latin typeface="Times New Roman"/>
                <a:ea typeface="Times New Roman"/>
                <a:cs typeface="Times New Roman"/>
                <a:sym typeface="Times New Roman"/>
              </a:rPr>
              <a:t>, and n</a:t>
            </a:r>
            <a:r>
              <a:rPr b="0" baseline="30000" i="0" lang="en-US" sz="2400" u="none" cap="none" strike="noStrike">
                <a:solidFill>
                  <a:srgbClr val="FFFF99"/>
                </a:solidFill>
                <a:latin typeface="Times New Roman"/>
                <a:ea typeface="Times New Roman"/>
                <a:cs typeface="Times New Roman"/>
                <a:sym typeface="Times New Roman"/>
              </a:rPr>
              <a:t>α</a:t>
            </a:r>
            <a:r>
              <a:rPr b="0" i="0" lang="en-US" sz="2400" u="none" cap="none" strike="noStrike">
                <a:solidFill>
                  <a:srgbClr val="FFFF99"/>
                </a:solidFill>
                <a:latin typeface="Times New Roman"/>
                <a:ea typeface="Times New Roman"/>
                <a:cs typeface="Times New Roman"/>
                <a:sym typeface="Times New Roman"/>
              </a:rPr>
              <a:t> where α&gt;=0 are smooth.</a:t>
            </a:r>
            <a:endParaRPr b="0"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rgbClr val="A50021"/>
              </a:buClr>
              <a:buSzPts val="1800"/>
              <a:buFont typeface="Arial"/>
              <a:buChar char="●"/>
            </a:pPr>
            <a:r>
              <a:rPr b="1" i="0" lang="en-US" sz="2400" u="none">
                <a:solidFill>
                  <a:schemeClr val="hlink"/>
                </a:solidFill>
                <a:latin typeface="Times New Roman"/>
                <a:ea typeface="Times New Roman"/>
                <a:cs typeface="Times New Roman"/>
                <a:sym typeface="Times New Roman"/>
              </a:rPr>
              <a:t>Smoothness rule</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Let T(n) be an </a:t>
            </a:r>
            <a:r>
              <a:rPr b="1" i="0" lang="en-US" sz="2400" u="sng">
                <a:solidFill>
                  <a:srgbClr val="FFFF99"/>
                </a:solidFill>
                <a:latin typeface="Times New Roman"/>
                <a:ea typeface="Times New Roman"/>
                <a:cs typeface="Times New Roman"/>
                <a:sym typeface="Times New Roman"/>
              </a:rPr>
              <a:t>eventually nondecreasing</a:t>
            </a:r>
            <a:r>
              <a:rPr b="1" i="0" lang="en-US" sz="2400" u="none">
                <a:solidFill>
                  <a:srgbClr val="FFFF99"/>
                </a:solidFill>
                <a:latin typeface="Times New Roman"/>
                <a:ea typeface="Times New Roman"/>
                <a:cs typeface="Times New Roman"/>
                <a:sym typeface="Times New Roman"/>
              </a:rPr>
              <a:t> function and </a:t>
            </a:r>
            <a:r>
              <a:rPr b="1" i="0" lang="en-US" sz="2400" u="sng">
                <a:solidFill>
                  <a:srgbClr val="FFFF99"/>
                </a:solidFill>
                <a:latin typeface="Times New Roman"/>
                <a:ea typeface="Times New Roman"/>
                <a:cs typeface="Times New Roman"/>
                <a:sym typeface="Times New Roman"/>
              </a:rPr>
              <a:t>f(n) be a smooth function</a:t>
            </a:r>
            <a:r>
              <a:rPr b="1" i="0" lang="en-US" sz="2400" u="none">
                <a:solidFill>
                  <a:srgbClr val="FFFF99"/>
                </a:solidFill>
                <a:latin typeface="Times New Roman"/>
                <a:ea typeface="Times New Roman"/>
                <a:cs typeface="Times New Roman"/>
                <a:sym typeface="Times New Roman"/>
              </a:rPr>
              <a:t>. If</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T(n)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 (f(n)) 	for values of n that are powers of b, </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where b&gt;=2, then</a:t>
            </a:r>
            <a:endParaRPr/>
          </a:p>
          <a:p>
            <a:pPr indent="-342900" lvl="0" marL="342900" marR="0" rtl="0" algn="l">
              <a:lnSpc>
                <a:spcPct val="9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T(n)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 (f(n)) for any 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4" name="Shape 444"/>
        <p:cNvGrpSpPr/>
        <p:nvPr/>
      </p:nvGrpSpPr>
      <p:grpSpPr>
        <a:xfrm>
          <a:off x="0" y="0"/>
          <a:ext cx="0" cy="0"/>
          <a:chOff x="0" y="0"/>
          <a:chExt cx="0" cy="0"/>
        </a:xfrm>
      </p:grpSpPr>
      <p:sp>
        <p:nvSpPr>
          <p:cNvPr id="445" name="Google Shape;445;p40"/>
          <p:cNvSpPr txBox="1"/>
          <p:nvPr>
            <p:ph type="title"/>
          </p:nvPr>
        </p:nvSpPr>
        <p:spPr>
          <a:xfrm>
            <a:off x="5334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Fibonacci numbers</a:t>
            </a:r>
            <a:endParaRPr/>
          </a:p>
        </p:txBody>
      </p:sp>
      <p:sp>
        <p:nvSpPr>
          <p:cNvPr id="446" name="Google Shape;446;p40"/>
          <p:cNvSpPr txBox="1"/>
          <p:nvPr>
            <p:ph idx="1" type="body"/>
          </p:nvPr>
        </p:nvSpPr>
        <p:spPr>
          <a:xfrm>
            <a:off x="533400" y="1219200"/>
            <a:ext cx="7889875" cy="43672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The Fibonacci numbers:</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0, 1, 1, 2, 3, 5, 8, 13, 21, … </a:t>
            </a:r>
            <a:endParaRPr/>
          </a:p>
          <a:p>
            <a:pPr indent="-285750" lvl="1" marL="742950" marR="0" rtl="0" algn="l">
              <a:lnSpc>
                <a:spcPct val="10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The Fibonacci recurrence:</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F(</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F(</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-1) + F(</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-2) </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F(0) = 0   </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F(1) = 1</a:t>
            </a:r>
            <a:endParaRPr/>
          </a:p>
          <a:p>
            <a:pPr indent="-285750" lvl="1" marL="742950" marR="0" rtl="0" algn="l">
              <a:lnSpc>
                <a:spcPct val="100000"/>
              </a:lnSpc>
              <a:spcBef>
                <a:spcPts val="480"/>
              </a:spcBef>
              <a:spcAft>
                <a:spcPts val="0"/>
              </a:spcAft>
              <a:buClr>
                <a:srgbClr val="A50021"/>
              </a:buClr>
              <a:buSzPts val="2400"/>
              <a:buFont typeface="Times New Roman"/>
              <a:buNone/>
            </a:pPr>
            <a:r>
              <a:t/>
            </a:r>
            <a:endParaRPr b="1" i="0" sz="2400" u="none" cap="none" strike="noStrik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General 2</a:t>
            </a:r>
            <a:r>
              <a:rPr b="1" baseline="30000" i="0" lang="en-US" sz="2400" u="none">
                <a:solidFill>
                  <a:srgbClr val="FFFF99"/>
                </a:solidFill>
                <a:latin typeface="Times New Roman"/>
                <a:ea typeface="Times New Roman"/>
                <a:cs typeface="Times New Roman"/>
                <a:sym typeface="Times New Roman"/>
              </a:rPr>
              <a:t>nd</a:t>
            </a:r>
            <a:r>
              <a:rPr b="1" i="0" lang="en-US" sz="2400" u="none">
                <a:solidFill>
                  <a:srgbClr val="FFFF99"/>
                </a:solidFill>
                <a:latin typeface="Times New Roman"/>
                <a:ea typeface="Times New Roman"/>
                <a:cs typeface="Times New Roman"/>
                <a:sym typeface="Times New Roman"/>
              </a:rPr>
              <a:t> order </a:t>
            </a:r>
            <a:r>
              <a:rPr b="1" i="0" lang="en-US" sz="2400" u="none">
                <a:solidFill>
                  <a:srgbClr val="FF6600"/>
                </a:solidFill>
                <a:latin typeface="Times New Roman"/>
                <a:ea typeface="Times New Roman"/>
                <a:cs typeface="Times New Roman"/>
                <a:sym typeface="Times New Roman"/>
              </a:rPr>
              <a:t>linear homogeneous recurrence</a:t>
            </a:r>
            <a:r>
              <a:rPr b="1" i="0" lang="en-US" sz="2400" u="none">
                <a:solidFill>
                  <a:srgbClr val="FFFF99"/>
                </a:solidFill>
                <a:latin typeface="Times New Roman"/>
                <a:ea typeface="Times New Roman"/>
                <a:cs typeface="Times New Roman"/>
                <a:sym typeface="Times New Roman"/>
              </a:rPr>
              <a:t> with </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constant coefficients:</a:t>
            </a:r>
            <a:endParaRPr/>
          </a:p>
          <a:p>
            <a:pPr indent="-285750" lvl="1" marL="742950" marR="0" rtl="0" algn="l">
              <a:lnSpc>
                <a:spcPct val="100000"/>
              </a:lnSpc>
              <a:spcBef>
                <a:spcPts val="480"/>
              </a:spcBef>
              <a:spcAft>
                <a:spcPts val="0"/>
              </a:spcAft>
              <a:buClr>
                <a:srgbClr val="A50021"/>
              </a:buClr>
              <a:buSzPts val="2400"/>
              <a:buFont typeface="Times New Roman"/>
              <a:buNone/>
            </a:pPr>
            <a:r>
              <a:rPr b="1" i="1" lang="en-US" sz="2400" u="none" cap="none" strike="noStrike">
                <a:solidFill>
                  <a:srgbClr val="FFFF99"/>
                </a:solidFill>
                <a:latin typeface="Times New Roman"/>
                <a:ea typeface="Times New Roman"/>
                <a:cs typeface="Times New Roman"/>
                <a:sym typeface="Times New Roman"/>
              </a:rPr>
              <a:t>                  a</a:t>
            </a:r>
            <a:r>
              <a:rPr b="1" i="0" lang="en-US" sz="2400" u="none" cap="none" strike="noStrike">
                <a:solidFill>
                  <a:srgbClr val="FFFF99"/>
                </a:solidFill>
                <a:latin typeface="Times New Roman"/>
                <a:ea typeface="Times New Roman"/>
                <a:cs typeface="Times New Roman"/>
                <a:sym typeface="Times New Roman"/>
              </a:rPr>
              <a:t>X(</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a:t>
            </a:r>
            <a:r>
              <a:rPr b="1" i="1" lang="en-US" sz="2400" u="none" cap="none" strike="noStrike">
                <a:solidFill>
                  <a:srgbClr val="FFFF99"/>
                </a:solidFill>
                <a:latin typeface="Times New Roman"/>
                <a:ea typeface="Times New Roman"/>
                <a:cs typeface="Times New Roman"/>
                <a:sym typeface="Times New Roman"/>
              </a:rPr>
              <a:t>b</a:t>
            </a:r>
            <a:r>
              <a:rPr b="1" i="0" lang="en-US" sz="2400" u="none" cap="none" strike="noStrike">
                <a:solidFill>
                  <a:srgbClr val="FFFF99"/>
                </a:solidFill>
                <a:latin typeface="Times New Roman"/>
                <a:ea typeface="Times New Roman"/>
                <a:cs typeface="Times New Roman"/>
                <a:sym typeface="Times New Roman"/>
              </a:rPr>
              <a:t>X(</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-1) + </a:t>
            </a:r>
            <a:r>
              <a:rPr b="1" i="1" lang="en-US" sz="2400" u="none" cap="none" strike="noStrike">
                <a:solidFill>
                  <a:srgbClr val="FFFF99"/>
                </a:solidFill>
                <a:latin typeface="Times New Roman"/>
                <a:ea typeface="Times New Roman"/>
                <a:cs typeface="Times New Roman"/>
                <a:sym typeface="Times New Roman"/>
              </a:rPr>
              <a:t>c</a:t>
            </a:r>
            <a:r>
              <a:rPr b="1" i="0" lang="en-US" sz="2400" u="none" cap="none" strike="noStrike">
                <a:solidFill>
                  <a:srgbClr val="FFFF99"/>
                </a:solidFill>
                <a:latin typeface="Times New Roman"/>
                <a:ea typeface="Times New Roman"/>
                <a:cs typeface="Times New Roman"/>
                <a:sym typeface="Times New Roman"/>
              </a:rPr>
              <a:t>X</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-2) </a:t>
            </a:r>
            <a:r>
              <a:rPr b="1" i="1" lang="en-US" sz="2400" u="none" cap="none" strike="noStrike">
                <a:solidFill>
                  <a:srgbClr val="FFFF99"/>
                </a:solidFill>
                <a:latin typeface="Times New Roman"/>
                <a:ea typeface="Times New Roman"/>
                <a:cs typeface="Times New Roman"/>
                <a:sym typeface="Times New Roman"/>
              </a:rPr>
              <a:t>=</a:t>
            </a:r>
            <a:r>
              <a:rPr b="1" i="0" lang="en-US" sz="2400" u="none" cap="none" strike="noStrike">
                <a:solidFill>
                  <a:srgbClr val="FFFF99"/>
                </a:solidFill>
                <a:latin typeface="Times New Roman"/>
                <a:ea typeface="Times New Roman"/>
                <a:cs typeface="Times New Roman"/>
                <a:sym typeface="Times New Roman"/>
              </a:rPr>
              <a:t> 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1" name="Shape 451"/>
        <p:cNvGrpSpPr/>
        <p:nvPr/>
      </p:nvGrpSpPr>
      <p:grpSpPr>
        <a:xfrm>
          <a:off x="0" y="0"/>
          <a:ext cx="0" cy="0"/>
          <a:chOff x="0" y="0"/>
          <a:chExt cx="0" cy="0"/>
        </a:xfrm>
      </p:grpSpPr>
      <p:sp>
        <p:nvSpPr>
          <p:cNvPr id="452" name="Google Shape;452;p41"/>
          <p:cNvSpPr txBox="1"/>
          <p:nvPr>
            <p:ph type="title"/>
          </p:nvPr>
        </p:nvSpPr>
        <p:spPr>
          <a:xfrm>
            <a:off x="533400" y="152400"/>
            <a:ext cx="80772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Solving   </a:t>
            </a:r>
            <a:r>
              <a:rPr b="1" i="1" lang="en-US" sz="3600" u="none">
                <a:solidFill>
                  <a:schemeClr val="dk2"/>
                </a:solidFill>
                <a:latin typeface="Times New Roman"/>
                <a:ea typeface="Times New Roman"/>
                <a:cs typeface="Times New Roman"/>
                <a:sym typeface="Times New Roman"/>
              </a:rPr>
              <a:t>a</a:t>
            </a:r>
            <a:r>
              <a:rPr b="1" i="0" lang="en-US" sz="3600" u="none">
                <a:solidFill>
                  <a:schemeClr val="dk2"/>
                </a:solidFill>
                <a:latin typeface="Times New Roman"/>
                <a:ea typeface="Times New Roman"/>
                <a:cs typeface="Times New Roman"/>
                <a:sym typeface="Times New Roman"/>
              </a:rPr>
              <a:t>X(</a:t>
            </a:r>
            <a:r>
              <a:rPr b="1" i="1" lang="en-US" sz="3600" u="none">
                <a:solidFill>
                  <a:schemeClr val="dk2"/>
                </a:solidFill>
                <a:latin typeface="Times New Roman"/>
                <a:ea typeface="Times New Roman"/>
                <a:cs typeface="Times New Roman"/>
                <a:sym typeface="Times New Roman"/>
              </a:rPr>
              <a:t>n</a:t>
            </a:r>
            <a:r>
              <a:rPr b="1" i="0" lang="en-US" sz="3600" u="none">
                <a:solidFill>
                  <a:schemeClr val="dk2"/>
                </a:solidFill>
                <a:latin typeface="Times New Roman"/>
                <a:ea typeface="Times New Roman"/>
                <a:cs typeface="Times New Roman"/>
                <a:sym typeface="Times New Roman"/>
              </a:rPr>
              <a:t>) + </a:t>
            </a:r>
            <a:r>
              <a:rPr b="1" i="1" lang="en-US" sz="3600" u="none">
                <a:solidFill>
                  <a:schemeClr val="dk2"/>
                </a:solidFill>
                <a:latin typeface="Times New Roman"/>
                <a:ea typeface="Times New Roman"/>
                <a:cs typeface="Times New Roman"/>
                <a:sym typeface="Times New Roman"/>
              </a:rPr>
              <a:t>b</a:t>
            </a:r>
            <a:r>
              <a:rPr b="1" i="0" lang="en-US" sz="3600" u="none">
                <a:solidFill>
                  <a:schemeClr val="dk2"/>
                </a:solidFill>
                <a:latin typeface="Times New Roman"/>
                <a:ea typeface="Times New Roman"/>
                <a:cs typeface="Times New Roman"/>
                <a:sym typeface="Times New Roman"/>
              </a:rPr>
              <a:t>X(</a:t>
            </a:r>
            <a:r>
              <a:rPr b="1" i="1" lang="en-US" sz="3600" u="none">
                <a:solidFill>
                  <a:schemeClr val="dk2"/>
                </a:solidFill>
                <a:latin typeface="Times New Roman"/>
                <a:ea typeface="Times New Roman"/>
                <a:cs typeface="Times New Roman"/>
                <a:sym typeface="Times New Roman"/>
              </a:rPr>
              <a:t>n</a:t>
            </a:r>
            <a:r>
              <a:rPr b="1" i="0" lang="en-US" sz="3600" u="none">
                <a:solidFill>
                  <a:schemeClr val="dk2"/>
                </a:solidFill>
                <a:latin typeface="Times New Roman"/>
                <a:ea typeface="Times New Roman"/>
                <a:cs typeface="Times New Roman"/>
                <a:sym typeface="Times New Roman"/>
              </a:rPr>
              <a:t>-1) + </a:t>
            </a:r>
            <a:r>
              <a:rPr b="1" i="1" lang="en-US" sz="3600" u="none">
                <a:solidFill>
                  <a:schemeClr val="dk2"/>
                </a:solidFill>
                <a:latin typeface="Times New Roman"/>
                <a:ea typeface="Times New Roman"/>
                <a:cs typeface="Times New Roman"/>
                <a:sym typeface="Times New Roman"/>
              </a:rPr>
              <a:t>c</a:t>
            </a:r>
            <a:r>
              <a:rPr b="1" i="0" lang="en-US" sz="3600" u="none">
                <a:solidFill>
                  <a:schemeClr val="dk2"/>
                </a:solidFill>
                <a:latin typeface="Times New Roman"/>
                <a:ea typeface="Times New Roman"/>
                <a:cs typeface="Times New Roman"/>
                <a:sym typeface="Times New Roman"/>
              </a:rPr>
              <a:t>X(</a:t>
            </a:r>
            <a:r>
              <a:rPr b="1" i="1" lang="en-US" sz="3600" u="none">
                <a:solidFill>
                  <a:schemeClr val="dk2"/>
                </a:solidFill>
                <a:latin typeface="Times New Roman"/>
                <a:ea typeface="Times New Roman"/>
                <a:cs typeface="Times New Roman"/>
                <a:sym typeface="Times New Roman"/>
              </a:rPr>
              <a:t>n</a:t>
            </a:r>
            <a:r>
              <a:rPr b="1" i="0" lang="en-US" sz="3600" u="none">
                <a:solidFill>
                  <a:schemeClr val="dk2"/>
                </a:solidFill>
                <a:latin typeface="Times New Roman"/>
                <a:ea typeface="Times New Roman"/>
                <a:cs typeface="Times New Roman"/>
                <a:sym typeface="Times New Roman"/>
              </a:rPr>
              <a:t>-2) </a:t>
            </a:r>
            <a:r>
              <a:rPr b="1" i="1" lang="en-US" sz="3600" u="none">
                <a:solidFill>
                  <a:schemeClr val="dk2"/>
                </a:solidFill>
                <a:latin typeface="Times New Roman"/>
                <a:ea typeface="Times New Roman"/>
                <a:cs typeface="Times New Roman"/>
                <a:sym typeface="Times New Roman"/>
              </a:rPr>
              <a:t>=</a:t>
            </a:r>
            <a:r>
              <a:rPr b="1" i="0" lang="en-US" sz="3600" u="none">
                <a:solidFill>
                  <a:schemeClr val="dk2"/>
                </a:solidFill>
                <a:latin typeface="Times New Roman"/>
                <a:ea typeface="Times New Roman"/>
                <a:cs typeface="Times New Roman"/>
                <a:sym typeface="Times New Roman"/>
              </a:rPr>
              <a:t> 0</a:t>
            </a:r>
            <a:endParaRPr/>
          </a:p>
        </p:txBody>
      </p:sp>
      <p:sp>
        <p:nvSpPr>
          <p:cNvPr id="453" name="Google Shape;453;p41"/>
          <p:cNvSpPr txBox="1"/>
          <p:nvPr>
            <p:ph idx="1" type="body"/>
          </p:nvPr>
        </p:nvSpPr>
        <p:spPr>
          <a:xfrm>
            <a:off x="609600" y="1295400"/>
            <a:ext cx="8229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Set up the characteristic equation (quadratic)</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ar</a:t>
            </a:r>
            <a:r>
              <a:rPr b="1" baseline="30000" i="0" lang="en-US" sz="2400" u="none">
                <a:solidFill>
                  <a:srgbClr val="FFFF99"/>
                </a:solidFill>
                <a:latin typeface="Times New Roman"/>
                <a:ea typeface="Times New Roman"/>
                <a:cs typeface="Times New Roman"/>
                <a:sym typeface="Times New Roman"/>
              </a:rPr>
              <a:t>2</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br</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c</a:t>
            </a:r>
            <a:r>
              <a:rPr b="1" i="0" lang="en-US" sz="2400" u="none">
                <a:solidFill>
                  <a:srgbClr val="FFFF99"/>
                </a:solidFill>
                <a:latin typeface="Times New Roman"/>
                <a:ea typeface="Times New Roman"/>
                <a:cs typeface="Times New Roman"/>
                <a:sym typeface="Times New Roman"/>
              </a:rPr>
              <a:t> </a:t>
            </a:r>
            <a:r>
              <a:rPr b="1" i="1" lang="en-US" sz="2400" u="none">
                <a:solidFill>
                  <a:srgbClr val="FFFF99"/>
                </a:solidFill>
                <a:latin typeface="Times New Roman"/>
                <a:ea typeface="Times New Roman"/>
                <a:cs typeface="Times New Roman"/>
                <a:sym typeface="Times New Roman"/>
              </a:rPr>
              <a:t>=</a:t>
            </a:r>
            <a:r>
              <a:rPr b="1" i="0" lang="en-US" sz="2400" u="none">
                <a:solidFill>
                  <a:srgbClr val="FFFF99"/>
                </a:solidFill>
                <a:latin typeface="Times New Roman"/>
                <a:ea typeface="Times New Roman"/>
                <a:cs typeface="Times New Roman"/>
                <a:sym typeface="Times New Roman"/>
              </a:rPr>
              <a:t> 0</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Solve to obtain roots </a:t>
            </a:r>
            <a:r>
              <a:rPr b="1" i="1" lang="en-US" sz="2400" u="none">
                <a:solidFill>
                  <a:srgbClr val="FFFF99"/>
                </a:solidFill>
                <a:latin typeface="Times New Roman"/>
                <a:ea typeface="Times New Roman"/>
                <a:cs typeface="Times New Roman"/>
                <a:sym typeface="Times New Roman"/>
              </a:rPr>
              <a:t>r</a:t>
            </a:r>
            <a:r>
              <a:rPr b="1" baseline="-25000" i="0" lang="en-US" sz="2400" u="none">
                <a:solidFill>
                  <a:srgbClr val="FFFF99"/>
                </a:solidFill>
                <a:latin typeface="Times New Roman"/>
                <a:ea typeface="Times New Roman"/>
                <a:cs typeface="Times New Roman"/>
                <a:sym typeface="Times New Roman"/>
              </a:rPr>
              <a:t>1</a:t>
            </a:r>
            <a:r>
              <a:rPr b="1" i="0" lang="en-US" sz="2400" u="none">
                <a:solidFill>
                  <a:srgbClr val="FFFF99"/>
                </a:solidFill>
                <a:latin typeface="Times New Roman"/>
                <a:ea typeface="Times New Roman"/>
                <a:cs typeface="Times New Roman"/>
                <a:sym typeface="Times New Roman"/>
              </a:rPr>
              <a:t> and </a:t>
            </a:r>
            <a:r>
              <a:rPr b="1" i="1" lang="en-US" sz="2400" u="none">
                <a:solidFill>
                  <a:srgbClr val="FFFF99"/>
                </a:solidFill>
                <a:latin typeface="Times New Roman"/>
                <a:ea typeface="Times New Roman"/>
                <a:cs typeface="Times New Roman"/>
                <a:sym typeface="Times New Roman"/>
              </a:rPr>
              <a:t>r</a:t>
            </a:r>
            <a:r>
              <a:rPr b="1" baseline="-25000" i="0" lang="en-US" sz="2400" u="none">
                <a:solidFill>
                  <a:srgbClr val="FFFF99"/>
                </a:solidFill>
                <a:latin typeface="Times New Roman"/>
                <a:ea typeface="Times New Roman"/>
                <a:cs typeface="Times New Roman"/>
                <a:sym typeface="Times New Roman"/>
              </a:rPr>
              <a:t>2</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General solution to the recurrence</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if </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1 </a:t>
            </a:r>
            <a:r>
              <a:rPr b="1" i="0" lang="en-US" sz="2400" u="none" cap="none" strike="noStrike">
                <a:solidFill>
                  <a:srgbClr val="FFFF99"/>
                </a:solidFill>
                <a:latin typeface="Times New Roman"/>
                <a:ea typeface="Times New Roman"/>
                <a:cs typeface="Times New Roman"/>
                <a:sym typeface="Times New Roman"/>
              </a:rPr>
              <a:t>and </a:t>
            </a:r>
            <a:r>
              <a:rPr b="1" baseline="-25000" i="0" lang="en-US" sz="2400" u="none" cap="none" strike="noStrike">
                <a:solidFill>
                  <a:srgbClr val="FFFF99"/>
                </a:solidFill>
                <a:latin typeface="Times New Roman"/>
                <a:ea typeface="Times New Roman"/>
                <a:cs typeface="Times New Roman"/>
                <a:sym typeface="Times New Roman"/>
              </a:rPr>
              <a:t> </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2 </a:t>
            </a:r>
            <a:r>
              <a:rPr b="1" i="0" lang="en-US" sz="2400" u="none" cap="none" strike="noStrike">
                <a:solidFill>
                  <a:srgbClr val="FFFF99"/>
                </a:solidFill>
                <a:latin typeface="Times New Roman"/>
                <a:ea typeface="Times New Roman"/>
                <a:cs typeface="Times New Roman"/>
                <a:sym typeface="Times New Roman"/>
              </a:rPr>
              <a:t> are two distinct real roots:  X(</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a:t>
            </a:r>
            <a:r>
              <a:rPr b="1" i="0" lang="en-US" sz="2400" u="none" cap="none" strike="noStrike">
                <a:solidFill>
                  <a:srgbClr val="FFFF99"/>
                </a:solidFill>
                <a:latin typeface="Merriweather Sans"/>
                <a:ea typeface="Merriweather Sans"/>
                <a:cs typeface="Merriweather Sans"/>
                <a:sym typeface="Merriweather Sans"/>
              </a:rPr>
              <a:t>α</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1</a:t>
            </a:r>
            <a:r>
              <a:rPr b="1" baseline="30000" i="1" lang="en-US" sz="2400" u="none" cap="none" strike="noStrike">
                <a:solidFill>
                  <a:srgbClr val="FFFF99"/>
                </a:solidFill>
                <a:latin typeface="Times New Roman"/>
                <a:ea typeface="Times New Roman"/>
                <a:cs typeface="Times New Roman"/>
                <a:sym typeface="Times New Roman"/>
              </a:rPr>
              <a:t>n </a:t>
            </a:r>
            <a:r>
              <a:rPr b="1" i="1"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FF99"/>
                </a:solidFill>
                <a:latin typeface="Merriweather Sans"/>
                <a:ea typeface="Merriweather Sans"/>
                <a:cs typeface="Merriweather Sans"/>
                <a:sym typeface="Merriweather Sans"/>
              </a:rPr>
              <a:t>β</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2</a:t>
            </a:r>
            <a:r>
              <a:rPr b="1" baseline="30000" i="1" lang="en-US" sz="2400" u="none" cap="none" strike="noStrike">
                <a:solidFill>
                  <a:srgbClr val="FFFF99"/>
                </a:solidFill>
                <a:latin typeface="Times New Roman"/>
                <a:ea typeface="Times New Roman"/>
                <a:cs typeface="Times New Roman"/>
                <a:sym typeface="Times New Roman"/>
              </a:rPr>
              <a:t>n</a:t>
            </a:r>
            <a:endParaRPr/>
          </a:p>
          <a:p>
            <a:pPr indent="-285750" lvl="1" marL="742950" marR="0" rtl="0" algn="l">
              <a:lnSpc>
                <a:spcPct val="100000"/>
              </a:lnSpc>
              <a:spcBef>
                <a:spcPts val="480"/>
              </a:spcBef>
              <a:spcAft>
                <a:spcPts val="0"/>
              </a:spcAft>
              <a:buClr>
                <a:srgbClr val="A50021"/>
              </a:buClr>
              <a:buSzPts val="2400"/>
              <a:buFont typeface="Times New Roman"/>
              <a:buNone/>
            </a:pPr>
            <a:r>
              <a:rPr b="1" i="0" lang="en-US" sz="2400" u="none" cap="none" strike="noStrike">
                <a:solidFill>
                  <a:srgbClr val="FFFF99"/>
                </a:solidFill>
                <a:latin typeface="Times New Roman"/>
                <a:ea typeface="Times New Roman"/>
                <a:cs typeface="Times New Roman"/>
                <a:sym typeface="Times New Roman"/>
              </a:rPr>
              <a:t>if </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1 </a:t>
            </a:r>
            <a:r>
              <a:rPr b="1" i="0" lang="en-US" sz="2400" u="none" cap="none" strike="noStrike">
                <a:solidFill>
                  <a:srgbClr val="FFFF99"/>
                </a:solidFill>
                <a:latin typeface="Times New Roman"/>
                <a:ea typeface="Times New Roman"/>
                <a:cs typeface="Times New Roman"/>
                <a:sym typeface="Times New Roman"/>
              </a:rPr>
              <a:t>=</a:t>
            </a:r>
            <a:r>
              <a:rPr b="1" baseline="-25000" i="0" lang="en-US" sz="2400" u="none" cap="none" strike="noStrike">
                <a:solidFill>
                  <a:srgbClr val="FFFF99"/>
                </a:solidFill>
                <a:latin typeface="Times New Roman"/>
                <a:ea typeface="Times New Roman"/>
                <a:cs typeface="Times New Roman"/>
                <a:sym typeface="Times New Roman"/>
              </a:rPr>
              <a:t> </a:t>
            </a:r>
            <a:r>
              <a:rPr b="1" i="1" lang="en-US" sz="2400" u="none" cap="none" strike="noStrike">
                <a:solidFill>
                  <a:srgbClr val="FFFF99"/>
                </a:solidFill>
                <a:latin typeface="Times New Roman"/>
                <a:ea typeface="Times New Roman"/>
                <a:cs typeface="Times New Roman"/>
                <a:sym typeface="Times New Roman"/>
              </a:rPr>
              <a:t>r</a:t>
            </a:r>
            <a:r>
              <a:rPr b="1" baseline="-25000" i="0" lang="en-US" sz="2400" u="none" cap="none" strike="noStrike">
                <a:solidFill>
                  <a:srgbClr val="FFFF99"/>
                </a:solidFill>
                <a:latin typeface="Times New Roman"/>
                <a:ea typeface="Times New Roman"/>
                <a:cs typeface="Times New Roman"/>
                <a:sym typeface="Times New Roman"/>
              </a:rPr>
              <a:t>2 </a:t>
            </a:r>
            <a:r>
              <a:rPr b="1" i="0" lang="en-US" sz="2400" u="none" cap="none" strike="noStrike">
                <a:solidFill>
                  <a:srgbClr val="FFFF99"/>
                </a:solidFill>
                <a:latin typeface="Times New Roman"/>
                <a:ea typeface="Times New Roman"/>
                <a:cs typeface="Times New Roman"/>
                <a:sym typeface="Times New Roman"/>
              </a:rPr>
              <a:t>= </a:t>
            </a:r>
            <a:r>
              <a:rPr b="1" i="1" lang="en-US" sz="2400" u="none" cap="none" strike="noStrike">
                <a:solidFill>
                  <a:srgbClr val="FFFF99"/>
                </a:solidFill>
                <a:latin typeface="Times New Roman"/>
                <a:ea typeface="Times New Roman"/>
                <a:cs typeface="Times New Roman"/>
                <a:sym typeface="Times New Roman"/>
              </a:rPr>
              <a:t>r</a:t>
            </a:r>
            <a:r>
              <a:rPr b="1" i="0" lang="en-US" sz="2400" u="none" cap="none" strike="noStrike">
                <a:solidFill>
                  <a:srgbClr val="FFFF99"/>
                </a:solidFill>
                <a:latin typeface="Times New Roman"/>
                <a:ea typeface="Times New Roman"/>
                <a:cs typeface="Times New Roman"/>
                <a:sym typeface="Times New Roman"/>
              </a:rPr>
              <a:t> are two equal real roots:      X(</a:t>
            </a:r>
            <a:r>
              <a:rPr b="1" i="1" lang="en-US" sz="2400" u="none" cap="none" strike="noStrike">
                <a:solidFill>
                  <a:srgbClr val="FFFF99"/>
                </a:solidFill>
                <a:latin typeface="Times New Roman"/>
                <a:ea typeface="Times New Roman"/>
                <a:cs typeface="Times New Roman"/>
                <a:sym typeface="Times New Roman"/>
              </a:rPr>
              <a:t>n</a:t>
            </a:r>
            <a:r>
              <a:rPr b="1" i="0" lang="en-US" sz="2400" u="none" cap="none" strike="noStrike">
                <a:solidFill>
                  <a:srgbClr val="FFFF99"/>
                </a:solidFill>
                <a:latin typeface="Times New Roman"/>
                <a:ea typeface="Times New Roman"/>
                <a:cs typeface="Times New Roman"/>
                <a:sym typeface="Times New Roman"/>
              </a:rPr>
              <a:t>) = </a:t>
            </a:r>
            <a:r>
              <a:rPr b="1" i="0" lang="en-US" sz="2400" u="none" cap="none" strike="noStrike">
                <a:solidFill>
                  <a:srgbClr val="FFFF99"/>
                </a:solidFill>
                <a:latin typeface="Merriweather Sans"/>
                <a:ea typeface="Merriweather Sans"/>
                <a:cs typeface="Merriweather Sans"/>
                <a:sym typeface="Merriweather Sans"/>
              </a:rPr>
              <a:t>α</a:t>
            </a:r>
            <a:r>
              <a:rPr b="1" i="1" lang="en-US" sz="2400" u="none" cap="none" strike="noStrike">
                <a:solidFill>
                  <a:srgbClr val="FFFF99"/>
                </a:solidFill>
                <a:latin typeface="Times New Roman"/>
                <a:ea typeface="Times New Roman"/>
                <a:cs typeface="Times New Roman"/>
                <a:sym typeface="Times New Roman"/>
              </a:rPr>
              <a:t>r</a:t>
            </a:r>
            <a:r>
              <a:rPr b="1" baseline="30000" i="1" lang="en-US" sz="2400" u="none" cap="none" strike="noStrike">
                <a:solidFill>
                  <a:srgbClr val="FFFF99"/>
                </a:solidFill>
                <a:latin typeface="Times New Roman"/>
                <a:ea typeface="Times New Roman"/>
                <a:cs typeface="Times New Roman"/>
                <a:sym typeface="Times New Roman"/>
              </a:rPr>
              <a:t>n </a:t>
            </a:r>
            <a:r>
              <a:rPr b="1" i="1" lang="en-US" sz="2400" u="none" cap="none" strike="noStrike">
                <a:solidFill>
                  <a:srgbClr val="FFFF99"/>
                </a:solidFill>
                <a:latin typeface="Times New Roman"/>
                <a:ea typeface="Times New Roman"/>
                <a:cs typeface="Times New Roman"/>
                <a:sym typeface="Times New Roman"/>
              </a:rPr>
              <a:t>+ </a:t>
            </a:r>
            <a:r>
              <a:rPr b="1" i="0" lang="en-US" sz="2400" u="none" cap="none" strike="noStrike">
                <a:solidFill>
                  <a:srgbClr val="FFFF99"/>
                </a:solidFill>
                <a:latin typeface="Merriweather Sans"/>
                <a:ea typeface="Merriweather Sans"/>
                <a:cs typeface="Merriweather Sans"/>
                <a:sym typeface="Merriweather Sans"/>
              </a:rPr>
              <a:t>β</a:t>
            </a:r>
            <a:r>
              <a:rPr b="1" i="1" lang="en-US" sz="2400" u="none" cap="none" strike="noStrike">
                <a:solidFill>
                  <a:srgbClr val="FFFF99"/>
                </a:solidFill>
                <a:latin typeface="Times New Roman"/>
                <a:ea typeface="Times New Roman"/>
                <a:cs typeface="Times New Roman"/>
                <a:sym typeface="Times New Roman"/>
              </a:rPr>
              <a:t>nr</a:t>
            </a:r>
            <a:r>
              <a:rPr b="1" baseline="-25000" i="0" lang="en-US" sz="2400" u="none" cap="none" strike="noStrike">
                <a:solidFill>
                  <a:srgbClr val="FFFF99"/>
                </a:solidFill>
                <a:latin typeface="Times New Roman"/>
                <a:ea typeface="Times New Roman"/>
                <a:cs typeface="Times New Roman"/>
                <a:sym typeface="Times New Roman"/>
              </a:rPr>
              <a:t> </a:t>
            </a:r>
            <a:r>
              <a:rPr b="1" baseline="30000" i="1" lang="en-US" sz="2400" u="none" cap="none" strike="noStrike">
                <a:solidFill>
                  <a:srgbClr val="FFFF99"/>
                </a:solidFill>
                <a:latin typeface="Times New Roman"/>
                <a:ea typeface="Times New Roman"/>
                <a:cs typeface="Times New Roman"/>
                <a:sym typeface="Times New Roman"/>
              </a:rPr>
              <a:t>n</a:t>
            </a:r>
            <a:endParaRPr b="1" i="0" sz="2400" u="none" cap="none" strike="noStrik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baseline="30000" i="1"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Char char="●"/>
            </a:pPr>
            <a:r>
              <a:rPr b="1" i="0" lang="en-US" sz="2400" u="none">
                <a:solidFill>
                  <a:srgbClr val="FFFF99"/>
                </a:solidFill>
                <a:latin typeface="Times New Roman"/>
                <a:ea typeface="Times New Roman"/>
                <a:cs typeface="Times New Roman"/>
                <a:sym typeface="Times New Roman"/>
              </a:rPr>
              <a:t>Particular solution can be found by using initial conditions</a:t>
            </a:r>
            <a:endParaRPr b="1" baseline="30000" i="1"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8" name="Shape 458"/>
        <p:cNvGrpSpPr/>
        <p:nvPr/>
      </p:nvGrpSpPr>
      <p:grpSpPr>
        <a:xfrm>
          <a:off x="0" y="0"/>
          <a:ext cx="0" cy="0"/>
          <a:chOff x="0" y="0"/>
          <a:chExt cx="0" cy="0"/>
        </a:xfrm>
      </p:grpSpPr>
      <p:sp>
        <p:nvSpPr>
          <p:cNvPr id="459" name="Google Shape;459;p42"/>
          <p:cNvSpPr txBox="1"/>
          <p:nvPr>
            <p:ph type="title"/>
          </p:nvPr>
        </p:nvSpPr>
        <p:spPr>
          <a:xfrm>
            <a:off x="609600" y="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Application to the Fibonacci numbers</a:t>
            </a:r>
            <a:endParaRPr/>
          </a:p>
        </p:txBody>
      </p:sp>
      <p:sp>
        <p:nvSpPr>
          <p:cNvPr id="460" name="Google Shape;460;p42"/>
          <p:cNvSpPr txBox="1"/>
          <p:nvPr>
            <p:ph idx="1" type="body"/>
          </p:nvPr>
        </p:nvSpPr>
        <p:spPr>
          <a:xfrm>
            <a:off x="533400" y="1219200"/>
            <a:ext cx="8097837" cy="44275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 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-2)  or  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 - F(</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-2) = 0</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Characteristic equation:</a:t>
            </a:r>
            <a:br>
              <a:rPr b="1" i="0" lang="en-US" sz="2400" u="none">
                <a:solidFill>
                  <a:srgbClr val="FFFF99"/>
                </a:solidFill>
                <a:latin typeface="Times New Roman"/>
                <a:ea typeface="Times New Roman"/>
                <a:cs typeface="Times New Roman"/>
                <a:sym typeface="Times New Roman"/>
              </a:rPr>
            </a:br>
            <a:r>
              <a:rPr b="1" i="0"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Roots of the characteristic equation:</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General solution to the recurrence:</a:t>
            </a:r>
            <a:br>
              <a:rPr b="1" i="0" lang="en-US" sz="2400" u="none">
                <a:solidFill>
                  <a:srgbClr val="FFFF99"/>
                </a:solidFill>
                <a:latin typeface="Times New Roman"/>
                <a:ea typeface="Times New Roman"/>
                <a:cs typeface="Times New Roman"/>
                <a:sym typeface="Times New Roman"/>
              </a:rPr>
            </a:br>
            <a:endParaRPr/>
          </a:p>
          <a:p>
            <a:pPr indent="-342900" lvl="0" marL="342900" marR="0" rtl="0" algn="l">
              <a:lnSpc>
                <a:spcPct val="100000"/>
              </a:lnSpc>
              <a:spcBef>
                <a:spcPts val="480"/>
              </a:spcBef>
              <a:spcAft>
                <a:spcPts val="0"/>
              </a:spcAft>
              <a:buClr>
                <a:srgbClr val="A50021"/>
              </a:buClr>
              <a:buSzPts val="1800"/>
              <a:buFont typeface="Arial"/>
              <a:buNone/>
            </a:pPr>
            <a:r>
              <a:rPr b="1" i="0" lang="en-US" sz="2400" u="none">
                <a:solidFill>
                  <a:srgbClr val="FFFF99"/>
                </a:solidFill>
                <a:latin typeface="Times New Roman"/>
                <a:ea typeface="Times New Roman"/>
                <a:cs typeface="Times New Roman"/>
                <a:sym typeface="Times New Roman"/>
              </a:rPr>
              <a:t>Particular solution for F(0) =0, F(1)=1:</a:t>
            </a:r>
            <a:endParaRPr/>
          </a:p>
        </p:txBody>
      </p:sp>
      <p:sp>
        <p:nvSpPr>
          <p:cNvPr id="461" name="Google Shape;461;p42"/>
          <p:cNvSpPr txBox="1"/>
          <p:nvPr/>
        </p:nvSpPr>
        <p:spPr>
          <a:xfrm>
            <a:off x="4191000" y="2133600"/>
            <a:ext cx="449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62" name="Google Shape;462;p42"/>
          <p:cNvGrpSpPr/>
          <p:nvPr/>
        </p:nvGrpSpPr>
        <p:grpSpPr>
          <a:xfrm>
            <a:off x="5257800" y="2057400"/>
            <a:ext cx="3276600" cy="457200"/>
            <a:chOff x="3312" y="1296"/>
            <a:chExt cx="2064" cy="288"/>
          </a:xfrm>
        </p:grpSpPr>
        <p:pic>
          <p:nvPicPr>
            <p:cNvPr id="463" name="Google Shape;463;p42"/>
            <p:cNvPicPr preferRelativeResize="0"/>
            <p:nvPr/>
          </p:nvPicPr>
          <p:blipFill rotWithShape="1">
            <a:blip r:embed="rId3">
              <a:alphaModFix/>
            </a:blip>
            <a:srcRect b="0" l="0" r="0" t="0"/>
            <a:stretch/>
          </p:blipFill>
          <p:spPr>
            <a:xfrm>
              <a:off x="3728" y="1296"/>
              <a:ext cx="208" cy="240"/>
            </a:xfrm>
            <a:prstGeom prst="rect">
              <a:avLst/>
            </a:prstGeom>
            <a:noFill/>
            <a:ln>
              <a:noFill/>
            </a:ln>
          </p:spPr>
        </p:pic>
        <p:sp>
          <p:nvSpPr>
            <p:cNvPr id="464" name="Google Shape;464;p42"/>
            <p:cNvSpPr txBox="1"/>
            <p:nvPr/>
          </p:nvSpPr>
          <p:spPr>
            <a:xfrm>
              <a:off x="3312" y="1296"/>
              <a:ext cx="2064"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2"/>
                </a:buClr>
                <a:buSzPts val="2400"/>
                <a:buFont typeface="Times New Roman"/>
                <a:buNone/>
              </a:pPr>
              <a:r>
                <a:rPr b="0" i="1" lang="en-US" sz="2400" u="none">
                  <a:solidFill>
                    <a:schemeClr val="lt2"/>
                  </a:solidFill>
                  <a:latin typeface="Times New Roman"/>
                  <a:ea typeface="Times New Roman"/>
                  <a:cs typeface="Times New Roman"/>
                  <a:sym typeface="Times New Roman"/>
                </a:rPr>
                <a:t>- r -1 = 0</a:t>
              </a:r>
              <a:endParaRPr/>
            </a:p>
          </p:txBody>
        </p:sp>
      </p:grpSp>
      <p:pic>
        <p:nvPicPr>
          <p:cNvPr id="465" name="Google Shape;465;p42"/>
          <p:cNvPicPr preferRelativeResize="0"/>
          <p:nvPr/>
        </p:nvPicPr>
        <p:blipFill rotWithShape="1">
          <a:blip r:embed="rId4">
            <a:alphaModFix/>
          </a:blip>
          <a:srcRect b="0" l="0" r="0" t="0"/>
          <a:stretch/>
        </p:blipFill>
        <p:spPr>
          <a:xfrm>
            <a:off x="5867400" y="2667000"/>
            <a:ext cx="2482850" cy="658812"/>
          </a:xfrm>
          <a:prstGeom prst="rect">
            <a:avLst/>
          </a:prstGeom>
          <a:noFill/>
          <a:ln>
            <a:noFill/>
          </a:ln>
        </p:spPr>
      </p:pic>
      <p:pic>
        <p:nvPicPr>
          <p:cNvPr id="466" name="Google Shape;466;p42"/>
          <p:cNvPicPr preferRelativeResize="0"/>
          <p:nvPr/>
        </p:nvPicPr>
        <p:blipFill rotWithShape="1">
          <a:blip r:embed="rId5">
            <a:alphaModFix/>
          </a:blip>
          <a:srcRect b="0" l="0" r="0" t="0"/>
          <a:stretch/>
        </p:blipFill>
        <p:spPr>
          <a:xfrm>
            <a:off x="5867400" y="3505200"/>
            <a:ext cx="2133600" cy="612775"/>
          </a:xfrm>
          <a:prstGeom prst="rect">
            <a:avLst/>
          </a:prstGeom>
          <a:noFill/>
          <a:ln>
            <a:noFill/>
          </a:ln>
        </p:spPr>
      </p:pic>
      <p:grpSp>
        <p:nvGrpSpPr>
          <p:cNvPr id="467" name="Google Shape;467;p42"/>
          <p:cNvGrpSpPr/>
          <p:nvPr/>
        </p:nvGrpSpPr>
        <p:grpSpPr>
          <a:xfrm>
            <a:off x="6019800" y="4511675"/>
            <a:ext cx="2438400" cy="1154112"/>
            <a:chOff x="3792" y="2842"/>
            <a:chExt cx="1536" cy="727"/>
          </a:xfrm>
        </p:grpSpPr>
        <p:pic>
          <p:nvPicPr>
            <p:cNvPr id="468" name="Google Shape;468;p42"/>
            <p:cNvPicPr preferRelativeResize="0"/>
            <p:nvPr/>
          </p:nvPicPr>
          <p:blipFill rotWithShape="1">
            <a:blip r:embed="rId6">
              <a:alphaModFix/>
            </a:blip>
            <a:srcRect b="0" l="0" r="0" t="0"/>
            <a:stretch/>
          </p:blipFill>
          <p:spPr>
            <a:xfrm>
              <a:off x="3792" y="3216"/>
              <a:ext cx="1536" cy="353"/>
            </a:xfrm>
            <a:prstGeom prst="rect">
              <a:avLst/>
            </a:prstGeom>
            <a:noFill/>
            <a:ln>
              <a:noFill/>
            </a:ln>
          </p:spPr>
        </p:pic>
        <p:pic>
          <p:nvPicPr>
            <p:cNvPr id="469" name="Google Shape;469;p42"/>
            <p:cNvPicPr preferRelativeResize="0"/>
            <p:nvPr/>
          </p:nvPicPr>
          <p:blipFill rotWithShape="1">
            <a:blip r:embed="rId7">
              <a:alphaModFix/>
            </a:blip>
            <a:srcRect b="0" l="0" r="0" t="0"/>
            <a:stretch/>
          </p:blipFill>
          <p:spPr>
            <a:xfrm>
              <a:off x="3792" y="2842"/>
              <a:ext cx="1017" cy="333"/>
            </a:xfrm>
            <a:prstGeom prst="rect">
              <a:avLst/>
            </a:prstGeom>
            <a:noFill/>
            <a:ln>
              <a:noFill/>
            </a:ln>
          </p:spPr>
        </p:pic>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4" name="Shape 474"/>
        <p:cNvGrpSpPr/>
        <p:nvPr/>
      </p:nvGrpSpPr>
      <p:grpSpPr>
        <a:xfrm>
          <a:off x="0" y="0"/>
          <a:ext cx="0" cy="0"/>
          <a:chOff x="0" y="0"/>
          <a:chExt cx="0" cy="0"/>
        </a:xfrm>
      </p:grpSpPr>
      <p:sp>
        <p:nvSpPr>
          <p:cNvPr id="475" name="Google Shape;475;p43"/>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Computing Fibonacci numbers</a:t>
            </a:r>
            <a:endParaRPr/>
          </a:p>
        </p:txBody>
      </p:sp>
      <p:sp>
        <p:nvSpPr>
          <p:cNvPr id="476" name="Google Shape;476;p43"/>
          <p:cNvSpPr txBox="1"/>
          <p:nvPr>
            <p:ph idx="1" type="body"/>
          </p:nvPr>
        </p:nvSpPr>
        <p:spPr>
          <a:xfrm>
            <a:off x="609600" y="1266825"/>
            <a:ext cx="8305800" cy="4905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AutoNum type="arabicPeriod"/>
            </a:pPr>
            <a:r>
              <a:rPr b="1" i="0" lang="en-US" sz="2400" u="none">
                <a:solidFill>
                  <a:srgbClr val="FFFF99"/>
                </a:solidFill>
                <a:latin typeface="Times New Roman"/>
                <a:ea typeface="Times New Roman"/>
                <a:cs typeface="Times New Roman"/>
                <a:sym typeface="Times New Roman"/>
              </a:rPr>
              <a:t>Definition-based recursive algorithm</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0" lang="en-US" sz="2400" u="none">
                <a:solidFill>
                  <a:srgbClr val="FFFF99"/>
                </a:solidFill>
                <a:latin typeface="Times New Roman"/>
                <a:ea typeface="Times New Roman"/>
                <a:cs typeface="Times New Roman"/>
                <a:sym typeface="Times New Roman"/>
              </a:rPr>
              <a:t>Nonrecursive definition-based algorithm</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0" lang="en-US" sz="2400" u="none">
                <a:solidFill>
                  <a:srgbClr val="FFFF99"/>
                </a:solidFill>
                <a:latin typeface="Times New Roman"/>
                <a:ea typeface="Times New Roman"/>
                <a:cs typeface="Times New Roman"/>
                <a:sym typeface="Times New Roman"/>
              </a:rPr>
              <a:t>Explicit formula algorithm</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0" lang="en-US" sz="2400" u="none">
                <a:solidFill>
                  <a:srgbClr val="FFFF99"/>
                </a:solidFill>
                <a:latin typeface="Times New Roman"/>
                <a:ea typeface="Times New Roman"/>
                <a:cs typeface="Times New Roman"/>
                <a:sym typeface="Times New Roman"/>
              </a:rPr>
              <a:t>Logarithmic algorithm based on formula:</a:t>
            </a:r>
            <a:endParaRPr/>
          </a:p>
        </p:txBody>
      </p:sp>
      <p:grpSp>
        <p:nvGrpSpPr>
          <p:cNvPr id="477" name="Google Shape;477;p43"/>
          <p:cNvGrpSpPr/>
          <p:nvPr/>
        </p:nvGrpSpPr>
        <p:grpSpPr>
          <a:xfrm>
            <a:off x="1600200" y="4343400"/>
            <a:ext cx="4079875" cy="1143000"/>
            <a:chOff x="2064" y="2784"/>
            <a:chExt cx="2570" cy="720"/>
          </a:xfrm>
        </p:grpSpPr>
        <p:grpSp>
          <p:nvGrpSpPr>
            <p:cNvPr id="478" name="Google Shape;478;p43"/>
            <p:cNvGrpSpPr/>
            <p:nvPr/>
          </p:nvGrpSpPr>
          <p:grpSpPr>
            <a:xfrm>
              <a:off x="2064" y="2880"/>
              <a:ext cx="1296" cy="624"/>
              <a:chOff x="2064" y="2880"/>
              <a:chExt cx="1296" cy="624"/>
            </a:xfrm>
          </p:grpSpPr>
          <p:sp>
            <p:nvSpPr>
              <p:cNvPr id="479" name="Google Shape;479;p43"/>
              <p:cNvSpPr txBox="1"/>
              <p:nvPr/>
            </p:nvSpPr>
            <p:spPr>
              <a:xfrm>
                <a:off x="2160" y="2880"/>
                <a:ext cx="1194" cy="5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a:t>
                </a:r>
                <a:r>
                  <a:rPr b="1" i="1" lang="en-US" sz="2400" u="none">
                    <a:solidFill>
                      <a:srgbClr val="FFFF99"/>
                    </a:solidFill>
                    <a:latin typeface="Times New Roman"/>
                    <a:ea typeface="Times New Roman"/>
                    <a:cs typeface="Times New Roman"/>
                    <a:sym typeface="Times New Roman"/>
                  </a:rPr>
                  <a:t>    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43"/>
              <p:cNvSpPr txBox="1"/>
              <p:nvPr/>
            </p:nvSpPr>
            <p:spPr>
              <a:xfrm>
                <a:off x="2146" y="3216"/>
                <a:ext cx="1191"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F</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+1)</a:t>
                </a:r>
                <a:endParaRPr/>
              </a:p>
            </p:txBody>
          </p:sp>
          <p:sp>
            <p:nvSpPr>
              <p:cNvPr id="481" name="Google Shape;481;p43"/>
              <p:cNvSpPr/>
              <p:nvPr/>
            </p:nvSpPr>
            <p:spPr>
              <a:xfrm>
                <a:off x="2064" y="2880"/>
                <a:ext cx="1296" cy="624"/>
              </a:xfrm>
              <a:prstGeom prst="bracketPair">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482" name="Google Shape;482;p43"/>
            <p:cNvGrpSpPr/>
            <p:nvPr/>
          </p:nvGrpSpPr>
          <p:grpSpPr>
            <a:xfrm>
              <a:off x="3648" y="2880"/>
              <a:ext cx="768" cy="598"/>
              <a:chOff x="2064" y="2880"/>
              <a:chExt cx="1296" cy="648"/>
            </a:xfrm>
          </p:grpSpPr>
          <p:sp>
            <p:nvSpPr>
              <p:cNvPr id="483" name="Google Shape;483;p43"/>
              <p:cNvSpPr txBox="1"/>
              <p:nvPr/>
            </p:nvSpPr>
            <p:spPr>
              <a:xfrm>
                <a:off x="2160" y="2880"/>
                <a:ext cx="1193" cy="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0   1</a:t>
                </a:r>
                <a:endParaRPr/>
              </a:p>
            </p:txBody>
          </p:sp>
          <p:sp>
            <p:nvSpPr>
              <p:cNvPr id="484" name="Google Shape;484;p43"/>
              <p:cNvSpPr txBox="1"/>
              <p:nvPr/>
            </p:nvSpPr>
            <p:spPr>
              <a:xfrm>
                <a:off x="2319" y="3216"/>
                <a:ext cx="844" cy="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1    1</a:t>
                </a:r>
                <a:endParaRPr/>
              </a:p>
            </p:txBody>
          </p:sp>
          <p:sp>
            <p:nvSpPr>
              <p:cNvPr id="485" name="Google Shape;485;p43"/>
              <p:cNvSpPr/>
              <p:nvPr/>
            </p:nvSpPr>
            <p:spPr>
              <a:xfrm>
                <a:off x="2064" y="2880"/>
                <a:ext cx="1296" cy="624"/>
              </a:xfrm>
              <a:prstGeom prst="bracketPair">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486" name="Google Shape;486;p43"/>
            <p:cNvSpPr txBox="1"/>
            <p:nvPr/>
          </p:nvSpPr>
          <p:spPr>
            <a:xfrm>
              <a:off x="3392" y="3002"/>
              <a:ext cx="224"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0" lang="en-US" sz="2400" u="none">
                  <a:solidFill>
                    <a:srgbClr val="FFFF99"/>
                  </a:solidFill>
                  <a:latin typeface="Times New Roman"/>
                  <a:ea typeface="Times New Roman"/>
                  <a:cs typeface="Times New Roman"/>
                  <a:sym typeface="Times New Roman"/>
                </a:rPr>
                <a:t>=</a:t>
              </a:r>
              <a:endParaRPr/>
            </a:p>
          </p:txBody>
        </p:sp>
        <p:sp>
          <p:nvSpPr>
            <p:cNvPr id="487" name="Google Shape;487;p43"/>
            <p:cNvSpPr txBox="1"/>
            <p:nvPr/>
          </p:nvSpPr>
          <p:spPr>
            <a:xfrm>
              <a:off x="4411" y="2784"/>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400"/>
                <a:buFont typeface="Times New Roman"/>
                <a:buNone/>
              </a:pPr>
              <a:r>
                <a:rPr b="1" i="1" lang="en-US" sz="2400" u="none">
                  <a:solidFill>
                    <a:srgbClr val="FFFF99"/>
                  </a:solidFill>
                  <a:latin typeface="Times New Roman"/>
                  <a:ea typeface="Times New Roman"/>
                  <a:cs typeface="Times New Roman"/>
                  <a:sym typeface="Times New Roman"/>
                </a:rPr>
                <a:t>n</a:t>
              </a:r>
              <a:endParaRPr/>
            </a:p>
          </p:txBody>
        </p:sp>
      </p:grpSp>
      <p:sp>
        <p:nvSpPr>
          <p:cNvPr id="488" name="Google Shape;488;p43"/>
          <p:cNvSpPr txBox="1"/>
          <p:nvPr/>
        </p:nvSpPr>
        <p:spPr>
          <a:xfrm>
            <a:off x="1066800" y="5715000"/>
            <a:ext cx="72390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000"/>
              <a:buFont typeface="Times New Roman"/>
              <a:buNone/>
            </a:pPr>
            <a:r>
              <a:rPr b="1" i="0" lang="en-US" sz="2000" u="none">
                <a:solidFill>
                  <a:srgbClr val="FFFF99"/>
                </a:solidFill>
                <a:latin typeface="Times New Roman"/>
                <a:ea typeface="Times New Roman"/>
                <a:cs typeface="Times New Roman"/>
                <a:sym typeface="Times New Roman"/>
              </a:rPr>
              <a:t>for </a:t>
            </a:r>
            <a:r>
              <a:rPr b="1" i="1" lang="en-US" sz="2000" u="none">
                <a:solidFill>
                  <a:srgbClr val="FFFF99"/>
                </a:solidFill>
                <a:latin typeface="Times New Roman"/>
                <a:ea typeface="Times New Roman"/>
                <a:cs typeface="Times New Roman"/>
                <a:sym typeface="Times New Roman"/>
              </a:rPr>
              <a:t>n≥</a:t>
            </a:r>
            <a:r>
              <a:rPr b="1" i="0" lang="en-US" sz="2000" u="none">
                <a:solidFill>
                  <a:srgbClr val="FFFF99"/>
                </a:solidFill>
                <a:latin typeface="Times New Roman"/>
                <a:ea typeface="Times New Roman"/>
                <a:cs typeface="Times New Roman"/>
                <a:sym typeface="Times New Roman"/>
              </a:rPr>
              <a:t>1, assuming an efficient way of computing matrix powers.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3" name="Shape 493"/>
        <p:cNvGrpSpPr/>
        <p:nvPr/>
      </p:nvGrpSpPr>
      <p:grpSpPr>
        <a:xfrm>
          <a:off x="0" y="0"/>
          <a:ext cx="0" cy="0"/>
          <a:chOff x="0" y="0"/>
          <a:chExt cx="0" cy="0"/>
        </a:xfrm>
      </p:grpSpPr>
      <p:sp>
        <p:nvSpPr>
          <p:cNvPr id="494" name="Google Shape;494;p44"/>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Important Recurrence Types</a:t>
            </a:r>
            <a:endParaRPr/>
          </a:p>
        </p:txBody>
      </p:sp>
      <p:sp>
        <p:nvSpPr>
          <p:cNvPr id="495" name="Google Shape;495;p44"/>
          <p:cNvSpPr txBox="1"/>
          <p:nvPr>
            <p:ph idx="1" type="body"/>
          </p:nvPr>
        </p:nvSpPr>
        <p:spPr>
          <a:xfrm>
            <a:off x="609600" y="1447800"/>
            <a:ext cx="8345487"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A50021"/>
              </a:buClr>
              <a:buSzPts val="1350"/>
              <a:buFont typeface="Arial"/>
              <a:buChar char="●"/>
            </a:pPr>
            <a:r>
              <a:rPr b="0" i="0" lang="en-US" sz="1800" u="none">
                <a:solidFill>
                  <a:srgbClr val="FFFF99"/>
                </a:solidFill>
                <a:latin typeface="Times New Roman"/>
                <a:ea typeface="Times New Roman"/>
                <a:cs typeface="Times New Roman"/>
                <a:sym typeface="Times New Roman"/>
              </a:rPr>
              <a:t>Decrease-by-one recurrences</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rgbClr val="FFFF99"/>
                </a:solidFill>
                <a:latin typeface="Times New Roman"/>
                <a:ea typeface="Times New Roman"/>
                <a:cs typeface="Times New Roman"/>
                <a:sym typeface="Times New Roman"/>
              </a:rPr>
              <a:t>A decrease-by-one algorithm solves a problem by exploiting a relationship between a given instance of size </a:t>
            </a:r>
            <a:r>
              <a:rPr b="1" i="1" lang="en-US" sz="1800" u="none" cap="none" strike="noStrike">
                <a:solidFill>
                  <a:srgbClr val="FFFF99"/>
                </a:solidFill>
                <a:latin typeface="Times New Roman"/>
                <a:ea typeface="Times New Roman"/>
                <a:cs typeface="Times New Roman"/>
                <a:sym typeface="Times New Roman"/>
              </a:rPr>
              <a:t>n</a:t>
            </a:r>
            <a:r>
              <a:rPr b="1" i="0" lang="en-US" sz="1800" u="none" cap="none" strike="noStrike">
                <a:solidFill>
                  <a:srgbClr val="FFFF99"/>
                </a:solidFill>
                <a:latin typeface="Times New Roman"/>
                <a:ea typeface="Times New Roman"/>
                <a:cs typeface="Times New Roman"/>
                <a:sym typeface="Times New Roman"/>
              </a:rPr>
              <a:t> and a smaller size </a:t>
            </a:r>
            <a:r>
              <a:rPr b="1" i="1" lang="en-US" sz="1800" u="none" cap="none" strike="noStrike">
                <a:solidFill>
                  <a:srgbClr val="FFFF99"/>
                </a:solidFill>
                <a:latin typeface="Times New Roman"/>
                <a:ea typeface="Times New Roman"/>
                <a:cs typeface="Times New Roman"/>
                <a:sym typeface="Times New Roman"/>
              </a:rPr>
              <a:t>n – 1</a:t>
            </a:r>
            <a:r>
              <a:rPr b="1" i="0" lang="en-US" sz="1800" u="none" cap="none" strike="noStrike">
                <a:solidFill>
                  <a:srgbClr val="FFFF99"/>
                </a:solidFill>
                <a:latin typeface="Times New Roman"/>
                <a:ea typeface="Times New Roman"/>
                <a:cs typeface="Times New Roman"/>
                <a:sym typeface="Times New Roman"/>
              </a:rPr>
              <a:t>.</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rgbClr val="FFFF99"/>
                </a:solidFill>
                <a:latin typeface="Times New Roman"/>
                <a:ea typeface="Times New Roman"/>
                <a:cs typeface="Times New Roman"/>
                <a:sym typeface="Times New Roman"/>
              </a:rPr>
              <a:t> </a:t>
            </a:r>
            <a:r>
              <a:rPr b="1" i="0" lang="en-US" sz="1800" u="none" cap="none" strike="noStrike">
                <a:solidFill>
                  <a:schemeClr val="hlink"/>
                </a:solidFill>
                <a:latin typeface="Times New Roman"/>
                <a:ea typeface="Times New Roman"/>
                <a:cs typeface="Times New Roman"/>
                <a:sym typeface="Times New Roman"/>
              </a:rPr>
              <a:t>Example: </a:t>
            </a:r>
            <a:r>
              <a:rPr b="1" i="0" lang="en-US" sz="1800" u="none" cap="none" strike="noStrike">
                <a:solidFill>
                  <a:srgbClr val="FFFF99"/>
                </a:solidFill>
                <a:latin typeface="Times New Roman"/>
                <a:ea typeface="Times New Roman"/>
                <a:cs typeface="Times New Roman"/>
                <a:sym typeface="Times New Roman"/>
              </a:rPr>
              <a:t>n!</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rgbClr val="FFFF99"/>
                </a:solidFill>
                <a:latin typeface="Times New Roman"/>
                <a:ea typeface="Times New Roman"/>
                <a:cs typeface="Times New Roman"/>
                <a:sym typeface="Times New Roman"/>
              </a:rPr>
              <a:t>The recurrence equation for investigating the time efficiency of such algorithms typically has the form</a:t>
            </a:r>
            <a:endParaRPr/>
          </a:p>
          <a:p>
            <a:pPr indent="-285750" lvl="1" marL="742950" marR="0" rtl="0" algn="l">
              <a:lnSpc>
                <a:spcPct val="80000"/>
              </a:lnSpc>
              <a:spcBef>
                <a:spcPts val="360"/>
              </a:spcBef>
              <a:spcAft>
                <a:spcPts val="0"/>
              </a:spcAft>
              <a:buClr>
                <a:srgbClr val="A50021"/>
              </a:buClr>
              <a:buSzPts val="1800"/>
              <a:buFont typeface="Times New Roman"/>
              <a:buNone/>
            </a:pPr>
            <a:r>
              <a:rPr b="1" i="1" lang="en-US" sz="1800" u="none" cap="none" strike="noStrike">
                <a:solidFill>
                  <a:schemeClr val="folHlink"/>
                </a:solidFill>
                <a:latin typeface="Times New Roman"/>
                <a:ea typeface="Times New Roman"/>
                <a:cs typeface="Times New Roman"/>
                <a:sym typeface="Times New Roman"/>
              </a:rPr>
              <a:t>	</a:t>
            </a:r>
            <a:r>
              <a:rPr b="1" i="1" lang="en-US" sz="1800" u="none" cap="none" strike="noStrike">
                <a:solidFill>
                  <a:srgbClr val="FF9933"/>
                </a:solidFill>
                <a:latin typeface="Times New Roman"/>
                <a:ea typeface="Times New Roman"/>
                <a:cs typeface="Times New Roman"/>
                <a:sym typeface="Times New Roman"/>
              </a:rPr>
              <a:t>T(n) = T(n-1) + f(n)</a:t>
            </a:r>
            <a:endParaRPr/>
          </a:p>
          <a:p>
            <a:pPr indent="-342900" lvl="0" marL="342900" marR="0" rtl="0" algn="l">
              <a:lnSpc>
                <a:spcPct val="80000"/>
              </a:lnSpc>
              <a:spcBef>
                <a:spcPts val="360"/>
              </a:spcBef>
              <a:spcAft>
                <a:spcPts val="0"/>
              </a:spcAft>
              <a:buClr>
                <a:srgbClr val="A50021"/>
              </a:buClr>
              <a:buSzPts val="1350"/>
              <a:buFont typeface="Arial"/>
              <a:buChar char="●"/>
            </a:pPr>
            <a:r>
              <a:rPr b="0" i="0" lang="en-US" sz="1800" u="none">
                <a:solidFill>
                  <a:srgbClr val="FFFF99"/>
                </a:solidFill>
                <a:latin typeface="Times New Roman"/>
                <a:ea typeface="Times New Roman"/>
                <a:cs typeface="Times New Roman"/>
                <a:sym typeface="Times New Roman"/>
              </a:rPr>
              <a:t>Decrease-by-a-constant-factor recurrences</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rgbClr val="FFFF99"/>
                </a:solidFill>
                <a:latin typeface="Times New Roman"/>
                <a:ea typeface="Times New Roman"/>
                <a:cs typeface="Times New Roman"/>
                <a:sym typeface="Times New Roman"/>
              </a:rPr>
              <a:t>A decrease-by-a-constant-factor algorithm solves a problem by dividing its given instance of size </a:t>
            </a:r>
            <a:r>
              <a:rPr b="1" i="1" lang="en-US" sz="1800" u="none" cap="none" strike="noStrike">
                <a:solidFill>
                  <a:srgbClr val="FFFF99"/>
                </a:solidFill>
                <a:latin typeface="Times New Roman"/>
                <a:ea typeface="Times New Roman"/>
                <a:cs typeface="Times New Roman"/>
                <a:sym typeface="Times New Roman"/>
              </a:rPr>
              <a:t>n</a:t>
            </a:r>
            <a:r>
              <a:rPr b="1" i="0" lang="en-US" sz="1800" u="none" cap="none" strike="noStrike">
                <a:solidFill>
                  <a:srgbClr val="FFFF99"/>
                </a:solidFill>
                <a:latin typeface="Times New Roman"/>
                <a:ea typeface="Times New Roman"/>
                <a:cs typeface="Times New Roman"/>
                <a:sym typeface="Times New Roman"/>
              </a:rPr>
              <a:t> into several smaller instances of size </a:t>
            </a:r>
            <a:r>
              <a:rPr b="1" i="1" lang="en-US" sz="1800" u="none" cap="none" strike="noStrike">
                <a:solidFill>
                  <a:srgbClr val="FFFF99"/>
                </a:solidFill>
                <a:latin typeface="Times New Roman"/>
                <a:ea typeface="Times New Roman"/>
                <a:cs typeface="Times New Roman"/>
                <a:sym typeface="Times New Roman"/>
              </a:rPr>
              <a:t>n/b</a:t>
            </a:r>
            <a:r>
              <a:rPr b="1" i="0" lang="en-US" sz="1800" u="none" cap="none" strike="noStrike">
                <a:solidFill>
                  <a:srgbClr val="FFFF99"/>
                </a:solidFill>
                <a:latin typeface="Times New Roman"/>
                <a:ea typeface="Times New Roman"/>
                <a:cs typeface="Times New Roman"/>
                <a:sym typeface="Times New Roman"/>
              </a:rPr>
              <a:t>, solving each of them recursively, and then, if necessary, combining the solutions to the smaller instances into a solution to the given instance.</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chemeClr val="hlink"/>
                </a:solidFill>
                <a:latin typeface="Times New Roman"/>
                <a:ea typeface="Times New Roman"/>
                <a:cs typeface="Times New Roman"/>
                <a:sym typeface="Times New Roman"/>
              </a:rPr>
              <a:t>Example:</a:t>
            </a:r>
            <a:r>
              <a:rPr b="1" i="0" lang="en-US" sz="1800" u="none" cap="none" strike="noStrike">
                <a:solidFill>
                  <a:srgbClr val="FFFF99"/>
                </a:solidFill>
                <a:latin typeface="Times New Roman"/>
                <a:ea typeface="Times New Roman"/>
                <a:cs typeface="Times New Roman"/>
                <a:sym typeface="Times New Roman"/>
              </a:rPr>
              <a:t> binary search. </a:t>
            </a:r>
            <a:endParaRPr/>
          </a:p>
          <a:p>
            <a:pPr indent="-285750" lvl="1" marL="742950" marR="0" rtl="0" algn="l">
              <a:lnSpc>
                <a:spcPct val="80000"/>
              </a:lnSpc>
              <a:spcBef>
                <a:spcPts val="360"/>
              </a:spcBef>
              <a:spcAft>
                <a:spcPts val="0"/>
              </a:spcAft>
              <a:buClr>
                <a:srgbClr val="A50021"/>
              </a:buClr>
              <a:buSzPts val="1800"/>
              <a:buFont typeface="Times New Roman"/>
              <a:buChar char="•"/>
            </a:pPr>
            <a:r>
              <a:rPr b="1" i="0" lang="en-US" sz="1800" u="none" cap="none" strike="noStrike">
                <a:solidFill>
                  <a:srgbClr val="FFFF99"/>
                </a:solidFill>
                <a:latin typeface="Times New Roman"/>
                <a:ea typeface="Times New Roman"/>
                <a:cs typeface="Times New Roman"/>
                <a:sym typeface="Times New Roman"/>
              </a:rPr>
              <a:t>The recurrence equation for investigating the time efficiency of such algorithms typically has the form</a:t>
            </a:r>
            <a:r>
              <a:rPr b="1" i="1" lang="en-US" sz="1800" u="none" cap="none" strike="noStrike">
                <a:solidFill>
                  <a:schemeClr val="folHlink"/>
                </a:solidFill>
                <a:latin typeface="Times New Roman"/>
                <a:ea typeface="Times New Roman"/>
                <a:cs typeface="Times New Roman"/>
                <a:sym typeface="Times New Roman"/>
              </a:rPr>
              <a:t> </a:t>
            </a:r>
            <a:endParaRPr/>
          </a:p>
          <a:p>
            <a:pPr indent="-228600" lvl="2" marL="1143000" marR="0" rtl="0" algn="l">
              <a:lnSpc>
                <a:spcPct val="80000"/>
              </a:lnSpc>
              <a:spcBef>
                <a:spcPts val="360"/>
              </a:spcBef>
              <a:spcAft>
                <a:spcPts val="0"/>
              </a:spcAft>
              <a:buClr>
                <a:srgbClr val="A50021"/>
              </a:buClr>
              <a:buSzPts val="1800"/>
              <a:buFont typeface="Times New Roman"/>
              <a:buNone/>
            </a:pPr>
            <a:r>
              <a:rPr b="1" i="1" lang="en-US" sz="1800" u="none" cap="none" strike="noStrike">
                <a:solidFill>
                  <a:srgbClr val="FF9933"/>
                </a:solidFill>
                <a:latin typeface="Times New Roman"/>
                <a:ea typeface="Times New Roman"/>
                <a:cs typeface="Times New Roman"/>
                <a:sym typeface="Times New Roman"/>
              </a:rPr>
              <a:t>T(n) = aT(n/b) + f (n)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 name="Shape 500"/>
        <p:cNvGrpSpPr/>
        <p:nvPr/>
      </p:nvGrpSpPr>
      <p:grpSpPr>
        <a:xfrm>
          <a:off x="0" y="0"/>
          <a:ext cx="0" cy="0"/>
          <a:chOff x="0" y="0"/>
          <a:chExt cx="0" cy="0"/>
        </a:xfrm>
      </p:grpSpPr>
      <p:sp>
        <p:nvSpPr>
          <p:cNvPr id="501" name="Google Shape;501;p45"/>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imes New Roman"/>
              <a:buNone/>
            </a:pPr>
            <a:r>
              <a:rPr b="1" i="0" lang="en-US" sz="3600" u="none">
                <a:solidFill>
                  <a:schemeClr val="dk2"/>
                </a:solidFill>
                <a:latin typeface="Times New Roman"/>
                <a:ea typeface="Times New Roman"/>
                <a:cs typeface="Times New Roman"/>
                <a:sym typeface="Times New Roman"/>
              </a:rPr>
              <a:t>Decrease-by-one Recurrences</a:t>
            </a:r>
            <a:endParaRPr/>
          </a:p>
        </p:txBody>
      </p:sp>
      <p:sp>
        <p:nvSpPr>
          <p:cNvPr id="502" name="Google Shape;502;p45"/>
          <p:cNvSpPr txBox="1"/>
          <p:nvPr>
            <p:ph idx="1" type="body"/>
          </p:nvPr>
        </p:nvSpPr>
        <p:spPr>
          <a:xfrm>
            <a:off x="457200" y="2209800"/>
            <a:ext cx="8345487"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350"/>
              <a:buFont typeface="Arial"/>
              <a:buChar char="●"/>
            </a:pPr>
            <a:r>
              <a:rPr b="1" i="0" lang="en-US" sz="1800" u="none">
                <a:solidFill>
                  <a:srgbClr val="FFFF99"/>
                </a:solidFill>
                <a:latin typeface="Times New Roman"/>
                <a:ea typeface="Times New Roman"/>
                <a:cs typeface="Times New Roman"/>
                <a:sym typeface="Times New Roman"/>
              </a:rPr>
              <a:t>One (constant) operation reduces problem size by one.</a:t>
            </a:r>
            <a:endParaRPr/>
          </a:p>
          <a:p>
            <a:pPr indent="-228600" lvl="2" marL="1143000" marR="0" rtl="0" algn="l">
              <a:lnSpc>
                <a:spcPct val="100000"/>
              </a:lnSpc>
              <a:spcBef>
                <a:spcPts val="360"/>
              </a:spcBef>
              <a:spcAft>
                <a:spcPts val="0"/>
              </a:spcAft>
              <a:buClr>
                <a:srgbClr val="A50021"/>
              </a:buClr>
              <a:buSzPts val="1800"/>
              <a:buFont typeface="Times New Roman"/>
              <a:buNone/>
            </a:pPr>
            <a:r>
              <a:rPr b="1" i="0" lang="en-US" sz="1800" u="none" cap="none" strike="noStrike">
                <a:solidFill>
                  <a:srgbClr val="FF9933"/>
                </a:solidFill>
                <a:latin typeface="Times New Roman"/>
                <a:ea typeface="Times New Roman"/>
                <a:cs typeface="Times New Roman"/>
                <a:sym typeface="Times New Roman"/>
              </a:rPr>
              <a:t>T(</a:t>
            </a:r>
            <a:r>
              <a:rPr b="1" i="1" lang="en-US" sz="1800" u="none" cap="none" strike="noStrike">
                <a:solidFill>
                  <a:srgbClr val="FF9933"/>
                </a:solidFill>
                <a:latin typeface="Times New Roman"/>
                <a:ea typeface="Times New Roman"/>
                <a:cs typeface="Times New Roman"/>
                <a:sym typeface="Times New Roman"/>
              </a:rPr>
              <a:t>n</a:t>
            </a:r>
            <a:r>
              <a:rPr b="1" i="0" lang="en-US" sz="1800" u="none" cap="none" strike="noStrike">
                <a:solidFill>
                  <a:srgbClr val="FF9933"/>
                </a:solidFill>
                <a:latin typeface="Times New Roman"/>
                <a:ea typeface="Times New Roman"/>
                <a:cs typeface="Times New Roman"/>
                <a:sym typeface="Times New Roman"/>
              </a:rPr>
              <a:t>) = T(</a:t>
            </a:r>
            <a:r>
              <a:rPr b="1" i="1" lang="en-US" sz="1800" u="none" cap="none" strike="noStrike">
                <a:solidFill>
                  <a:srgbClr val="FF9933"/>
                </a:solidFill>
                <a:latin typeface="Times New Roman"/>
                <a:ea typeface="Times New Roman"/>
                <a:cs typeface="Times New Roman"/>
                <a:sym typeface="Times New Roman"/>
              </a:rPr>
              <a:t>n</a:t>
            </a:r>
            <a:r>
              <a:rPr b="1" i="0" lang="en-US" sz="1800" u="none" cap="none" strike="noStrike">
                <a:solidFill>
                  <a:srgbClr val="FF9933"/>
                </a:solidFill>
                <a:latin typeface="Times New Roman"/>
                <a:ea typeface="Times New Roman"/>
                <a:cs typeface="Times New Roman"/>
                <a:sym typeface="Times New Roman"/>
              </a:rPr>
              <a:t>-1) + </a:t>
            </a:r>
            <a:r>
              <a:rPr b="1" i="1" lang="en-US" sz="1800" u="none" cap="none" strike="noStrike">
                <a:solidFill>
                  <a:srgbClr val="FF9933"/>
                </a:solidFill>
                <a:latin typeface="Times New Roman"/>
                <a:ea typeface="Times New Roman"/>
                <a:cs typeface="Times New Roman"/>
                <a:sym typeface="Times New Roman"/>
              </a:rPr>
              <a:t>c</a:t>
            </a:r>
            <a:r>
              <a:rPr b="1" i="0" lang="en-US" sz="1800" u="none" cap="none" strike="noStrike">
                <a:solidFill>
                  <a:srgbClr val="FF9933"/>
                </a:solidFill>
                <a:latin typeface="Times New Roman"/>
                <a:ea typeface="Times New Roman"/>
                <a:cs typeface="Times New Roman"/>
                <a:sym typeface="Times New Roman"/>
              </a:rPr>
              <a:t>                   T(1) = </a:t>
            </a:r>
            <a:r>
              <a:rPr b="1" i="1" lang="en-US" sz="1800" u="none" cap="none" strike="noStrike">
                <a:solidFill>
                  <a:srgbClr val="FF9933"/>
                </a:solidFill>
                <a:latin typeface="Times New Roman"/>
                <a:ea typeface="Times New Roman"/>
                <a:cs typeface="Times New Roman"/>
                <a:sym typeface="Times New Roman"/>
              </a:rPr>
              <a:t>d</a:t>
            </a:r>
            <a:endParaRPr b="1" i="0" sz="1800" u="none" cap="none" strike="noStrike">
              <a:solidFill>
                <a:srgbClr val="FF9933"/>
              </a:solidFill>
              <a:latin typeface="Times New Roman"/>
              <a:ea typeface="Times New Roman"/>
              <a:cs typeface="Times New Roman"/>
              <a:sym typeface="Times New Roman"/>
            </a:endParaRPr>
          </a:p>
          <a:p>
            <a:pPr indent="-228600" lvl="2" marL="1143000" marR="0" rtl="0" algn="l">
              <a:lnSpc>
                <a:spcPct val="100000"/>
              </a:lnSpc>
              <a:spcBef>
                <a:spcPts val="360"/>
              </a:spcBef>
              <a:spcAft>
                <a:spcPts val="0"/>
              </a:spcAft>
              <a:buClr>
                <a:srgbClr val="A50021"/>
              </a:buClr>
              <a:buSzPts val="1800"/>
              <a:buFont typeface="Times New Roman"/>
              <a:buNone/>
            </a:pPr>
            <a:r>
              <a:rPr b="1" i="0" lang="en-US" sz="1800" u="none" cap="none" strike="noStrike">
                <a:solidFill>
                  <a:schemeClr val="hlink"/>
                </a:solidFill>
                <a:latin typeface="Times New Roman"/>
                <a:ea typeface="Times New Roman"/>
                <a:cs typeface="Times New Roman"/>
                <a:sym typeface="Times New Roman"/>
              </a:rPr>
              <a:t>Solution:</a:t>
            </a:r>
            <a:endParaRPr b="1" i="1" sz="1800" u="sng" cap="none" strike="noStrike">
              <a:solidFill>
                <a:schemeClr val="hlink"/>
              </a:solidFill>
              <a:latin typeface="Times New Roman"/>
              <a:ea typeface="Times New Roman"/>
              <a:cs typeface="Times New Roman"/>
              <a:sym typeface="Times New Roman"/>
            </a:endParaRPr>
          </a:p>
          <a:p>
            <a:pPr indent="-228600" lvl="2" marL="1143000" marR="0" rtl="0" algn="l">
              <a:lnSpc>
                <a:spcPct val="100000"/>
              </a:lnSpc>
              <a:spcBef>
                <a:spcPts val="360"/>
              </a:spcBef>
              <a:spcAft>
                <a:spcPts val="0"/>
              </a:spcAft>
              <a:buClr>
                <a:srgbClr val="A50021"/>
              </a:buClr>
              <a:buSzPts val="1800"/>
              <a:buFont typeface="Times New Roman"/>
              <a:buNone/>
            </a:pPr>
            <a:r>
              <a:t/>
            </a:r>
            <a:endParaRPr b="1" i="0" sz="1800" u="none" cap="none" strike="noStrike">
              <a:solidFill>
                <a:schemeClr val="hlink"/>
              </a:solidFill>
              <a:latin typeface="Times New Roman"/>
              <a:ea typeface="Times New Roman"/>
              <a:cs typeface="Times New Roman"/>
              <a:sym typeface="Times New Roman"/>
            </a:endParaRPr>
          </a:p>
          <a:p>
            <a:pPr indent="-342900" lvl="0" marL="342900" marR="0" rtl="0" algn="l">
              <a:lnSpc>
                <a:spcPct val="100000"/>
              </a:lnSpc>
              <a:spcBef>
                <a:spcPts val="360"/>
              </a:spcBef>
              <a:spcAft>
                <a:spcPts val="0"/>
              </a:spcAft>
              <a:buClr>
                <a:srgbClr val="A50021"/>
              </a:buClr>
              <a:buSzPts val="1350"/>
              <a:buFont typeface="Arial"/>
              <a:buChar char="●"/>
            </a:pPr>
            <a:r>
              <a:rPr b="1" i="0" lang="en-US" sz="1800" u="none">
                <a:solidFill>
                  <a:srgbClr val="FFFF99"/>
                </a:solidFill>
                <a:latin typeface="Times New Roman"/>
                <a:ea typeface="Times New Roman"/>
                <a:cs typeface="Times New Roman"/>
                <a:sym typeface="Times New Roman"/>
              </a:rPr>
              <a:t>A pass through input reduces problem size by one.</a:t>
            </a:r>
            <a:endParaRPr/>
          </a:p>
          <a:p>
            <a:pPr indent="-228600" lvl="2" marL="1143000" marR="0" rtl="0" algn="l">
              <a:lnSpc>
                <a:spcPct val="100000"/>
              </a:lnSpc>
              <a:spcBef>
                <a:spcPts val="360"/>
              </a:spcBef>
              <a:spcAft>
                <a:spcPts val="0"/>
              </a:spcAft>
              <a:buClr>
                <a:srgbClr val="A50021"/>
              </a:buClr>
              <a:buSzPts val="1800"/>
              <a:buFont typeface="Times New Roman"/>
              <a:buNone/>
            </a:pPr>
            <a:r>
              <a:rPr b="1" i="0" lang="en-US" sz="1800" u="none" cap="none" strike="noStrike">
                <a:solidFill>
                  <a:srgbClr val="FF9933"/>
                </a:solidFill>
                <a:latin typeface="Times New Roman"/>
                <a:ea typeface="Times New Roman"/>
                <a:cs typeface="Times New Roman"/>
                <a:sym typeface="Times New Roman"/>
              </a:rPr>
              <a:t>T(</a:t>
            </a:r>
            <a:r>
              <a:rPr b="1" i="1" lang="en-US" sz="1800" u="none" cap="none" strike="noStrike">
                <a:solidFill>
                  <a:srgbClr val="FF9933"/>
                </a:solidFill>
                <a:latin typeface="Times New Roman"/>
                <a:ea typeface="Times New Roman"/>
                <a:cs typeface="Times New Roman"/>
                <a:sym typeface="Times New Roman"/>
              </a:rPr>
              <a:t>n</a:t>
            </a:r>
            <a:r>
              <a:rPr b="1" i="0" lang="en-US" sz="1800" u="none" cap="none" strike="noStrike">
                <a:solidFill>
                  <a:srgbClr val="FF9933"/>
                </a:solidFill>
                <a:latin typeface="Times New Roman"/>
                <a:ea typeface="Times New Roman"/>
                <a:cs typeface="Times New Roman"/>
                <a:sym typeface="Times New Roman"/>
              </a:rPr>
              <a:t>) = T(</a:t>
            </a:r>
            <a:r>
              <a:rPr b="1" i="1" lang="en-US" sz="1800" u="none" cap="none" strike="noStrike">
                <a:solidFill>
                  <a:srgbClr val="FF9933"/>
                </a:solidFill>
                <a:latin typeface="Times New Roman"/>
                <a:ea typeface="Times New Roman"/>
                <a:cs typeface="Times New Roman"/>
                <a:sym typeface="Times New Roman"/>
              </a:rPr>
              <a:t>n</a:t>
            </a:r>
            <a:r>
              <a:rPr b="1" i="0" lang="en-US" sz="1800" u="none" cap="none" strike="noStrike">
                <a:solidFill>
                  <a:srgbClr val="FF9933"/>
                </a:solidFill>
                <a:latin typeface="Times New Roman"/>
                <a:ea typeface="Times New Roman"/>
                <a:cs typeface="Times New Roman"/>
                <a:sym typeface="Times New Roman"/>
              </a:rPr>
              <a:t>-1) + </a:t>
            </a:r>
            <a:r>
              <a:rPr b="1" i="1" lang="en-US" sz="1800" u="none" cap="none" strike="noStrike">
                <a:solidFill>
                  <a:srgbClr val="FF9933"/>
                </a:solidFill>
                <a:latin typeface="Times New Roman"/>
                <a:ea typeface="Times New Roman"/>
                <a:cs typeface="Times New Roman"/>
                <a:sym typeface="Times New Roman"/>
              </a:rPr>
              <a:t>c n</a:t>
            </a:r>
            <a:r>
              <a:rPr b="1" i="0" lang="en-US" sz="1800" u="none" cap="none" strike="noStrike">
                <a:solidFill>
                  <a:srgbClr val="FF9933"/>
                </a:solidFill>
                <a:latin typeface="Times New Roman"/>
                <a:ea typeface="Times New Roman"/>
                <a:cs typeface="Times New Roman"/>
                <a:sym typeface="Times New Roman"/>
              </a:rPr>
              <a:t>                  T(1) = </a:t>
            </a:r>
            <a:r>
              <a:rPr b="1" i="1" lang="en-US" sz="1800" u="none" cap="none" strike="noStrike">
                <a:solidFill>
                  <a:srgbClr val="FF9933"/>
                </a:solidFill>
                <a:latin typeface="Times New Roman"/>
                <a:ea typeface="Times New Roman"/>
                <a:cs typeface="Times New Roman"/>
                <a:sym typeface="Times New Roman"/>
              </a:rPr>
              <a:t>d</a:t>
            </a:r>
            <a:endParaRPr b="1" i="0" sz="1800" u="none" cap="none" strike="noStrike">
              <a:solidFill>
                <a:srgbClr val="FF9933"/>
              </a:solidFill>
              <a:latin typeface="Times New Roman"/>
              <a:ea typeface="Times New Roman"/>
              <a:cs typeface="Times New Roman"/>
              <a:sym typeface="Times New Roman"/>
            </a:endParaRPr>
          </a:p>
          <a:p>
            <a:pPr indent="-228600" lvl="2" marL="1143000" marR="0" rtl="0" algn="l">
              <a:lnSpc>
                <a:spcPct val="100000"/>
              </a:lnSpc>
              <a:spcBef>
                <a:spcPts val="360"/>
              </a:spcBef>
              <a:spcAft>
                <a:spcPts val="0"/>
              </a:spcAft>
              <a:buClr>
                <a:srgbClr val="A50021"/>
              </a:buClr>
              <a:buSzPts val="1800"/>
              <a:buFont typeface="Times New Roman"/>
              <a:buNone/>
            </a:pPr>
            <a:r>
              <a:rPr b="1" i="0" lang="en-US" sz="1800" u="none" cap="none" strike="noStrike">
                <a:solidFill>
                  <a:schemeClr val="hlink"/>
                </a:solidFill>
                <a:latin typeface="Times New Roman"/>
                <a:ea typeface="Times New Roman"/>
                <a:cs typeface="Times New Roman"/>
                <a:sym typeface="Times New Roman"/>
              </a:rPr>
              <a:t>Solution:</a:t>
            </a:r>
            <a:endParaRPr/>
          </a:p>
        </p:txBody>
      </p:sp>
      <p:sp>
        <p:nvSpPr>
          <p:cNvPr id="503" name="Google Shape;503;p45"/>
          <p:cNvSpPr txBox="1"/>
          <p:nvPr/>
        </p:nvSpPr>
        <p:spPr>
          <a:xfrm>
            <a:off x="2667000" y="3048000"/>
            <a:ext cx="58959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ahoma"/>
              <a:buNone/>
            </a:pPr>
            <a:r>
              <a:rPr b="0" i="0" lang="en-US" sz="2400" u="none">
                <a:solidFill>
                  <a:schemeClr val="hlink"/>
                </a:solidFill>
                <a:latin typeface="Tahoma"/>
                <a:ea typeface="Tahoma"/>
                <a:cs typeface="Tahoma"/>
                <a:sym typeface="Tahoma"/>
              </a:rPr>
              <a:t>T(</a:t>
            </a:r>
            <a:r>
              <a:rPr b="0" i="1" lang="en-US" sz="2400" u="none">
                <a:solidFill>
                  <a:schemeClr val="hlink"/>
                </a:solidFill>
                <a:latin typeface="Tahoma"/>
                <a:ea typeface="Tahoma"/>
                <a:cs typeface="Tahoma"/>
                <a:sym typeface="Tahoma"/>
              </a:rPr>
              <a:t>n</a:t>
            </a:r>
            <a:r>
              <a:rPr b="0" i="0" lang="en-US" sz="2400" u="none">
                <a:solidFill>
                  <a:schemeClr val="hlink"/>
                </a:solidFill>
                <a:latin typeface="Tahoma"/>
                <a:ea typeface="Tahoma"/>
                <a:cs typeface="Tahoma"/>
                <a:sym typeface="Tahoma"/>
              </a:rPr>
              <a:t>) =  (</a:t>
            </a:r>
            <a:r>
              <a:rPr b="0" i="1" lang="en-US" sz="2400" u="none">
                <a:solidFill>
                  <a:schemeClr val="hlink"/>
                </a:solidFill>
                <a:latin typeface="Tahoma"/>
                <a:ea typeface="Tahoma"/>
                <a:cs typeface="Tahoma"/>
                <a:sym typeface="Tahoma"/>
              </a:rPr>
              <a:t>n</a:t>
            </a:r>
            <a:r>
              <a:rPr b="0" i="0" lang="en-US" sz="2400" u="none">
                <a:solidFill>
                  <a:schemeClr val="hlink"/>
                </a:solidFill>
                <a:latin typeface="Tahoma"/>
                <a:ea typeface="Tahoma"/>
                <a:cs typeface="Tahoma"/>
                <a:sym typeface="Tahoma"/>
              </a:rPr>
              <a:t>-1)</a:t>
            </a:r>
            <a:r>
              <a:rPr b="0" i="1" lang="en-US" sz="2400" u="none">
                <a:solidFill>
                  <a:schemeClr val="hlink"/>
                </a:solidFill>
                <a:latin typeface="Tahoma"/>
                <a:ea typeface="Tahoma"/>
                <a:cs typeface="Tahoma"/>
                <a:sym typeface="Tahoma"/>
              </a:rPr>
              <a:t>c</a:t>
            </a:r>
            <a:r>
              <a:rPr b="0" i="0" lang="en-US" sz="2400" u="none">
                <a:solidFill>
                  <a:schemeClr val="hlink"/>
                </a:solidFill>
                <a:latin typeface="Tahoma"/>
                <a:ea typeface="Tahoma"/>
                <a:cs typeface="Tahoma"/>
                <a:sym typeface="Tahoma"/>
              </a:rPr>
              <a:t> + </a:t>
            </a:r>
            <a:r>
              <a:rPr b="0" i="1" lang="en-US" sz="2400" u="none">
                <a:solidFill>
                  <a:schemeClr val="hlink"/>
                </a:solidFill>
                <a:latin typeface="Tahoma"/>
                <a:ea typeface="Tahoma"/>
                <a:cs typeface="Tahoma"/>
                <a:sym typeface="Tahoma"/>
              </a:rPr>
              <a:t>d                          </a:t>
            </a:r>
            <a:r>
              <a:rPr b="0" i="1" lang="en-US" sz="2400" u="sng">
                <a:solidFill>
                  <a:schemeClr val="hlink"/>
                </a:solidFill>
                <a:latin typeface="Tahoma"/>
                <a:ea typeface="Tahoma"/>
                <a:cs typeface="Tahoma"/>
                <a:sym typeface="Tahoma"/>
              </a:rPr>
              <a:t>linear</a:t>
            </a:r>
            <a:endParaRPr/>
          </a:p>
        </p:txBody>
      </p:sp>
      <p:sp>
        <p:nvSpPr>
          <p:cNvPr id="504" name="Google Shape;504;p45"/>
          <p:cNvSpPr txBox="1"/>
          <p:nvPr/>
        </p:nvSpPr>
        <p:spPr>
          <a:xfrm>
            <a:off x="2743200" y="4876800"/>
            <a:ext cx="6108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ahoma"/>
              <a:buNone/>
            </a:pPr>
            <a:r>
              <a:rPr b="0" i="0" lang="en-US" sz="2400" u="none">
                <a:solidFill>
                  <a:schemeClr val="hlink"/>
                </a:solidFill>
                <a:latin typeface="Tahoma"/>
                <a:ea typeface="Tahoma"/>
                <a:cs typeface="Tahoma"/>
                <a:sym typeface="Tahoma"/>
              </a:rPr>
              <a:t>T(</a:t>
            </a:r>
            <a:r>
              <a:rPr b="0" i="1" lang="en-US" sz="2400" u="none">
                <a:solidFill>
                  <a:schemeClr val="hlink"/>
                </a:solidFill>
                <a:latin typeface="Tahoma"/>
                <a:ea typeface="Tahoma"/>
                <a:cs typeface="Tahoma"/>
                <a:sym typeface="Tahoma"/>
              </a:rPr>
              <a:t>n</a:t>
            </a:r>
            <a:r>
              <a:rPr b="0" i="0" lang="en-US" sz="2400" u="none">
                <a:solidFill>
                  <a:schemeClr val="hlink"/>
                </a:solidFill>
                <a:latin typeface="Tahoma"/>
                <a:ea typeface="Tahoma"/>
                <a:cs typeface="Tahoma"/>
                <a:sym typeface="Tahoma"/>
              </a:rPr>
              <a:t>) =  [</a:t>
            </a:r>
            <a:r>
              <a:rPr b="0" i="1" lang="en-US" sz="2400" u="none">
                <a:solidFill>
                  <a:schemeClr val="hlink"/>
                </a:solidFill>
                <a:latin typeface="Tahoma"/>
                <a:ea typeface="Tahoma"/>
                <a:cs typeface="Tahoma"/>
                <a:sym typeface="Tahoma"/>
              </a:rPr>
              <a:t>n</a:t>
            </a:r>
            <a:r>
              <a:rPr b="0" i="0" lang="en-US" sz="2400" u="none">
                <a:solidFill>
                  <a:schemeClr val="hlink"/>
                </a:solidFill>
                <a:latin typeface="Tahoma"/>
                <a:ea typeface="Tahoma"/>
                <a:cs typeface="Tahoma"/>
                <a:sym typeface="Tahoma"/>
              </a:rPr>
              <a:t>(</a:t>
            </a:r>
            <a:r>
              <a:rPr b="0" i="1" lang="en-US" sz="2400" u="none">
                <a:solidFill>
                  <a:schemeClr val="hlink"/>
                </a:solidFill>
                <a:latin typeface="Tahoma"/>
                <a:ea typeface="Tahoma"/>
                <a:cs typeface="Tahoma"/>
                <a:sym typeface="Tahoma"/>
              </a:rPr>
              <a:t>n+</a:t>
            </a:r>
            <a:r>
              <a:rPr b="0" i="0" lang="en-US" sz="2400" u="none">
                <a:solidFill>
                  <a:schemeClr val="hlink"/>
                </a:solidFill>
                <a:latin typeface="Tahoma"/>
                <a:ea typeface="Tahoma"/>
                <a:cs typeface="Tahoma"/>
                <a:sym typeface="Tahoma"/>
              </a:rPr>
              <a:t>1)/2 – 1] </a:t>
            </a:r>
            <a:r>
              <a:rPr b="0" i="1" lang="en-US" sz="2400" u="none">
                <a:solidFill>
                  <a:schemeClr val="hlink"/>
                </a:solidFill>
                <a:latin typeface="Tahoma"/>
                <a:ea typeface="Tahoma"/>
                <a:cs typeface="Tahoma"/>
                <a:sym typeface="Tahoma"/>
              </a:rPr>
              <a:t>c </a:t>
            </a:r>
            <a:r>
              <a:rPr b="0" i="0" lang="en-US" sz="2400" u="none">
                <a:solidFill>
                  <a:schemeClr val="hlink"/>
                </a:solidFill>
                <a:latin typeface="Tahoma"/>
                <a:ea typeface="Tahoma"/>
                <a:cs typeface="Tahoma"/>
                <a:sym typeface="Tahoma"/>
              </a:rPr>
              <a:t>+ </a:t>
            </a:r>
            <a:r>
              <a:rPr b="0" i="1" lang="en-US" sz="2400" u="none">
                <a:solidFill>
                  <a:schemeClr val="hlink"/>
                </a:solidFill>
                <a:latin typeface="Tahoma"/>
                <a:ea typeface="Tahoma"/>
                <a:cs typeface="Tahoma"/>
                <a:sym typeface="Tahoma"/>
              </a:rPr>
              <a:t>d        </a:t>
            </a:r>
            <a:r>
              <a:rPr b="0" i="1" lang="en-US" sz="2400" u="sng">
                <a:solidFill>
                  <a:schemeClr val="hlink"/>
                </a:solidFill>
                <a:latin typeface="Tahoma"/>
                <a:ea typeface="Tahoma"/>
                <a:cs typeface="Tahoma"/>
                <a:sym typeface="Tahoma"/>
              </a:rPr>
              <a:t>quadratic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0" name="Shape 510"/>
        <p:cNvGrpSpPr/>
        <p:nvPr/>
      </p:nvGrpSpPr>
      <p:grpSpPr>
        <a:xfrm>
          <a:off x="0" y="0"/>
          <a:ext cx="0" cy="0"/>
          <a:chOff x="0" y="0"/>
          <a:chExt cx="0" cy="0"/>
        </a:xfrm>
      </p:grpSpPr>
      <p:sp>
        <p:nvSpPr>
          <p:cNvPr id="511" name="Google Shape;511;p46"/>
          <p:cNvSpPr txBox="1"/>
          <p:nvPr>
            <p:ph type="title"/>
          </p:nvPr>
        </p:nvSpPr>
        <p:spPr>
          <a:xfrm>
            <a:off x="609600" y="228600"/>
            <a:ext cx="758825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1" i="0" lang="en-US" sz="2800" u="none">
                <a:solidFill>
                  <a:schemeClr val="dk2"/>
                </a:solidFill>
                <a:latin typeface="Times New Roman"/>
                <a:ea typeface="Times New Roman"/>
                <a:cs typeface="Times New Roman"/>
                <a:sym typeface="Times New Roman"/>
              </a:rPr>
              <a:t>Decrease-by-a-constant-factor recurrences –               The Master Theorem</a:t>
            </a:r>
            <a:endParaRPr/>
          </a:p>
        </p:txBody>
      </p:sp>
      <p:sp>
        <p:nvSpPr>
          <p:cNvPr id="512" name="Google Shape;512;p46"/>
          <p:cNvSpPr txBox="1"/>
          <p:nvPr>
            <p:ph idx="1" type="body"/>
          </p:nvPr>
        </p:nvSpPr>
        <p:spPr>
          <a:xfrm>
            <a:off x="609600" y="1524000"/>
            <a:ext cx="8229600" cy="43068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A50021"/>
              </a:buClr>
              <a:buSzPts val="1800"/>
              <a:buFont typeface="Arial"/>
              <a:buNone/>
            </a:pPr>
            <a:r>
              <a:rPr b="1" i="1" lang="en-US" sz="2400" u="none">
                <a:solidFill>
                  <a:srgbClr val="FFFF99"/>
                </a:solidFill>
                <a:latin typeface="Times New Roman"/>
                <a:ea typeface="Times New Roman"/>
                <a:cs typeface="Times New Roman"/>
                <a:sym typeface="Times New Roman"/>
              </a:rPr>
              <a:t>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aT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n/b</a:t>
            </a:r>
            <a:r>
              <a:rPr b="1" i="0" lang="en-US" sz="2400" u="none">
                <a:solidFill>
                  <a:srgbClr val="FFFF99"/>
                </a:solidFill>
                <a:latin typeface="Times New Roman"/>
                <a:ea typeface="Times New Roman"/>
                <a:cs typeface="Times New Roman"/>
                <a:sym typeface="Times New Roman"/>
              </a:rPr>
              <a:t>) + </a:t>
            </a:r>
            <a:r>
              <a:rPr b="1" i="1" lang="en-US" sz="2400" u="none">
                <a:solidFill>
                  <a:srgbClr val="FFFF99"/>
                </a:solidFill>
                <a:latin typeface="Times New Roman"/>
                <a:ea typeface="Times New Roman"/>
                <a:cs typeface="Times New Roman"/>
                <a:sym typeface="Times New Roman"/>
              </a:rPr>
              <a:t>f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Times New Roman"/>
                <a:ea typeface="Times New Roman"/>
                <a:cs typeface="Times New Roman"/>
                <a:sym typeface="Times New Roman"/>
              </a:rPr>
              <a:t>where </a:t>
            </a:r>
            <a:r>
              <a:rPr b="1" i="1" lang="en-US" sz="2400" u="none">
                <a:solidFill>
                  <a:srgbClr val="FFFF99"/>
                </a:solidFill>
                <a:latin typeface="Times New Roman"/>
                <a:ea typeface="Times New Roman"/>
                <a:cs typeface="Times New Roman"/>
                <a:sym typeface="Times New Roman"/>
              </a:rPr>
              <a:t>f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a:t>
            </a:r>
            <a:r>
              <a:rPr b="1" i="1" lang="en-US" sz="2400" u="none">
                <a:solidFill>
                  <a:srgbClr val="FFFF99"/>
                </a:solidFill>
                <a:latin typeface="Times New Roman"/>
                <a:ea typeface="Times New Roman"/>
                <a:cs typeface="Times New Roman"/>
                <a:sym typeface="Times New Roman"/>
              </a:rPr>
              <a:t>n</a:t>
            </a:r>
            <a:r>
              <a:rPr b="1" baseline="30000" i="1" lang="en-US" sz="2400" u="none">
                <a:solidFill>
                  <a:srgbClr val="FFFF99"/>
                </a:solidFill>
                <a:latin typeface="Times New Roman"/>
                <a:ea typeface="Times New Roman"/>
                <a:cs typeface="Times New Roman"/>
                <a:sym typeface="Times New Roman"/>
              </a:rPr>
              <a:t>k</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 k&gt;=0</a:t>
            </a:r>
            <a:endParaRPr/>
          </a:p>
          <a:p>
            <a:pPr indent="-342900" lvl="0" marL="342900" marR="0" rtl="0" algn="l">
              <a:lnSpc>
                <a:spcPct val="100000"/>
              </a:lnSpc>
              <a:spcBef>
                <a:spcPts val="480"/>
              </a:spcBef>
              <a:spcAft>
                <a:spcPts val="0"/>
              </a:spcAft>
              <a:buClr>
                <a:srgbClr val="A50021"/>
              </a:buClr>
              <a:buSzPts val="1800"/>
              <a:buFont typeface="Arial"/>
              <a:buNone/>
            </a:pPr>
            <a:r>
              <a:t/>
            </a:r>
            <a:endParaRPr b="1" i="1"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1" lang="en-US" sz="2400" u="none">
                <a:solidFill>
                  <a:srgbClr val="FFFF99"/>
                </a:solidFill>
                <a:latin typeface="Times New Roman"/>
                <a:ea typeface="Times New Roman"/>
                <a:cs typeface="Times New Roman"/>
                <a:sym typeface="Times New Roman"/>
              </a:rPr>
              <a:t>a &lt; b</a:t>
            </a:r>
            <a:r>
              <a:rPr b="1" baseline="30000" i="1" lang="en-US" sz="2400" u="none">
                <a:solidFill>
                  <a:srgbClr val="FFFF99"/>
                </a:solidFill>
                <a:latin typeface="Times New Roman"/>
                <a:ea typeface="Times New Roman"/>
                <a:cs typeface="Times New Roman"/>
                <a:sym typeface="Times New Roman"/>
              </a:rPr>
              <a:t>k</a:t>
            </a:r>
            <a:r>
              <a:rPr b="1" i="1" lang="en-US" sz="2400" u="none">
                <a:solidFill>
                  <a:srgbClr val="FFFF99"/>
                </a:solidFill>
                <a:latin typeface="Times New Roman"/>
                <a:ea typeface="Times New Roman"/>
                <a:cs typeface="Times New Roman"/>
                <a:sym typeface="Times New Roman"/>
              </a:rPr>
              <a:t>              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a:t>
            </a:r>
            <a:r>
              <a:rPr b="1" i="1" lang="en-US" sz="2400" u="none">
                <a:solidFill>
                  <a:srgbClr val="FFFF99"/>
                </a:solidFill>
                <a:latin typeface="Times New Roman"/>
                <a:ea typeface="Times New Roman"/>
                <a:cs typeface="Times New Roman"/>
                <a:sym typeface="Times New Roman"/>
              </a:rPr>
              <a:t>n</a:t>
            </a:r>
            <a:r>
              <a:rPr b="1" baseline="30000" i="1" lang="en-US" sz="2400" u="none">
                <a:solidFill>
                  <a:srgbClr val="FFFF99"/>
                </a:solidFill>
                <a:latin typeface="Times New Roman"/>
                <a:ea typeface="Times New Roman"/>
                <a:cs typeface="Times New Roman"/>
                <a:sym typeface="Times New Roman"/>
              </a:rPr>
              <a:t>k</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1" lang="en-US" sz="2400" u="none">
                <a:solidFill>
                  <a:srgbClr val="FFFF99"/>
                </a:solidFill>
                <a:latin typeface="Times New Roman"/>
                <a:ea typeface="Times New Roman"/>
                <a:cs typeface="Times New Roman"/>
                <a:sym typeface="Times New Roman"/>
              </a:rPr>
              <a:t>a = b</a:t>
            </a:r>
            <a:r>
              <a:rPr b="1" baseline="30000" i="1" lang="en-US" sz="2400" u="none">
                <a:solidFill>
                  <a:srgbClr val="FFFF99"/>
                </a:solidFill>
                <a:latin typeface="Times New Roman"/>
                <a:ea typeface="Times New Roman"/>
                <a:cs typeface="Times New Roman"/>
                <a:sym typeface="Times New Roman"/>
              </a:rPr>
              <a:t>k</a:t>
            </a:r>
            <a:r>
              <a:rPr b="1" i="1" lang="en-US" sz="2400" u="none">
                <a:solidFill>
                  <a:srgbClr val="FFFF99"/>
                </a:solidFill>
                <a:latin typeface="Times New Roman"/>
                <a:ea typeface="Times New Roman"/>
                <a:cs typeface="Times New Roman"/>
                <a:sym typeface="Times New Roman"/>
              </a:rPr>
              <a:t>              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a:t>
            </a:r>
            <a:r>
              <a:rPr b="1" i="1" lang="en-US" sz="2400" u="none">
                <a:solidFill>
                  <a:srgbClr val="FFFF99"/>
                </a:solidFill>
                <a:latin typeface="Times New Roman"/>
                <a:ea typeface="Times New Roman"/>
                <a:cs typeface="Times New Roman"/>
                <a:sym typeface="Times New Roman"/>
              </a:rPr>
              <a:t>n</a:t>
            </a:r>
            <a:r>
              <a:rPr b="1" baseline="30000" i="1" lang="en-US" sz="2400" u="none">
                <a:solidFill>
                  <a:srgbClr val="FFFF99"/>
                </a:solidFill>
                <a:latin typeface="Times New Roman"/>
                <a:ea typeface="Times New Roman"/>
                <a:cs typeface="Times New Roman"/>
                <a:sym typeface="Times New Roman"/>
              </a:rPr>
              <a:t>k </a:t>
            </a:r>
            <a:r>
              <a:rPr b="1" i="0" lang="en-US" sz="2400" u="none">
                <a:solidFill>
                  <a:srgbClr val="FFFF99"/>
                </a:solidFill>
                <a:latin typeface="Times New Roman"/>
                <a:ea typeface="Times New Roman"/>
                <a:cs typeface="Times New Roman"/>
                <a:sym typeface="Times New Roman"/>
              </a:rPr>
              <a:t>log </a:t>
            </a:r>
            <a:r>
              <a:rPr b="1" i="1" lang="en-US" sz="2400" u="none">
                <a:solidFill>
                  <a:srgbClr val="FFFF99"/>
                </a:solidFill>
                <a:latin typeface="Times New Roman"/>
                <a:ea typeface="Times New Roman"/>
                <a:cs typeface="Times New Roman"/>
                <a:sym typeface="Times New Roman"/>
              </a:rPr>
              <a:t>n </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rgbClr val="A50021"/>
              </a:buClr>
              <a:buSzPts val="1800"/>
              <a:buFont typeface="Arial"/>
              <a:buChar char="●"/>
            </a:pPr>
            <a:r>
              <a:rPr b="1" i="1" lang="en-US" sz="2400" u="none">
                <a:solidFill>
                  <a:srgbClr val="FFFF99"/>
                </a:solidFill>
                <a:latin typeface="Times New Roman"/>
                <a:ea typeface="Times New Roman"/>
                <a:cs typeface="Times New Roman"/>
                <a:sym typeface="Times New Roman"/>
              </a:rPr>
              <a:t>a &gt; b</a:t>
            </a:r>
            <a:r>
              <a:rPr b="1" baseline="30000" i="1" lang="en-US" sz="2400" u="none">
                <a:solidFill>
                  <a:srgbClr val="FFFF99"/>
                </a:solidFill>
                <a:latin typeface="Times New Roman"/>
                <a:ea typeface="Times New Roman"/>
                <a:cs typeface="Times New Roman"/>
                <a:sym typeface="Times New Roman"/>
              </a:rPr>
              <a:t>k</a:t>
            </a:r>
            <a:r>
              <a:rPr b="1" i="1" lang="en-US" sz="2400" u="none">
                <a:solidFill>
                  <a:srgbClr val="FFFF99"/>
                </a:solidFill>
                <a:latin typeface="Times New Roman"/>
                <a:ea typeface="Times New Roman"/>
                <a:cs typeface="Times New Roman"/>
                <a:sym typeface="Times New Roman"/>
              </a:rPr>
              <a:t>              T</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n</a:t>
            </a:r>
            <a:r>
              <a:rPr b="1" i="0" lang="en-US" sz="2400" u="none">
                <a:solidFill>
                  <a:srgbClr val="FFFF99"/>
                </a:solidFill>
                <a:latin typeface="Times New Roman"/>
                <a:ea typeface="Times New Roman"/>
                <a:cs typeface="Times New Roman"/>
                <a:sym typeface="Times New Roman"/>
              </a:rPr>
              <a:t>) </a:t>
            </a:r>
            <a:r>
              <a:rPr b="1" i="0" lang="en-US" sz="2400" u="none">
                <a:solidFill>
                  <a:srgbClr val="FFFF99"/>
                </a:solidFill>
                <a:latin typeface="Arimo"/>
                <a:ea typeface="Arimo"/>
                <a:cs typeface="Arimo"/>
                <a:sym typeface="Arimo"/>
              </a:rPr>
              <a:t>∈</a:t>
            </a:r>
            <a:r>
              <a:rPr b="1" i="0" lang="en-US" sz="2400" u="none">
                <a:solidFill>
                  <a:srgbClr val="FFFF99"/>
                </a:solidFill>
                <a:latin typeface="Times New Roman"/>
                <a:ea typeface="Times New Roman"/>
                <a:cs typeface="Times New Roman"/>
                <a:sym typeface="Times New Roman"/>
              </a:rPr>
              <a:t> Θ(</a:t>
            </a:r>
            <a:r>
              <a:rPr b="1" i="1" lang="en-US" sz="2400" u="none">
                <a:solidFill>
                  <a:srgbClr val="FFFF99"/>
                </a:solidFill>
                <a:latin typeface="Times New Roman"/>
                <a:ea typeface="Times New Roman"/>
                <a:cs typeface="Times New Roman"/>
                <a:sym typeface="Times New Roman"/>
              </a:rPr>
              <a:t>n</a:t>
            </a:r>
            <a:r>
              <a:rPr b="1" baseline="30000" i="0" lang="en-US" sz="2400" u="none">
                <a:solidFill>
                  <a:srgbClr val="FFFF99"/>
                </a:solidFill>
                <a:latin typeface="Times New Roman"/>
                <a:ea typeface="Times New Roman"/>
                <a:cs typeface="Times New Roman"/>
                <a:sym typeface="Times New Roman"/>
              </a:rPr>
              <a:t>log </a:t>
            </a:r>
            <a:r>
              <a:rPr b="1" baseline="30000" i="1" lang="en-US" sz="2400" u="none">
                <a:solidFill>
                  <a:srgbClr val="FFFF99"/>
                </a:solidFill>
                <a:latin typeface="Times New Roman"/>
                <a:ea typeface="Times New Roman"/>
                <a:cs typeface="Times New Roman"/>
                <a:sym typeface="Times New Roman"/>
              </a:rPr>
              <a:t> a</a:t>
            </a:r>
            <a:r>
              <a:rPr b="1" i="0" lang="en-US" sz="2400" u="none">
                <a:solidFill>
                  <a:srgbClr val="FFFF99"/>
                </a:solidFill>
                <a:latin typeface="Times New Roman"/>
                <a:ea typeface="Times New Roman"/>
                <a:cs typeface="Times New Roman"/>
                <a:sym typeface="Times New Roman"/>
              </a:rPr>
              <a:t>)</a:t>
            </a:r>
            <a:r>
              <a:rPr b="1" i="1" lang="en-US" sz="2400" u="none">
                <a:solidFill>
                  <a:srgbClr val="FFFF99"/>
                </a:solidFill>
                <a:latin typeface="Times New Roman"/>
                <a:ea typeface="Times New Roman"/>
                <a:cs typeface="Times New Roman"/>
                <a:sym typeface="Times New Roman"/>
              </a:rPr>
              <a:t> </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a:solidFill>
                <a:srgbClr val="FFFF99"/>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A50021"/>
              </a:buClr>
              <a:buSzPts val="1800"/>
              <a:buFont typeface="Arial"/>
              <a:buAutoNum type="arabicPeriod"/>
            </a:pPr>
            <a:r>
              <a:rPr b="1" i="0" lang="en-US" sz="2400" u="none">
                <a:solidFill>
                  <a:srgbClr val="FFFF99"/>
                </a:solidFill>
                <a:latin typeface="Times New Roman"/>
                <a:ea typeface="Times New Roman"/>
                <a:cs typeface="Times New Roman"/>
                <a:sym typeface="Times New Roman"/>
              </a:rPr>
              <a:t>Examples:</a:t>
            </a:r>
            <a:endParaRPr/>
          </a:p>
          <a:p>
            <a:pPr indent="-285750" lvl="1" marL="742950" marR="0" rtl="0" algn="l">
              <a:lnSpc>
                <a:spcPct val="100000"/>
              </a:lnSpc>
              <a:spcBef>
                <a:spcPts val="480"/>
              </a:spcBef>
              <a:spcAft>
                <a:spcPts val="0"/>
              </a:spcAft>
              <a:buClr>
                <a:srgbClr val="A50021"/>
              </a:buClr>
              <a:buSzPts val="2400"/>
              <a:buFont typeface="Times New Roman"/>
              <a:buAutoNum type="arabicPeriod"/>
            </a:pPr>
            <a:r>
              <a:rPr b="1" i="0" lang="en-US" sz="2400" u="none" cap="none" strike="noStrike">
                <a:solidFill>
                  <a:srgbClr val="FFFF99"/>
                </a:solidFill>
                <a:latin typeface="Times New Roman"/>
                <a:ea typeface="Times New Roman"/>
                <a:cs typeface="Times New Roman"/>
                <a:sym typeface="Times New Roman"/>
              </a:rPr>
              <a:t>T(n) = T(n/2) + 1</a:t>
            </a:r>
            <a:endParaRPr/>
          </a:p>
          <a:p>
            <a:pPr indent="-285750" lvl="1" marL="742950" marR="0" rtl="0" algn="l">
              <a:lnSpc>
                <a:spcPct val="100000"/>
              </a:lnSpc>
              <a:spcBef>
                <a:spcPts val="480"/>
              </a:spcBef>
              <a:spcAft>
                <a:spcPts val="0"/>
              </a:spcAft>
              <a:buClr>
                <a:srgbClr val="A50021"/>
              </a:buClr>
              <a:buSzPts val="2400"/>
              <a:buFont typeface="Times New Roman"/>
              <a:buAutoNum type="arabicPeriod"/>
            </a:pPr>
            <a:r>
              <a:rPr b="1" i="0" lang="en-US" sz="2400" u="none" cap="none" strike="noStrike">
                <a:solidFill>
                  <a:srgbClr val="FFFF99"/>
                </a:solidFill>
                <a:latin typeface="Times New Roman"/>
                <a:ea typeface="Times New Roman"/>
                <a:cs typeface="Times New Roman"/>
                <a:sym typeface="Times New Roman"/>
              </a:rPr>
              <a:t>T(n) = 2T(n/2) + n</a:t>
            </a:r>
            <a:endParaRPr/>
          </a:p>
          <a:p>
            <a:pPr indent="-285750" lvl="1" marL="742950" marR="0" rtl="0" algn="l">
              <a:lnSpc>
                <a:spcPct val="100000"/>
              </a:lnSpc>
              <a:spcBef>
                <a:spcPts val="480"/>
              </a:spcBef>
              <a:spcAft>
                <a:spcPts val="0"/>
              </a:spcAft>
              <a:buClr>
                <a:srgbClr val="A50021"/>
              </a:buClr>
              <a:buSzPts val="2400"/>
              <a:buFont typeface="Times New Roman"/>
              <a:buAutoNum type="arabicPeriod"/>
            </a:pPr>
            <a:r>
              <a:rPr b="1" i="0" lang="en-US" sz="2400" u="none" cap="none" strike="noStrike">
                <a:solidFill>
                  <a:srgbClr val="FFFF99"/>
                </a:solidFill>
                <a:latin typeface="Times New Roman"/>
                <a:ea typeface="Times New Roman"/>
                <a:cs typeface="Times New Roman"/>
                <a:sym typeface="Times New Roman"/>
              </a:rPr>
              <a:t>T(n) = 3T(n/2) + n</a:t>
            </a:r>
            <a:endParaRPr/>
          </a:p>
          <a:p>
            <a:pPr indent="-285750" lvl="1" marL="742950" marR="0" rtl="0" algn="l">
              <a:lnSpc>
                <a:spcPct val="100000"/>
              </a:lnSpc>
              <a:spcBef>
                <a:spcPts val="480"/>
              </a:spcBef>
              <a:spcAft>
                <a:spcPts val="0"/>
              </a:spcAft>
              <a:buClr>
                <a:srgbClr val="A50021"/>
              </a:buClr>
              <a:buSzPts val="2400"/>
              <a:buFont typeface="Times New Roman"/>
              <a:buAutoNum type="arabicPeriod"/>
            </a:pPr>
            <a:r>
              <a:rPr b="1" i="0" lang="en-US" sz="2400" u="none" cap="none" strike="noStrike">
                <a:solidFill>
                  <a:srgbClr val="FFFF99"/>
                </a:solidFill>
                <a:latin typeface="Times New Roman"/>
                <a:ea typeface="Times New Roman"/>
                <a:cs typeface="Times New Roman"/>
                <a:sym typeface="Times New Roman"/>
              </a:rPr>
              <a:t>T(n) = T(n/2) + n</a:t>
            </a:r>
            <a:endParaRPr/>
          </a:p>
          <a:p>
            <a:pPr indent="-228600" lvl="0" marL="342900" marR="0" rtl="0" algn="l">
              <a:lnSpc>
                <a:spcPct val="100000"/>
              </a:lnSpc>
              <a:spcBef>
                <a:spcPts val="480"/>
              </a:spcBef>
              <a:spcAft>
                <a:spcPts val="0"/>
              </a:spcAft>
              <a:buClr>
                <a:srgbClr val="A50021"/>
              </a:buClr>
              <a:buSzPts val="1800"/>
              <a:buFont typeface="Arial"/>
              <a:buNone/>
            </a:pPr>
            <a:r>
              <a:t/>
            </a:r>
            <a:endParaRPr b="1" i="0" sz="2400" u="none" cap="none" strike="noStrike">
              <a:solidFill>
                <a:srgbClr val="FFFF99"/>
              </a:solidFill>
              <a:latin typeface="Times New Roman"/>
              <a:ea typeface="Times New Roman"/>
              <a:cs typeface="Times New Roman"/>
              <a:sym typeface="Times New Roman"/>
            </a:endParaRPr>
          </a:p>
        </p:txBody>
      </p:sp>
      <p:sp>
        <p:nvSpPr>
          <p:cNvPr id="513" name="Google Shape;513;p46"/>
          <p:cNvSpPr txBox="1"/>
          <p:nvPr/>
        </p:nvSpPr>
        <p:spPr>
          <a:xfrm>
            <a:off x="5638800" y="5486400"/>
            <a:ext cx="12557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Θ(n</a:t>
            </a:r>
            <a:r>
              <a:rPr b="0" baseline="30000" i="0" lang="en-US" sz="2400" u="none">
                <a:solidFill>
                  <a:schemeClr val="dk1"/>
                </a:solidFill>
                <a:latin typeface="Tahoma"/>
                <a:ea typeface="Tahoma"/>
                <a:cs typeface="Tahoma"/>
                <a:sym typeface="Tahoma"/>
              </a:rPr>
              <a:t>log</a:t>
            </a:r>
            <a:r>
              <a:rPr b="0" baseline="-25000" i="0" lang="en-US" sz="2000" u="none">
                <a:solidFill>
                  <a:schemeClr val="dk1"/>
                </a:solidFill>
                <a:latin typeface="Tahoma"/>
                <a:ea typeface="Tahoma"/>
                <a:cs typeface="Tahoma"/>
                <a:sym typeface="Tahoma"/>
              </a:rPr>
              <a:t>2</a:t>
            </a:r>
            <a:r>
              <a:rPr b="0" baseline="30000" i="0" lang="en-US" sz="2000" u="none">
                <a:solidFill>
                  <a:schemeClr val="dk1"/>
                </a:solidFill>
                <a:latin typeface="Tahoma"/>
                <a:ea typeface="Tahoma"/>
                <a:cs typeface="Tahoma"/>
                <a:sym typeface="Tahoma"/>
              </a:rPr>
              <a:t>3</a:t>
            </a:r>
            <a:r>
              <a:rPr b="0" i="0" lang="en-US" sz="2400" u="none">
                <a:solidFill>
                  <a:schemeClr val="dk1"/>
                </a:solidFill>
                <a:latin typeface="Tahoma"/>
                <a:ea typeface="Tahoma"/>
                <a:cs typeface="Tahoma"/>
                <a:sym typeface="Tahoma"/>
              </a:rPr>
              <a:t>)</a:t>
            </a:r>
            <a:endParaRPr/>
          </a:p>
        </p:txBody>
      </p:sp>
      <p:sp>
        <p:nvSpPr>
          <p:cNvPr id="514" name="Google Shape;514;p46"/>
          <p:cNvSpPr txBox="1"/>
          <p:nvPr/>
        </p:nvSpPr>
        <p:spPr>
          <a:xfrm>
            <a:off x="5638800" y="4572000"/>
            <a:ext cx="13033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Θ(log n)</a:t>
            </a:r>
            <a:endParaRPr/>
          </a:p>
        </p:txBody>
      </p:sp>
      <p:sp>
        <p:nvSpPr>
          <p:cNvPr id="515" name="Google Shape;515;p46"/>
          <p:cNvSpPr txBox="1"/>
          <p:nvPr/>
        </p:nvSpPr>
        <p:spPr>
          <a:xfrm>
            <a:off x="5638800" y="5029200"/>
            <a:ext cx="1473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Θ(nlog n)</a:t>
            </a:r>
            <a:endParaRPr/>
          </a:p>
        </p:txBody>
      </p:sp>
      <p:sp>
        <p:nvSpPr>
          <p:cNvPr id="516" name="Google Shape;516;p46"/>
          <p:cNvSpPr txBox="1"/>
          <p:nvPr/>
        </p:nvSpPr>
        <p:spPr>
          <a:xfrm>
            <a:off x="4191000" y="3429000"/>
            <a:ext cx="9144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1200"/>
              <a:buFont typeface="Times New Roman"/>
              <a:buNone/>
            </a:pPr>
            <a:r>
              <a:rPr b="1" i="1" lang="en-US" sz="1200" u="none">
                <a:solidFill>
                  <a:srgbClr val="FFFF99"/>
                </a:solidFill>
                <a:latin typeface="Times New Roman"/>
                <a:ea typeface="Times New Roman"/>
                <a:cs typeface="Times New Roman"/>
                <a:sym typeface="Times New Roman"/>
              </a:rPr>
              <a:t>b</a:t>
            </a:r>
            <a:endParaRPr/>
          </a:p>
        </p:txBody>
      </p:sp>
      <p:sp>
        <p:nvSpPr>
          <p:cNvPr id="517" name="Google Shape;517;p46"/>
          <p:cNvSpPr txBox="1"/>
          <p:nvPr/>
        </p:nvSpPr>
        <p:spPr>
          <a:xfrm>
            <a:off x="5638800" y="5867400"/>
            <a:ext cx="8048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Θ(n)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da0f29c1cc_0_0"/>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a:t>
            </a:r>
            <a:r>
              <a:rPr lang="en-US"/>
              <a:t> 1</a:t>
            </a:r>
            <a:endParaRPr/>
          </a:p>
        </p:txBody>
      </p:sp>
      <p:sp>
        <p:nvSpPr>
          <p:cNvPr id="525" name="Google Shape;525;g3da0f29c1cc_0_0"/>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1. </a:t>
            </a:r>
            <a:r>
              <a:rPr lang="en-US"/>
              <a:t>Use the informal definitions of O, Θ, and Ω to determine whether the following assertions are true or false.</a:t>
            </a:r>
            <a:endParaRPr/>
          </a:p>
          <a:p>
            <a:pPr indent="0" lvl="0" marL="0" rtl="0" algn="l">
              <a:spcBef>
                <a:spcPts val="360"/>
              </a:spcBef>
              <a:spcAft>
                <a:spcPts val="0"/>
              </a:spcAft>
              <a:buNone/>
            </a:pPr>
            <a:r>
              <a:rPr lang="en-US"/>
              <a:t>a. n(n + 1)/2 ∈ O(n^3)  </a:t>
            </a:r>
            <a:endParaRPr/>
          </a:p>
          <a:p>
            <a:pPr indent="0" lvl="0" marL="0" rtl="0" algn="l">
              <a:spcBef>
                <a:spcPts val="360"/>
              </a:spcBef>
              <a:spcAft>
                <a:spcPts val="0"/>
              </a:spcAft>
              <a:buNone/>
            </a:pPr>
            <a:r>
              <a:rPr lang="en-US"/>
              <a:t>b. n(n + 1)/2 ∈ O(n^2)  </a:t>
            </a:r>
            <a:endParaRPr/>
          </a:p>
          <a:p>
            <a:pPr indent="0" lvl="0" marL="0" rtl="0" algn="l">
              <a:spcBef>
                <a:spcPts val="360"/>
              </a:spcBef>
              <a:spcAft>
                <a:spcPts val="0"/>
              </a:spcAft>
              <a:buNone/>
            </a:pPr>
            <a:r>
              <a:rPr lang="en-US"/>
              <a:t>c. n(n + 1)/2 ∈ Θ(n^3)  </a:t>
            </a:r>
            <a:endParaRPr/>
          </a:p>
          <a:p>
            <a:pPr indent="0" lvl="0" marL="0" rtl="0" algn="l">
              <a:spcBef>
                <a:spcPts val="360"/>
              </a:spcBef>
              <a:spcAft>
                <a:spcPts val="0"/>
              </a:spcAft>
              <a:buNone/>
            </a:pPr>
            <a:r>
              <a:rPr lang="en-US"/>
              <a:t>d. n(n + 1)/2 ∈ Ω(n)</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da0f29c1cc_0_20"/>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 2</a:t>
            </a:r>
            <a:endParaRPr/>
          </a:p>
        </p:txBody>
      </p:sp>
      <p:sp>
        <p:nvSpPr>
          <p:cNvPr id="533" name="Google Shape;533;g3da0f29c1cc_0_20"/>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1. Var int: d = 0</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For i from 1 to n do</a:t>
            </a:r>
            <a:endParaRPr/>
          </a:p>
          <a:p>
            <a:pPr indent="0" lvl="0" marL="0" rtl="0" algn="l">
              <a:spcBef>
                <a:spcPts val="360"/>
              </a:spcBef>
              <a:spcAft>
                <a:spcPts val="0"/>
              </a:spcAft>
              <a:buNone/>
            </a:pPr>
            <a:r>
              <a:rPr lang="en-US"/>
              <a:t>   1. d = d + 1</a:t>
            </a:r>
            <a:endParaRPr/>
          </a:p>
          <a:p>
            <a:pPr indent="0" lvl="0" marL="0" rtl="0" algn="l">
              <a:spcBef>
                <a:spcPts val="360"/>
              </a:spcBef>
              <a:spcAft>
                <a:spcPts val="0"/>
              </a:spcAft>
              <a:buNone/>
            </a:pPr>
            <a:r>
              <a:rPr lang="en-US"/>
              <a:t>   2. a[i] = a[i] × a[i] + d × 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Endfor</a:t>
            </a:r>
            <a:endParaRPr/>
          </a:p>
          <a:p>
            <a:pPr indent="0" lvl="0" marL="0" rtl="0" algn="l">
              <a:spcBef>
                <a:spcPts val="36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da0f29c1cc_0_28"/>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 3</a:t>
            </a:r>
            <a:endParaRPr/>
          </a:p>
        </p:txBody>
      </p:sp>
      <p:sp>
        <p:nvSpPr>
          <p:cNvPr id="541" name="Google Shape;541;g3da0f29c1cc_0_28"/>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1. Var int: i = 1</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While i ≤ n do</a:t>
            </a:r>
            <a:endParaRPr/>
          </a:p>
          <a:p>
            <a:pPr indent="0" lvl="0" marL="0" rtl="0" algn="l">
              <a:spcBef>
                <a:spcPts val="360"/>
              </a:spcBef>
              <a:spcAft>
                <a:spcPts val="0"/>
              </a:spcAft>
              <a:buNone/>
            </a:pPr>
            <a:r>
              <a:rPr lang="en-US"/>
              <a:t>   1. Write "Bonjour"</a:t>
            </a:r>
            <a:endParaRPr/>
          </a:p>
          <a:p>
            <a:pPr indent="0" lvl="0" marL="0" rtl="0" algn="l">
              <a:spcBef>
                <a:spcPts val="360"/>
              </a:spcBef>
              <a:spcAft>
                <a:spcPts val="0"/>
              </a:spcAft>
              <a:buNone/>
            </a:pPr>
            <a:r>
              <a:rPr lang="en-US"/>
              <a:t>   2. i = i + 1</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EndWhile</a:t>
            </a:r>
            <a:endParaRPr/>
          </a:p>
          <a:p>
            <a:pPr indent="0" lvl="0" marL="0" rtl="0" algn="l">
              <a:spcBef>
                <a:spcPts val="36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da0f29c1cc_0_36"/>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a:t>
            </a:r>
            <a:r>
              <a:rPr lang="en-US"/>
              <a:t> 4</a:t>
            </a:r>
            <a:endParaRPr/>
          </a:p>
        </p:txBody>
      </p:sp>
      <p:sp>
        <p:nvSpPr>
          <p:cNvPr id="549" name="Google Shape;549;g3da0f29c1cc_0_36"/>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1. Var int: i = 1</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While i ≤ n do</a:t>
            </a:r>
            <a:endParaRPr/>
          </a:p>
          <a:p>
            <a:pPr indent="0" lvl="0" marL="0" rtl="0" algn="l">
              <a:spcBef>
                <a:spcPts val="360"/>
              </a:spcBef>
              <a:spcAft>
                <a:spcPts val="0"/>
              </a:spcAft>
              <a:buNone/>
            </a:pPr>
            <a:r>
              <a:rPr lang="en-US"/>
              <a:t>   1. Write "Bonjour"</a:t>
            </a:r>
            <a:endParaRPr/>
          </a:p>
          <a:p>
            <a:pPr indent="0" lvl="0" marL="0" rtl="0" algn="l">
              <a:spcBef>
                <a:spcPts val="360"/>
              </a:spcBef>
              <a:spcAft>
                <a:spcPts val="0"/>
              </a:spcAft>
              <a:buNone/>
            </a:pPr>
            <a:r>
              <a:rPr lang="en-US"/>
              <a:t>   2. i = i × 2</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EndWhile</a:t>
            </a:r>
            <a:endParaRPr/>
          </a:p>
          <a:p>
            <a:pPr indent="0" lvl="0" marL="0" rtl="0" algn="l">
              <a:spcBef>
                <a:spcPts val="36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da0f29c1cc_0_44"/>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 5</a:t>
            </a:r>
            <a:endParaRPr/>
          </a:p>
        </p:txBody>
      </p:sp>
      <p:sp>
        <p:nvSpPr>
          <p:cNvPr id="557" name="Google Shape;557;g3da0f29c1cc_0_44"/>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1. Var int: i = 1</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While i ≤ n do</a:t>
            </a:r>
            <a:endParaRPr/>
          </a:p>
          <a:p>
            <a:pPr indent="0" lvl="0" marL="0" rtl="0" algn="l">
              <a:spcBef>
                <a:spcPts val="360"/>
              </a:spcBef>
              <a:spcAft>
                <a:spcPts val="0"/>
              </a:spcAft>
              <a:buNone/>
            </a:pPr>
            <a:r>
              <a:rPr lang="en-US"/>
              <a:t>   1. Var int: j = 1</a:t>
            </a:r>
            <a:endParaRPr/>
          </a:p>
          <a:p>
            <a:pPr indent="0" lvl="0" marL="0" rtl="0" algn="l">
              <a:spcBef>
                <a:spcPts val="360"/>
              </a:spcBef>
              <a:spcAft>
                <a:spcPts val="0"/>
              </a:spcAft>
              <a:buNone/>
            </a:pPr>
            <a:r>
              <a:rPr lang="en-US"/>
              <a:t>   2. While j ≤ n do</a:t>
            </a:r>
            <a:endParaRPr/>
          </a:p>
          <a:p>
            <a:pPr indent="0" lvl="0" marL="0" rtl="0" algn="l">
              <a:spcBef>
                <a:spcPts val="360"/>
              </a:spcBef>
              <a:spcAft>
                <a:spcPts val="0"/>
              </a:spcAft>
              <a:buNone/>
            </a:pPr>
            <a:r>
              <a:rPr lang="en-US"/>
              <a:t>      1. Write "Bonjour"</a:t>
            </a:r>
            <a:endParaRPr/>
          </a:p>
          <a:p>
            <a:pPr indent="0" lvl="0" marL="0" rtl="0" algn="l">
              <a:spcBef>
                <a:spcPts val="360"/>
              </a:spcBef>
              <a:spcAft>
                <a:spcPts val="0"/>
              </a:spcAft>
              <a:buNone/>
            </a:pPr>
            <a:r>
              <a:rPr lang="en-US"/>
              <a:t>      2. j = j × 3</a:t>
            </a:r>
            <a:endParaRPr/>
          </a:p>
          <a:p>
            <a:pPr indent="0" lvl="0" marL="0" rtl="0" algn="l">
              <a:spcBef>
                <a:spcPts val="360"/>
              </a:spcBef>
              <a:spcAft>
                <a:spcPts val="0"/>
              </a:spcAft>
              <a:buNone/>
            </a:pPr>
            <a:r>
              <a:rPr lang="en-US"/>
              <a:t>   3. EndWhile</a:t>
            </a:r>
            <a:endParaRPr/>
          </a:p>
          <a:p>
            <a:pPr indent="0" lvl="0" marL="0" rtl="0" algn="l">
              <a:spcBef>
                <a:spcPts val="360"/>
              </a:spcBef>
              <a:spcAft>
                <a:spcPts val="0"/>
              </a:spcAft>
              <a:buNone/>
            </a:pPr>
            <a:r>
              <a:rPr lang="en-US"/>
              <a:t>   4. i = i + 1</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EndWhile</a:t>
            </a:r>
            <a:endParaRPr/>
          </a:p>
          <a:p>
            <a:pPr indent="0" lvl="0" marL="0" rtl="0" algn="l">
              <a:spcBef>
                <a:spcPts val="36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da0f29c1cc_0_60"/>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 6</a:t>
            </a:r>
            <a:endParaRPr/>
          </a:p>
        </p:txBody>
      </p:sp>
      <p:sp>
        <p:nvSpPr>
          <p:cNvPr id="565" name="Google Shape;565;g3da0f29c1cc_0_60"/>
          <p:cNvSpPr txBox="1"/>
          <p:nvPr>
            <p:ph idx="1" type="body"/>
          </p:nvPr>
        </p:nvSpPr>
        <p:spPr>
          <a:xfrm>
            <a:off x="609600" y="1266825"/>
            <a:ext cx="8305800" cy="5335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Function XYZ(array: 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1. Var int: i</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For i from 1 to n do</a:t>
            </a:r>
            <a:endParaRPr/>
          </a:p>
          <a:p>
            <a:pPr indent="0" lvl="0" marL="0" rtl="0" algn="l">
              <a:spcBef>
                <a:spcPts val="360"/>
              </a:spcBef>
              <a:spcAft>
                <a:spcPts val="0"/>
              </a:spcAft>
              <a:buNone/>
            </a:pPr>
            <a:r>
              <a:rPr lang="en-US"/>
              <a:t>   1. Var int: t = a[i]</a:t>
            </a:r>
            <a:endParaRPr/>
          </a:p>
          <a:p>
            <a:pPr indent="0" lvl="0" marL="0" rtl="0" algn="l">
              <a:spcBef>
                <a:spcPts val="360"/>
              </a:spcBef>
              <a:spcAft>
                <a:spcPts val="0"/>
              </a:spcAft>
              <a:buNone/>
            </a:pPr>
            <a:r>
              <a:rPr lang="en-US"/>
              <a:t>   2. Var int: j</a:t>
            </a:r>
            <a:endParaRPr/>
          </a:p>
          <a:p>
            <a:pPr indent="0" lvl="0" marL="0" rtl="0" algn="l">
              <a:spcBef>
                <a:spcPts val="360"/>
              </a:spcBef>
              <a:spcAft>
                <a:spcPts val="0"/>
              </a:spcAft>
              <a:buNone/>
            </a:pPr>
            <a:r>
              <a:rPr lang="en-US"/>
              <a:t>   3. For j from i - 1 to 0 do</a:t>
            </a:r>
            <a:endParaRPr/>
          </a:p>
          <a:p>
            <a:pPr indent="0" lvl="0" marL="0" rtl="0" algn="l">
              <a:spcBef>
                <a:spcPts val="360"/>
              </a:spcBef>
              <a:spcAft>
                <a:spcPts val="0"/>
              </a:spcAft>
              <a:buNone/>
            </a:pPr>
            <a:r>
              <a:rPr lang="en-US"/>
              <a:t>      1. a[j + 1] = a[j]</a:t>
            </a:r>
            <a:endParaRPr/>
          </a:p>
          <a:p>
            <a:pPr indent="0" lvl="0" marL="0" rtl="0" algn="l">
              <a:spcBef>
                <a:spcPts val="360"/>
              </a:spcBef>
              <a:spcAft>
                <a:spcPts val="0"/>
              </a:spcAft>
              <a:buNone/>
            </a:pPr>
            <a:r>
              <a:rPr lang="en-US"/>
              <a:t>   4. EndFor</a:t>
            </a:r>
            <a:endParaRPr/>
          </a:p>
          <a:p>
            <a:pPr indent="0" lvl="0" marL="0" rtl="0" algn="l">
              <a:spcBef>
                <a:spcPts val="360"/>
              </a:spcBef>
              <a:spcAft>
                <a:spcPts val="0"/>
              </a:spcAft>
              <a:buNone/>
            </a:pPr>
            <a:r>
              <a:rPr lang="en-US"/>
              <a:t>   5. a[j + 1] = 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EndFor</a:t>
            </a:r>
            <a:endParaRPr/>
          </a:p>
          <a:p>
            <a:pPr indent="0" lvl="0" marL="0" rtl="0" algn="l">
              <a:spcBef>
                <a:spcPts val="36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da0f29c1cc_0_13"/>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Exercise 8</a:t>
            </a:r>
            <a:endParaRPr/>
          </a:p>
        </p:txBody>
      </p:sp>
      <p:sp>
        <p:nvSpPr>
          <p:cNvPr id="573" name="Google Shape;573;g3da0f29c1cc_0_13"/>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solidFill>
                  <a:schemeClr val="hlink"/>
                </a:solidFill>
              </a:rPr>
              <a:t>Determine complexity</a:t>
            </a:r>
            <a:endParaRPr>
              <a:solidFill>
                <a:schemeClr val="hlink"/>
              </a:solidFill>
            </a:endParaRPr>
          </a:p>
          <a:p>
            <a:pPr indent="0" lvl="0" marL="0" rtl="0" algn="l">
              <a:spcBef>
                <a:spcPts val="360"/>
              </a:spcBef>
              <a:spcAft>
                <a:spcPts val="0"/>
              </a:spcAft>
              <a:buNone/>
            </a:pPr>
            <a:r>
              <a:rPr lang="en-US">
                <a:solidFill>
                  <a:schemeClr val="hlink"/>
                </a:solidFill>
              </a:rPr>
              <a:t>a. T(n)=4T(n/2)+n</a:t>
            </a:r>
            <a:endParaRPr>
              <a:solidFill>
                <a:schemeClr val="hlink"/>
              </a:solidFill>
            </a:endParaRPr>
          </a:p>
          <a:p>
            <a:pPr indent="0" lvl="0" marL="0" rtl="0" algn="l">
              <a:spcBef>
                <a:spcPts val="360"/>
              </a:spcBef>
              <a:spcAft>
                <a:spcPts val="0"/>
              </a:spcAft>
              <a:buNone/>
            </a:pPr>
            <a:r>
              <a:rPr lang="en-US">
                <a:solidFill>
                  <a:schemeClr val="hlink"/>
                </a:solidFill>
              </a:rPr>
              <a:t>b. T(n)=4T(n/2)+n^2</a:t>
            </a:r>
            <a:endParaRPr>
              <a:solidFill>
                <a:schemeClr val="hlink"/>
              </a:solidFill>
            </a:endParaRPr>
          </a:p>
          <a:p>
            <a:pPr indent="0" lvl="0" marL="0" rtl="0" algn="l">
              <a:spcBef>
                <a:spcPts val="360"/>
              </a:spcBef>
              <a:spcAft>
                <a:spcPts val="0"/>
              </a:spcAft>
              <a:buNone/>
            </a:pPr>
            <a:r>
              <a:rPr lang="en-US">
                <a:solidFill>
                  <a:schemeClr val="hlink"/>
                </a:solidFill>
              </a:rPr>
              <a:t>c. T(n)=4T(n/2)+n^3</a:t>
            </a:r>
            <a:endParaRPr>
              <a:solidFill>
                <a:schemeClr val="hlink"/>
              </a:solidFill>
            </a:endParaRPr>
          </a:p>
          <a:p>
            <a:pPr indent="0" lvl="0" marL="0" rtl="0" algn="l">
              <a:spcBef>
                <a:spcPts val="360"/>
              </a:spcBef>
              <a:spcAft>
                <a:spcPts val="0"/>
              </a:spcAft>
              <a:buNone/>
            </a:pPr>
            <a:r>
              <a:rPr lang="en-US">
                <a:solidFill>
                  <a:schemeClr val="hlink"/>
                </a:solidFill>
              </a:rPr>
              <a:t>d. T(n)=2T(n/2)+nlog⁡n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d1b1faaa48_2_0"/>
          <p:cNvSpPr txBox="1"/>
          <p:nvPr>
            <p:ph type="title"/>
          </p:nvPr>
        </p:nvSpPr>
        <p:spPr>
          <a:xfrm>
            <a:off x="609600" y="228600"/>
            <a:ext cx="7588200" cy="685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Elearning</a:t>
            </a:r>
            <a:endParaRPr/>
          </a:p>
        </p:txBody>
      </p:sp>
      <p:sp>
        <p:nvSpPr>
          <p:cNvPr id="581" name="Google Shape;581;g3d1b1faaa48_2_0"/>
          <p:cNvSpPr txBox="1"/>
          <p:nvPr>
            <p:ph idx="1" type="body"/>
          </p:nvPr>
        </p:nvSpPr>
        <p:spPr>
          <a:xfrm>
            <a:off x="609600" y="1266825"/>
            <a:ext cx="8305800" cy="4905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582" name="Google Shape;582;g3d1b1faaa48_2_0" title="Screen Shot 2026-03-23 at 11.39.55 AM.png"/>
          <p:cNvPicPr preferRelativeResize="0"/>
          <p:nvPr/>
        </p:nvPicPr>
        <p:blipFill>
          <a:blip r:embed="rId3">
            <a:alphaModFix/>
          </a:blip>
          <a:stretch>
            <a:fillRect/>
          </a:stretch>
        </p:blipFill>
        <p:spPr>
          <a:xfrm>
            <a:off x="784200" y="1609638"/>
            <a:ext cx="7239000" cy="4562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S1">
  <a:themeElements>
    <a:clrScheme name="CS1">
      <a:dk1>
        <a:srgbClr val="FFFFFF"/>
      </a:dk1>
      <a:lt1>
        <a:srgbClr val="2181B7"/>
      </a:lt1>
      <a:dk2>
        <a:srgbClr val="CCFFFF"/>
      </a:dk2>
      <a:lt2>
        <a:srgbClr val="001932"/>
      </a:lt2>
      <a:accent1>
        <a:srgbClr val="99FFCC"/>
      </a:accent1>
      <a:accent2>
        <a:srgbClr val="01B0FF"/>
      </a:accent2>
      <a:accent3>
        <a:srgbClr val="2181B7"/>
      </a:accent3>
      <a:accent4>
        <a:srgbClr val="99FFCC"/>
      </a:accent4>
      <a:accent5>
        <a:srgbClr val="01B0FF"/>
      </a:accent5>
      <a:accent6>
        <a:srgbClr val="2181B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1999-08-23T17:38:43Z</dcterms:created>
  <dc:creator>Anany Levitin</dc:creator>
</cp:coreProperties>
</file>